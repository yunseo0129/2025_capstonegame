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1" r:id="rId6"/>
    <p:sldId id="262" r:id="rId7"/>
    <p:sldId id="267" r:id="rId8"/>
    <p:sldId id="263" r:id="rId9"/>
    <p:sldId id="264" r:id="rId10"/>
    <p:sldId id="265" r:id="rId11"/>
    <p:sldId id="270" r:id="rId12"/>
    <p:sldId id="269" r:id="rId13"/>
    <p:sldId id="26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9" d="100"/>
          <a:sy n="49" d="100"/>
        </p:scale>
        <p:origin x="82" y="8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68987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jpe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9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7.png"/><Relationship Id="rId9" Type="http://schemas.openxmlformats.org/officeDocument/2006/relationships/image" Target="../media/image2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3" Type="http://schemas.openxmlformats.org/officeDocument/2006/relationships/image" Target="../media/image28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10" Type="http://schemas.openxmlformats.org/officeDocument/2006/relationships/image" Target="../media/image34.png"/><Relationship Id="rId4" Type="http://schemas.openxmlformats.org/officeDocument/2006/relationships/image" Target="../media/image7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3" Type="http://schemas.openxmlformats.org/officeDocument/2006/relationships/image" Target="../media/image6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4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4" Type="http://schemas.openxmlformats.org/officeDocument/2006/relationships/image" Target="../media/image7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61.png"/><Relationship Id="rId18" Type="http://schemas.openxmlformats.org/officeDocument/2006/relationships/image" Target="../media/image65.png"/><Relationship Id="rId26" Type="http://schemas.openxmlformats.org/officeDocument/2006/relationships/image" Target="../media/image73.png"/><Relationship Id="rId3" Type="http://schemas.openxmlformats.org/officeDocument/2006/relationships/image" Target="../media/image6.png"/><Relationship Id="rId21" Type="http://schemas.openxmlformats.org/officeDocument/2006/relationships/image" Target="../media/image68.png"/><Relationship Id="rId7" Type="http://schemas.openxmlformats.org/officeDocument/2006/relationships/image" Target="../media/image18.png"/><Relationship Id="rId12" Type="http://schemas.openxmlformats.org/officeDocument/2006/relationships/image" Target="../media/image60.png"/><Relationship Id="rId17" Type="http://schemas.openxmlformats.org/officeDocument/2006/relationships/image" Target="../media/image64.png"/><Relationship Id="rId25" Type="http://schemas.openxmlformats.org/officeDocument/2006/relationships/image" Target="../media/image72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63.png"/><Relationship Id="rId20" Type="http://schemas.openxmlformats.org/officeDocument/2006/relationships/image" Target="../media/image67.png"/><Relationship Id="rId29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11" Type="http://schemas.openxmlformats.org/officeDocument/2006/relationships/image" Target="../media/image48.png"/><Relationship Id="rId24" Type="http://schemas.openxmlformats.org/officeDocument/2006/relationships/image" Target="../media/image71.png"/><Relationship Id="rId5" Type="http://schemas.openxmlformats.org/officeDocument/2006/relationships/image" Target="../media/image56.png"/><Relationship Id="rId15" Type="http://schemas.openxmlformats.org/officeDocument/2006/relationships/image" Target="../media/image45.png"/><Relationship Id="rId23" Type="http://schemas.openxmlformats.org/officeDocument/2006/relationships/image" Target="../media/image70.png"/><Relationship Id="rId28" Type="http://schemas.openxmlformats.org/officeDocument/2006/relationships/image" Target="../media/image75.png"/><Relationship Id="rId10" Type="http://schemas.openxmlformats.org/officeDocument/2006/relationships/image" Target="../media/image59.png"/><Relationship Id="rId19" Type="http://schemas.openxmlformats.org/officeDocument/2006/relationships/image" Target="../media/image66.png"/><Relationship Id="rId4" Type="http://schemas.openxmlformats.org/officeDocument/2006/relationships/image" Target="../media/image7.png"/><Relationship Id="rId9" Type="http://schemas.openxmlformats.org/officeDocument/2006/relationships/image" Target="../media/image58.png"/><Relationship Id="rId14" Type="http://schemas.openxmlformats.org/officeDocument/2006/relationships/image" Target="../media/image62.png"/><Relationship Id="rId22" Type="http://schemas.openxmlformats.org/officeDocument/2006/relationships/image" Target="../media/image69.png"/><Relationship Id="rId27" Type="http://schemas.openxmlformats.org/officeDocument/2006/relationships/image" Target="../media/image7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77.jpeg"/><Relationship Id="rId4" Type="http://schemas.openxmlformats.org/officeDocument/2006/relationships/image" Target="../media/image5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.png"/><Relationship Id="rId13" Type="http://schemas.openxmlformats.org/officeDocument/2006/relationships/image" Target="../media/image87.png"/><Relationship Id="rId18" Type="http://schemas.openxmlformats.org/officeDocument/2006/relationships/image" Target="../media/image92.png"/><Relationship Id="rId26" Type="http://schemas.openxmlformats.org/officeDocument/2006/relationships/image" Target="../media/image100.png"/><Relationship Id="rId3" Type="http://schemas.openxmlformats.org/officeDocument/2006/relationships/image" Target="../media/image6.png"/><Relationship Id="rId21" Type="http://schemas.openxmlformats.org/officeDocument/2006/relationships/image" Target="../media/image95.png"/><Relationship Id="rId7" Type="http://schemas.openxmlformats.org/officeDocument/2006/relationships/image" Target="../media/image81.png"/><Relationship Id="rId12" Type="http://schemas.openxmlformats.org/officeDocument/2006/relationships/image" Target="../media/image86.png"/><Relationship Id="rId17" Type="http://schemas.openxmlformats.org/officeDocument/2006/relationships/image" Target="../media/image91.png"/><Relationship Id="rId25" Type="http://schemas.openxmlformats.org/officeDocument/2006/relationships/image" Target="../media/image99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90.png"/><Relationship Id="rId20" Type="http://schemas.openxmlformats.org/officeDocument/2006/relationships/image" Target="../media/image9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11" Type="http://schemas.openxmlformats.org/officeDocument/2006/relationships/image" Target="../media/image85.png"/><Relationship Id="rId24" Type="http://schemas.openxmlformats.org/officeDocument/2006/relationships/image" Target="../media/image98.png"/><Relationship Id="rId5" Type="http://schemas.openxmlformats.org/officeDocument/2006/relationships/image" Target="../media/image79.png"/><Relationship Id="rId15" Type="http://schemas.openxmlformats.org/officeDocument/2006/relationships/image" Target="../media/image89.png"/><Relationship Id="rId23" Type="http://schemas.openxmlformats.org/officeDocument/2006/relationships/image" Target="../media/image97.png"/><Relationship Id="rId10" Type="http://schemas.openxmlformats.org/officeDocument/2006/relationships/image" Target="../media/image84.png"/><Relationship Id="rId19" Type="http://schemas.openxmlformats.org/officeDocument/2006/relationships/image" Target="../media/image93.png"/><Relationship Id="rId4" Type="http://schemas.openxmlformats.org/officeDocument/2006/relationships/image" Target="../media/image7.png"/><Relationship Id="rId9" Type="http://schemas.openxmlformats.org/officeDocument/2006/relationships/image" Target="../media/image83.png"/><Relationship Id="rId14" Type="http://schemas.openxmlformats.org/officeDocument/2006/relationships/image" Target="../media/image88.png"/><Relationship Id="rId22" Type="http://schemas.openxmlformats.org/officeDocument/2006/relationships/image" Target="../media/image9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109.png"/><Relationship Id="rId18" Type="http://schemas.openxmlformats.org/officeDocument/2006/relationships/image" Target="../media/image114.png"/><Relationship Id="rId3" Type="http://schemas.openxmlformats.org/officeDocument/2006/relationships/image" Target="../media/image101.png"/><Relationship Id="rId7" Type="http://schemas.openxmlformats.org/officeDocument/2006/relationships/image" Target="../media/image18.png"/><Relationship Id="rId12" Type="http://schemas.openxmlformats.org/officeDocument/2006/relationships/image" Target="../media/image108.png"/><Relationship Id="rId17" Type="http://schemas.openxmlformats.org/officeDocument/2006/relationships/image" Target="../media/image113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1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2.png"/><Relationship Id="rId15" Type="http://schemas.openxmlformats.org/officeDocument/2006/relationships/image" Target="../media/image111.png"/><Relationship Id="rId10" Type="http://schemas.openxmlformats.org/officeDocument/2006/relationships/image" Target="../media/image106.png"/><Relationship Id="rId4" Type="http://schemas.openxmlformats.org/officeDocument/2006/relationships/image" Target="../media/image7.png"/><Relationship Id="rId9" Type="http://schemas.openxmlformats.org/officeDocument/2006/relationships/image" Target="../media/image105.png"/><Relationship Id="rId14" Type="http://schemas.openxmlformats.org/officeDocument/2006/relationships/image" Target="../media/image1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5.png"/><Relationship Id="rId4" Type="http://schemas.openxmlformats.org/officeDocument/2006/relationships/image" Target="../media/image5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04800"/>
            <a:ext cx="10972800" cy="952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529" y="1962912"/>
            <a:ext cx="6010654" cy="361648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0093" y="2829316"/>
            <a:ext cx="5029200" cy="82302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0093" y="3793882"/>
            <a:ext cx="5029200" cy="82302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0093" y="4758448"/>
            <a:ext cx="5029200" cy="82302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914400" y="457200"/>
            <a:ext cx="10363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프로젝트 소개</a:t>
            </a:r>
            <a:endParaRPr lang="en-US" sz="2700" dirty="0"/>
          </a:p>
        </p:txBody>
      </p:sp>
      <p:sp>
        <p:nvSpPr>
          <p:cNvPr id="15" name="Text 1"/>
          <p:cNvSpPr/>
          <p:nvPr/>
        </p:nvSpPr>
        <p:spPr>
          <a:xfrm>
            <a:off x="914400" y="838200"/>
            <a:ext cx="10363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새로운 5대5 FPS 게임 프로젝트</a:t>
            </a:r>
            <a:endParaRPr lang="en-US" sz="1500" dirty="0"/>
          </a:p>
        </p:txBody>
      </p:sp>
      <p:sp>
        <p:nvSpPr>
          <p:cNvPr id="26" name="Text 12"/>
          <p:cNvSpPr/>
          <p:nvPr/>
        </p:nvSpPr>
        <p:spPr>
          <a:xfrm>
            <a:off x="10822781" y="6477000"/>
            <a:ext cx="91154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Page 1 / 9</a:t>
            </a:r>
            <a:endParaRPr lang="en-US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7569E26-B26A-F096-0D64-D26A5094E100}"/>
              </a:ext>
            </a:extLst>
          </p:cNvPr>
          <p:cNvSpPr txBox="1"/>
          <p:nvPr/>
        </p:nvSpPr>
        <p:spPr>
          <a:xfrm>
            <a:off x="2757268" y="2807088"/>
            <a:ext cx="2473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</a:t>
            </a:r>
            <a:r>
              <a:rPr lang="ko-KR" altLang="en-US"/>
              <a:t>이름 및 대표 사진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E02CDF-7D5E-D866-418D-6FCAC08BED77}"/>
              </a:ext>
            </a:extLst>
          </p:cNvPr>
          <p:cNvSpPr txBox="1"/>
          <p:nvPr/>
        </p:nvSpPr>
        <p:spPr>
          <a:xfrm>
            <a:off x="6553200" y="281928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장윤서</a:t>
            </a:r>
          </a:p>
        </p:txBody>
      </p:sp>
      <p:pic>
        <p:nvPicPr>
          <p:cNvPr id="7" name="그림 6" descr="텍스트, 그래픽, 그래픽 디자인, 그라피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456121-1A1A-2BE0-C6AE-4AEE0431D1B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5942" t="461" r="2402" b="-1279"/>
          <a:stretch>
            <a:fillRect/>
          </a:stretch>
        </p:blipFill>
        <p:spPr>
          <a:xfrm>
            <a:off x="529439" y="2090164"/>
            <a:ext cx="5815584" cy="34892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F91D06-8C86-0346-AFF1-7AD47215C5CC}"/>
              </a:ext>
            </a:extLst>
          </p:cNvPr>
          <p:cNvSpPr txBox="1"/>
          <p:nvPr/>
        </p:nvSpPr>
        <p:spPr>
          <a:xfrm>
            <a:off x="6553200" y="381322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한건우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259204-9588-F69E-8DA4-6CAD99CD897F}"/>
              </a:ext>
            </a:extLst>
          </p:cNvPr>
          <p:cNvSpPr txBox="1"/>
          <p:nvPr/>
        </p:nvSpPr>
        <p:spPr>
          <a:xfrm>
            <a:off x="6553200" y="491908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이수현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 preferRelativeResize="0"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240000" cy="1080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996" y="1418396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71" y="1551746"/>
            <a:ext cx="285750" cy="304800"/>
          </a:xfrm>
          <a:prstGeom prst="rect">
            <a:avLst/>
          </a:prstGeom>
        </p:spPr>
      </p:pic>
      <p:pic>
        <p:nvPicPr>
          <p:cNvPr id="7" name="Image 5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4331624" y="1193550"/>
            <a:ext cx="3240000" cy="108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708" y="1466850"/>
            <a:ext cx="571500" cy="571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93871" y="1600200"/>
            <a:ext cx="257175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2514600"/>
            <a:ext cx="10957560" cy="370179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2743200"/>
            <a:ext cx="571500" cy="571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6763" y="2876550"/>
            <a:ext cx="257175" cy="304800"/>
          </a:xfrm>
          <a:prstGeom prst="rect">
            <a:avLst/>
          </a:prstGeom>
        </p:spPr>
      </p:pic>
      <p:pic>
        <p:nvPicPr>
          <p:cNvPr id="13" name="Image 11" descr="preencoded.png"/>
          <p:cNvPicPr preferRelativeResize="0"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8199525" y="1136399"/>
            <a:ext cx="3240000" cy="1080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58282" y="1423987"/>
            <a:ext cx="5715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개요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565896" y="1418396"/>
            <a:ext cx="145464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1565896" y="1761296"/>
            <a:ext cx="17455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5대5 FPS</a:t>
            </a:r>
            <a:endParaRPr lang="en-US" sz="1200" dirty="0"/>
          </a:p>
        </p:txBody>
      </p:sp>
      <p:sp>
        <p:nvSpPr>
          <p:cNvPr id="19" name="Text 3"/>
          <p:cNvSpPr/>
          <p:nvPr/>
        </p:nvSpPr>
        <p:spPr>
          <a:xfrm>
            <a:off x="5460608" y="1466850"/>
            <a:ext cx="268069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출시 예정 시기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5689208" y="1781175"/>
            <a:ext cx="321683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년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월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1333500" y="2743200"/>
            <a:ext cx="227900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</a:t>
            </a: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설명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9482182" y="1423987"/>
            <a:ext cx="35281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타겟 플레이어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9682118" y="1781174"/>
            <a:ext cx="4328160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</a:rPr>
              <a:t>Z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세대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8534400" y="2171700"/>
            <a:ext cx="3528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30" name="Text 14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 / 9</a:t>
            </a:r>
            <a:endParaRPr lang="en-US" sz="1200" dirty="0"/>
          </a:p>
        </p:txBody>
      </p:sp>
      <p:pic>
        <p:nvPicPr>
          <p:cNvPr id="39" name="Image 11" descr="preencoded.png">
            <a:extLst>
              <a:ext uri="{FF2B5EF4-FFF2-40B4-BE49-F238E27FC236}">
                <a16:creationId xmlns:a16="http://schemas.microsoft.com/office/drawing/2014/main" id="{3329CE8A-3502-F5E6-6724-4DA90BB8F01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06039" y="1571624"/>
            <a:ext cx="280647" cy="314325"/>
          </a:xfrm>
          <a:prstGeom prst="rect">
            <a:avLst/>
          </a:prstGeom>
        </p:spPr>
      </p:pic>
      <p:pic>
        <p:nvPicPr>
          <p:cNvPr id="1026" name="Picture 2" descr="VALORANT | Xbox">
            <a:extLst>
              <a:ext uri="{FF2B5EF4-FFF2-40B4-BE49-F238E27FC236}">
                <a16:creationId xmlns:a16="http://schemas.microsoft.com/office/drawing/2014/main" id="{275FF780-21B4-0828-B35B-C602AF603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0893" y="2726101"/>
            <a:ext cx="1719373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omefront (video game) - Wikipedia">
            <a:extLst>
              <a:ext uri="{FF2B5EF4-FFF2-40B4-BE49-F238E27FC236}">
                <a16:creationId xmlns:a16="http://schemas.microsoft.com/office/drawing/2014/main" id="{4BBDFDF9-8A57-94CB-B8F8-B75F47B85F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0542" y="2726101"/>
            <a:ext cx="2079887" cy="2579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직사각형 39">
            <a:extLst>
              <a:ext uri="{FF2B5EF4-FFF2-40B4-BE49-F238E27FC236}">
                <a16:creationId xmlns:a16="http://schemas.microsoft.com/office/drawing/2014/main" id="{3D05E15E-8417-0DCF-8A55-7D40BD660219}"/>
              </a:ext>
            </a:extLst>
          </p:cNvPr>
          <p:cNvSpPr/>
          <p:nvPr/>
        </p:nvSpPr>
        <p:spPr>
          <a:xfrm>
            <a:off x="5689208" y="4015631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93255BA-566A-02CD-7A98-DE3F21C5E4CF}"/>
              </a:ext>
            </a:extLst>
          </p:cNvPr>
          <p:cNvSpPr/>
          <p:nvPr/>
        </p:nvSpPr>
        <p:spPr>
          <a:xfrm rot="16200000">
            <a:off x="5699876" y="4015631"/>
            <a:ext cx="522906" cy="1417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306AD3-D3B1-5585-A828-82F303E84611}"/>
              </a:ext>
            </a:extLst>
          </p:cNvPr>
          <p:cNvSpPr txBox="1"/>
          <p:nvPr/>
        </p:nvSpPr>
        <p:spPr>
          <a:xfrm>
            <a:off x="3311471" y="5502209"/>
            <a:ext cx="14814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북한의 미국침공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DADA97-F0D5-BBE3-4C78-217B2C9C3554}"/>
              </a:ext>
            </a:extLst>
          </p:cNvPr>
          <p:cNvSpPr txBox="1"/>
          <p:nvPr/>
        </p:nvSpPr>
        <p:spPr>
          <a:xfrm>
            <a:off x="6626248" y="5492234"/>
            <a:ext cx="22797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라운드 형식의 플레이 방식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3759591" cy="5600700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C1A74A98-9616-1E6E-709D-B625756EE9F3}"/>
              </a:ext>
            </a:extLst>
          </p:cNvPr>
          <p:cNvSpPr/>
          <p:nvPr/>
        </p:nvSpPr>
        <p:spPr>
          <a:xfrm>
            <a:off x="531946" y="5547045"/>
            <a:ext cx="2170535" cy="8276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DAFD0CC-76EF-71C9-7661-FCB19270C355}"/>
              </a:ext>
            </a:extLst>
          </p:cNvPr>
          <p:cNvSpPr/>
          <p:nvPr/>
        </p:nvSpPr>
        <p:spPr>
          <a:xfrm>
            <a:off x="514691" y="1688075"/>
            <a:ext cx="2170535" cy="8276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591" y="1104901"/>
            <a:ext cx="7357840" cy="4879144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2608" y="1280160"/>
            <a:ext cx="228600" cy="228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7635" y="1257300"/>
            <a:ext cx="200025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85716" y="1584961"/>
            <a:ext cx="6974337" cy="4168138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1591" y="6060246"/>
            <a:ext cx="7289409" cy="645354"/>
          </a:xfrm>
          <a:prstGeom prst="rect">
            <a:avLst/>
          </a:prstGeom>
        </p:spPr>
      </p:pic>
      <p:sp>
        <p:nvSpPr>
          <p:cNvPr id="1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 환경 분석</a:t>
            </a:r>
            <a:endParaRPr lang="en-US" sz="2700" dirty="0"/>
          </a:p>
        </p:txBody>
      </p:sp>
      <p:sp>
        <p:nvSpPr>
          <p:cNvPr id="19" name="Text 7"/>
          <p:cNvSpPr/>
          <p:nvPr/>
        </p:nvSpPr>
        <p:spPr>
          <a:xfrm>
            <a:off x="973017" y="1219200"/>
            <a:ext cx="3167574" cy="22762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주요 이벤트 타임라인</a:t>
            </a:r>
            <a:endParaRPr lang="en-US" sz="1800" dirty="0"/>
          </a:p>
        </p:txBody>
      </p:sp>
      <p:sp>
        <p:nvSpPr>
          <p:cNvPr id="26" name="Text 14"/>
          <p:cNvSpPr/>
          <p:nvPr/>
        </p:nvSpPr>
        <p:spPr>
          <a:xfrm>
            <a:off x="607635" y="1714500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1월</a:t>
            </a:r>
            <a:endParaRPr lang="en-US" sz="1350" dirty="0">
              <a:latin typeface="+mn-ea"/>
            </a:endParaRPr>
          </a:p>
        </p:txBody>
      </p:sp>
      <p:sp>
        <p:nvSpPr>
          <p:cNvPr id="27" name="Text 15"/>
          <p:cNvSpPr/>
          <p:nvPr/>
        </p:nvSpPr>
        <p:spPr>
          <a:xfrm>
            <a:off x="607635" y="19812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북한 당대회</a:t>
            </a:r>
            <a:endParaRPr lang="en-US" sz="1200" dirty="0">
              <a:latin typeface="+mn-ea"/>
            </a:endParaRPr>
          </a:p>
        </p:txBody>
      </p:sp>
      <p:sp>
        <p:nvSpPr>
          <p:cNvPr id="38" name="Text 26"/>
          <p:cNvSpPr/>
          <p:nvPr/>
        </p:nvSpPr>
        <p:spPr>
          <a:xfrm>
            <a:off x="11468844" y="69723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 / 9</a:t>
            </a:r>
            <a:endParaRPr lang="en-US" sz="1200" dirty="0"/>
          </a:p>
        </p:txBody>
      </p:sp>
      <p:sp>
        <p:nvSpPr>
          <p:cNvPr id="45" name="Text 14">
            <a:extLst>
              <a:ext uri="{FF2B5EF4-FFF2-40B4-BE49-F238E27FC236}">
                <a16:creationId xmlns:a16="http://schemas.microsoft.com/office/drawing/2014/main" id="{8A817A70-899B-C94A-6D9B-196B2FE14EB9}"/>
              </a:ext>
            </a:extLst>
          </p:cNvPr>
          <p:cNvSpPr/>
          <p:nvPr/>
        </p:nvSpPr>
        <p:spPr>
          <a:xfrm>
            <a:off x="598065" y="2562225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2</a:t>
            </a:r>
            <a:r>
              <a:rPr lang="ko-KR" alt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월</a:t>
            </a:r>
            <a:endParaRPr lang="en-US" sz="1350" dirty="0">
              <a:latin typeface="+mn-ea"/>
            </a:endParaRPr>
          </a:p>
        </p:txBody>
      </p:sp>
      <p:sp>
        <p:nvSpPr>
          <p:cNvPr id="46" name="Text 15">
            <a:extLst>
              <a:ext uri="{FF2B5EF4-FFF2-40B4-BE49-F238E27FC236}">
                <a16:creationId xmlns:a16="http://schemas.microsoft.com/office/drawing/2014/main" id="{0A0F76C4-1B52-39A6-CC0D-809F8BC5DB80}"/>
              </a:ext>
            </a:extLst>
          </p:cNvPr>
          <p:cNvSpPr/>
          <p:nvPr/>
        </p:nvSpPr>
        <p:spPr>
          <a:xfrm>
            <a:off x="598065" y="2828925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동계 올림픽</a:t>
            </a:r>
            <a:endParaRPr lang="en-US" sz="1200" dirty="0">
              <a:latin typeface="+mn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7400617-C10B-A4E1-34FE-37CC24299EF9}"/>
              </a:ext>
            </a:extLst>
          </p:cNvPr>
          <p:cNvSpPr/>
          <p:nvPr/>
        </p:nvSpPr>
        <p:spPr>
          <a:xfrm>
            <a:off x="531946" y="3296796"/>
            <a:ext cx="2170535" cy="82764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 14">
            <a:extLst>
              <a:ext uri="{FF2B5EF4-FFF2-40B4-BE49-F238E27FC236}">
                <a16:creationId xmlns:a16="http://schemas.microsoft.com/office/drawing/2014/main" id="{0E8D27D7-491E-453D-004B-4B4CBF7ADA21}"/>
              </a:ext>
            </a:extLst>
          </p:cNvPr>
          <p:cNvSpPr/>
          <p:nvPr/>
        </p:nvSpPr>
        <p:spPr>
          <a:xfrm>
            <a:off x="624890" y="3329524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6월</a:t>
            </a:r>
            <a:endParaRPr lang="en-US" sz="1350" dirty="0">
              <a:latin typeface="+mn-ea"/>
            </a:endParaRPr>
          </a:p>
        </p:txBody>
      </p:sp>
      <p:sp>
        <p:nvSpPr>
          <p:cNvPr id="49" name="Text 14">
            <a:extLst>
              <a:ext uri="{FF2B5EF4-FFF2-40B4-BE49-F238E27FC236}">
                <a16:creationId xmlns:a16="http://schemas.microsoft.com/office/drawing/2014/main" id="{1304C930-4F2A-035A-60C7-FCD02ADC4251}"/>
              </a:ext>
            </a:extLst>
          </p:cNvPr>
          <p:cNvSpPr/>
          <p:nvPr/>
        </p:nvSpPr>
        <p:spPr>
          <a:xfrm>
            <a:off x="598065" y="4274528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6~7월</a:t>
            </a:r>
            <a:endParaRPr lang="en-US" sz="1350" dirty="0">
              <a:latin typeface="+mn-ea"/>
            </a:endParaRPr>
          </a:p>
        </p:txBody>
      </p:sp>
      <p:sp>
        <p:nvSpPr>
          <p:cNvPr id="48" name="Text 15">
            <a:extLst>
              <a:ext uri="{FF2B5EF4-FFF2-40B4-BE49-F238E27FC236}">
                <a16:creationId xmlns:a16="http://schemas.microsoft.com/office/drawing/2014/main" id="{F0CFDAD8-F966-3FFA-AB5A-690A23EDE2FF}"/>
              </a:ext>
            </a:extLst>
          </p:cNvPr>
          <p:cNvSpPr/>
          <p:nvPr/>
        </p:nvSpPr>
        <p:spPr>
          <a:xfrm>
            <a:off x="624890" y="3596224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4B5563"/>
                </a:solidFill>
                <a:latin typeface="+mn-ea"/>
                <a:cs typeface="ui-sans-serif" pitchFamily="34" charset="-120"/>
              </a:rPr>
              <a:t>전국동시지방선거</a:t>
            </a:r>
            <a:endParaRPr lang="en-US" sz="1200" dirty="0">
              <a:latin typeface="+mn-ea"/>
            </a:endParaRPr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0B744ACC-791C-C63F-802B-8B33E065A6F2}"/>
              </a:ext>
            </a:extLst>
          </p:cNvPr>
          <p:cNvSpPr/>
          <p:nvPr/>
        </p:nvSpPr>
        <p:spPr>
          <a:xfrm>
            <a:off x="598065" y="4541228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월드컵</a:t>
            </a:r>
            <a:endParaRPr lang="en-US" sz="1200" dirty="0">
              <a:latin typeface="+mn-ea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0CEAED08-B041-232A-930D-02D30E023119}"/>
              </a:ext>
            </a:extLst>
          </p:cNvPr>
          <p:cNvSpPr/>
          <p:nvPr/>
        </p:nvSpPr>
        <p:spPr>
          <a:xfrm>
            <a:off x="598065" y="4905522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9~10월</a:t>
            </a:r>
            <a:endParaRPr lang="en-US" sz="1350" dirty="0">
              <a:latin typeface="+mn-ea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3B3EB3A4-C600-0BB1-5841-D8685951791B}"/>
              </a:ext>
            </a:extLst>
          </p:cNvPr>
          <p:cNvSpPr/>
          <p:nvPr/>
        </p:nvSpPr>
        <p:spPr>
          <a:xfrm>
            <a:off x="598065" y="5144672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아시안 게임</a:t>
            </a:r>
            <a:endParaRPr lang="en-US" sz="1200" dirty="0">
              <a:latin typeface="+mn-ea"/>
            </a:endParaRPr>
          </a:p>
        </p:txBody>
      </p:sp>
      <p:sp>
        <p:nvSpPr>
          <p:cNvPr id="55" name="Text 14">
            <a:extLst>
              <a:ext uri="{FF2B5EF4-FFF2-40B4-BE49-F238E27FC236}">
                <a16:creationId xmlns:a16="http://schemas.microsoft.com/office/drawing/2014/main" id="{742C5F4E-FA04-CAE7-BF61-C9A6F79AEEC8}"/>
              </a:ext>
            </a:extLst>
          </p:cNvPr>
          <p:cNvSpPr/>
          <p:nvPr/>
        </p:nvSpPr>
        <p:spPr>
          <a:xfrm>
            <a:off x="598065" y="5588368"/>
            <a:ext cx="27927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374151"/>
                </a:solidFill>
                <a:latin typeface="+mn-ea"/>
                <a:cs typeface="ui-sans-serif" pitchFamily="34" charset="-120"/>
              </a:rPr>
              <a:t>11월</a:t>
            </a:r>
            <a:endParaRPr lang="en-US" sz="1350" dirty="0">
              <a:latin typeface="+mn-ea"/>
            </a:endParaRPr>
          </a:p>
        </p:txBody>
      </p:sp>
      <p:sp>
        <p:nvSpPr>
          <p:cNvPr id="56" name="Text 15">
            <a:extLst>
              <a:ext uri="{FF2B5EF4-FFF2-40B4-BE49-F238E27FC236}">
                <a16:creationId xmlns:a16="http://schemas.microsoft.com/office/drawing/2014/main" id="{C8A5A121-E757-4D41-A9EB-78AA002694FD}"/>
              </a:ext>
            </a:extLst>
          </p:cNvPr>
          <p:cNvSpPr/>
          <p:nvPr/>
        </p:nvSpPr>
        <p:spPr>
          <a:xfrm>
            <a:off x="608146" y="583164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미국 중간 선거</a:t>
            </a:r>
            <a:endParaRPr lang="en-US" sz="1200" dirty="0">
              <a:latin typeface="+mn-ea"/>
            </a:endParaRPr>
          </a:p>
        </p:txBody>
      </p:sp>
      <p:sp>
        <p:nvSpPr>
          <p:cNvPr id="59" name="Text 15">
            <a:extLst>
              <a:ext uri="{FF2B5EF4-FFF2-40B4-BE49-F238E27FC236}">
                <a16:creationId xmlns:a16="http://schemas.microsoft.com/office/drawing/2014/main" id="{13CC8883-CB2E-0BB0-55B2-94DBF39778A8}"/>
              </a:ext>
            </a:extLst>
          </p:cNvPr>
          <p:cNvSpPr/>
          <p:nvPr/>
        </p:nvSpPr>
        <p:spPr>
          <a:xfrm>
            <a:off x="607635" y="219199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전쟁에 대한 긴장감 고조</a:t>
            </a:r>
            <a:endParaRPr lang="en-US" sz="1200" dirty="0">
              <a:latin typeface="+mn-ea"/>
            </a:endParaRPr>
          </a:p>
        </p:txBody>
      </p:sp>
      <p:sp>
        <p:nvSpPr>
          <p:cNvPr id="60" name="Text 15">
            <a:extLst>
              <a:ext uri="{FF2B5EF4-FFF2-40B4-BE49-F238E27FC236}">
                <a16:creationId xmlns:a16="http://schemas.microsoft.com/office/drawing/2014/main" id="{1C578CC3-0882-EB4F-5737-E89EDB6AD732}"/>
              </a:ext>
            </a:extLst>
          </p:cNvPr>
          <p:cNvSpPr/>
          <p:nvPr/>
        </p:nvSpPr>
        <p:spPr>
          <a:xfrm>
            <a:off x="607635" y="3037449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6" name="Text 10">
            <a:extLst>
              <a:ext uri="{FF2B5EF4-FFF2-40B4-BE49-F238E27FC236}">
                <a16:creationId xmlns:a16="http://schemas.microsoft.com/office/drawing/2014/main" id="{D7BBAD59-426A-93FD-3831-960A05961F35}"/>
              </a:ext>
            </a:extLst>
          </p:cNvPr>
          <p:cNvSpPr/>
          <p:nvPr/>
        </p:nvSpPr>
        <p:spPr>
          <a:xfrm>
            <a:off x="601710" y="3914922"/>
            <a:ext cx="3351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sp>
        <p:nvSpPr>
          <p:cNvPr id="68" name="Text 15">
            <a:extLst>
              <a:ext uri="{FF2B5EF4-FFF2-40B4-BE49-F238E27FC236}">
                <a16:creationId xmlns:a16="http://schemas.microsoft.com/office/drawing/2014/main" id="{BB4FC00E-4C50-4DD0-3FD5-EDD88678E3DA}"/>
              </a:ext>
            </a:extLst>
          </p:cNvPr>
          <p:cNvSpPr/>
          <p:nvPr/>
        </p:nvSpPr>
        <p:spPr>
          <a:xfrm>
            <a:off x="624890" y="3819695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정치적 이슈</a:t>
            </a:r>
            <a:r>
              <a:rPr lang="en-US" altLang="ko-KR" sz="1200" dirty="0">
                <a:solidFill>
                  <a:srgbClr val="4B5563"/>
                </a:solidFill>
                <a:latin typeface="+mn-ea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+mn-ea"/>
              </a:rPr>
              <a:t>가짜 뉴스 증가</a:t>
            </a:r>
            <a:endParaRPr lang="en-US" sz="1200" dirty="0">
              <a:latin typeface="+mn-ea"/>
            </a:endParaRPr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2C901E34-6368-0B01-FE6E-2B894F9EB61D}"/>
              </a:ext>
            </a:extLst>
          </p:cNvPr>
          <p:cNvSpPr/>
          <p:nvPr/>
        </p:nvSpPr>
        <p:spPr>
          <a:xfrm>
            <a:off x="608146" y="6477000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endParaRPr lang="en-US" sz="1200" dirty="0">
              <a:latin typeface="+mn-ea"/>
            </a:endParaRPr>
          </a:p>
        </p:txBody>
      </p:sp>
      <p:pic>
        <p:nvPicPr>
          <p:cNvPr id="72" name="Image 3" descr="preencoded.png">
            <a:extLst>
              <a:ext uri="{FF2B5EF4-FFF2-40B4-BE49-F238E27FC236}">
                <a16:creationId xmlns:a16="http://schemas.microsoft.com/office/drawing/2014/main" id="{25A26E3D-7661-DC90-8F0C-C8667550AA2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85716" y="6307897"/>
            <a:ext cx="228600" cy="228600"/>
          </a:xfrm>
          <a:prstGeom prst="rect">
            <a:avLst/>
          </a:prstGeom>
        </p:spPr>
      </p:pic>
      <p:sp>
        <p:nvSpPr>
          <p:cNvPr id="73" name="Text 1">
            <a:extLst>
              <a:ext uri="{FF2B5EF4-FFF2-40B4-BE49-F238E27FC236}">
                <a16:creationId xmlns:a16="http://schemas.microsoft.com/office/drawing/2014/main" id="{156D56A8-EB85-0AC0-3C6F-952791EA3DE4}"/>
              </a:ext>
            </a:extLst>
          </p:cNvPr>
          <p:cNvSpPr/>
          <p:nvPr/>
        </p:nvSpPr>
        <p:spPr>
          <a:xfrm>
            <a:off x="5028616" y="6269797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2026년 핵심 키워드</a:t>
            </a:r>
            <a:endParaRPr lang="en-US" sz="1800" dirty="0"/>
          </a:p>
        </p:txBody>
      </p:sp>
      <p:sp>
        <p:nvSpPr>
          <p:cNvPr id="77" name="Text 1">
            <a:extLst>
              <a:ext uri="{FF2B5EF4-FFF2-40B4-BE49-F238E27FC236}">
                <a16:creationId xmlns:a16="http://schemas.microsoft.com/office/drawing/2014/main" id="{07F6D7BB-48C2-1BA0-F1A5-20C3F56256AD}"/>
              </a:ext>
            </a:extLst>
          </p:cNvPr>
          <p:cNvSpPr/>
          <p:nvPr/>
        </p:nvSpPr>
        <p:spPr>
          <a:xfrm>
            <a:off x="7743374" y="6263935"/>
            <a:ext cx="384048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전쟁</a:t>
            </a:r>
            <a:r>
              <a:rPr lang="en-US" altLang="ko-KR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 미국 중국</a:t>
            </a:r>
            <a:endParaRPr lang="en-US" sz="1800" dirty="0"/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2A0DB24A-118F-289D-1D06-0CDCE3903C20}"/>
              </a:ext>
            </a:extLst>
          </p:cNvPr>
          <p:cNvSpPr/>
          <p:nvPr/>
        </p:nvSpPr>
        <p:spPr>
          <a:xfrm>
            <a:off x="608146" y="6085646"/>
            <a:ext cx="2792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정치적 이슈</a:t>
            </a:r>
            <a:r>
              <a:rPr lang="en-US" altLang="ko-KR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+mn-ea"/>
                <a:cs typeface="ui-sans-serif" pitchFamily="34" charset="-120"/>
              </a:rPr>
              <a:t>가짜 뉴스 증가</a:t>
            </a:r>
            <a:endParaRPr lang="en-US" sz="1200" dirty="0">
              <a:latin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048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3657600" cy="1943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371600"/>
            <a:ext cx="28575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736481"/>
            <a:ext cx="3200400" cy="1121019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" y="3127131"/>
            <a:ext cx="3657600" cy="2793024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8650" y="3393831"/>
            <a:ext cx="190500" cy="19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1000" y="3736731"/>
            <a:ext cx="3543300" cy="1828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1833" y="4062340"/>
            <a:ext cx="604178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74845" y="1103435"/>
            <a:ext cx="7336155" cy="2325565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03445" y="1370135"/>
            <a:ext cx="142875" cy="190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03445" y="1713035"/>
            <a:ext cx="3251662" cy="1828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6053" y="6104793"/>
            <a:ext cx="11430000" cy="5715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FPS 장르 선택 근거</a:t>
            </a:r>
            <a:endParaRPr lang="en-US" sz="2700" dirty="0"/>
          </a:p>
        </p:txBody>
      </p:sp>
      <p:sp>
        <p:nvSpPr>
          <p:cNvPr id="17" name="Text 1"/>
          <p:cNvSpPr/>
          <p:nvPr/>
        </p:nvSpPr>
        <p:spPr>
          <a:xfrm>
            <a:off x="1009650" y="1333500"/>
            <a:ext cx="3200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타겟 플레이어</a:t>
            </a:r>
            <a:endParaRPr lang="en-US" sz="1800" dirty="0"/>
          </a:p>
        </p:txBody>
      </p:sp>
      <p:sp>
        <p:nvSpPr>
          <p:cNvPr id="18" name="Text 2"/>
          <p:cNvSpPr/>
          <p:nvPr/>
        </p:nvSpPr>
        <p:spPr>
          <a:xfrm>
            <a:off x="800100" y="1926981"/>
            <a:ext cx="2819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Z세대 선정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800100" y="2218006"/>
            <a:ext cx="2819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디지털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세대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800100" y="2446606"/>
            <a:ext cx="3383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모바일 및 PC 게임에 익숙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933450" y="3355731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청소년 가장 많이 이용하는 게임</a:t>
            </a:r>
            <a:endParaRPr lang="en-US" sz="1500" dirty="0"/>
          </a:p>
        </p:txBody>
      </p:sp>
      <p:sp>
        <p:nvSpPr>
          <p:cNvPr id="25" name="Text 9"/>
          <p:cNvSpPr/>
          <p:nvPr/>
        </p:nvSpPr>
        <p:spPr>
          <a:xfrm>
            <a:off x="933450" y="5577255"/>
            <a:ext cx="3703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2024년 한국콘텐츠진흥원 실태조사 결과</a:t>
            </a: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4960620" y="1332035"/>
            <a:ext cx="7086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PC방 점유율 상위 10개 중</a:t>
            </a:r>
            <a:endParaRPr lang="en-US" sz="1500" dirty="0"/>
          </a:p>
        </p:txBody>
      </p:sp>
      <p:sp>
        <p:nvSpPr>
          <p:cNvPr id="29" name="Text 13"/>
          <p:cNvSpPr/>
          <p:nvPr/>
        </p:nvSpPr>
        <p:spPr>
          <a:xfrm>
            <a:off x="533400" y="6216162"/>
            <a:ext cx="11125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결론: Z세대가 즐겨하는 장르이면서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시장</a:t>
            </a: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점유율</a:t>
            </a: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높은 FPS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장르를</a:t>
            </a:r>
            <a:r>
              <a:rPr 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350" b="1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선택</a:t>
            </a:r>
            <a:r>
              <a:rPr lang="ko-KR" altLang="en-US" sz="135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하였다</a:t>
            </a:r>
            <a:endParaRPr lang="en-US" sz="1350" dirty="0"/>
          </a:p>
        </p:txBody>
      </p:sp>
      <p:sp>
        <p:nvSpPr>
          <p:cNvPr id="30" name="Text 14"/>
          <p:cNvSpPr/>
          <p:nvPr/>
        </p:nvSpPr>
        <p:spPr>
          <a:xfrm>
            <a:off x="11468844" y="66675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 / 9</a:t>
            </a:r>
            <a:endParaRPr lang="en-US" sz="120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6294FA3-E019-0C72-3288-9610A4E1CBEE}"/>
              </a:ext>
            </a:extLst>
          </p:cNvPr>
          <p:cNvSpPr/>
          <p:nvPr/>
        </p:nvSpPr>
        <p:spPr>
          <a:xfrm>
            <a:off x="1210264" y="4107180"/>
            <a:ext cx="604178" cy="24383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FPS/TPS</a:t>
            </a:r>
            <a:endParaRPr lang="en-US" sz="1200" dirty="0"/>
          </a:p>
        </p:txBody>
      </p:sp>
      <p:pic>
        <p:nvPicPr>
          <p:cNvPr id="34" name="Image 9" descr="preencoded.png">
            <a:extLst>
              <a:ext uri="{FF2B5EF4-FFF2-40B4-BE49-F238E27FC236}">
                <a16:creationId xmlns:a16="http://schemas.microsoft.com/office/drawing/2014/main" id="{C6BF33F0-7AB4-F6BA-F7A4-282858BC668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57700" y="3591206"/>
            <a:ext cx="7543800" cy="2325565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03876" y="3761644"/>
            <a:ext cx="4075088" cy="192844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92335BCA-FAD1-2FB4-B046-9D9CDC38EAC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77127" y="1147658"/>
            <a:ext cx="1947606" cy="2246173"/>
          </a:xfrm>
          <a:prstGeom prst="rect">
            <a:avLst/>
          </a:prstGeom>
        </p:spPr>
      </p:pic>
      <p:sp>
        <p:nvSpPr>
          <p:cNvPr id="24" name="화살표: 오른쪽 23">
            <a:extLst>
              <a:ext uri="{FF2B5EF4-FFF2-40B4-BE49-F238E27FC236}">
                <a16:creationId xmlns:a16="http://schemas.microsoft.com/office/drawing/2014/main" id="{12A5C717-12E0-7ACE-54DE-1C1BC5E9C83F}"/>
              </a:ext>
            </a:extLst>
          </p:cNvPr>
          <p:cNvSpPr/>
          <p:nvPr/>
        </p:nvSpPr>
        <p:spPr>
          <a:xfrm rot="10800000">
            <a:off x="7588308" y="2234917"/>
            <a:ext cx="649432" cy="484632"/>
          </a:xfrm>
          <a:prstGeom prst="rightArrow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5D4DFC77-FB4F-866E-BE1E-FB909590FD5D}"/>
              </a:ext>
            </a:extLst>
          </p:cNvPr>
          <p:cNvSpPr/>
          <p:nvPr/>
        </p:nvSpPr>
        <p:spPr>
          <a:xfrm>
            <a:off x="8020050" y="4576292"/>
            <a:ext cx="3878926" cy="14765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altLang="ko-KR" sz="1600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- </a:t>
            </a:r>
            <a:r>
              <a:rPr lang="ko-KR" altLang="en-US" sz="1600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짧은 시간의 라운드로 구성</a:t>
            </a:r>
            <a:endParaRPr lang="en-US" altLang="ko-KR" sz="1600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>
              <a:lnSpc>
                <a:spcPts val="2100"/>
              </a:lnSpc>
            </a:pPr>
            <a:r>
              <a:rPr lang="en-US" altLang="ko-KR" sz="1600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- </a:t>
            </a:r>
            <a:r>
              <a:rPr lang="ko-KR" altLang="en-US" sz="1600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정통 </a:t>
            </a:r>
            <a:r>
              <a:rPr lang="en-US" altLang="ko-KR" sz="1600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fps</a:t>
            </a:r>
          </a:p>
          <a:p>
            <a:pPr>
              <a:lnSpc>
                <a:spcPts val="2100"/>
              </a:lnSpc>
            </a:pPr>
            <a:r>
              <a:rPr lang="en-US" altLang="ko-KR" sz="1600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- </a:t>
            </a:r>
            <a:r>
              <a:rPr lang="ko-KR" altLang="en-US" sz="1600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라운드 마다 달라지는 전략</a:t>
            </a:r>
            <a:endParaRPr lang="en-US" altLang="ko-KR" sz="1600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altLang="ko-KR" sz="1500" b="1" dirty="0">
              <a:solidFill>
                <a:srgbClr val="1F2937"/>
              </a:solidFill>
              <a:latin typeface="ui-sans-serif" pitchFamily="34" charset="0"/>
              <a:ea typeface="ui-sans-serif" pitchFamily="34" charset="-122"/>
              <a:cs typeface="ui-sans-serif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sz="1500" dirty="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5BB199D-AB0D-EE99-889B-1113A208DA9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90874" y="3755656"/>
            <a:ext cx="2695951" cy="179095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063750ED-B029-A48B-B5FA-7B763F4C8E80}"/>
              </a:ext>
            </a:extLst>
          </p:cNvPr>
          <p:cNvSpPr txBox="1"/>
          <p:nvPr/>
        </p:nvSpPr>
        <p:spPr>
          <a:xfrm>
            <a:off x="7955107" y="4053195"/>
            <a:ext cx="1675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/>
              <a:t>인기 이유 분석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94250"/>
            <a:ext cx="4725842" cy="779436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309" y="1235699"/>
            <a:ext cx="190500" cy="190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436" y="1484250"/>
            <a:ext cx="762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999" y="1993000"/>
            <a:ext cx="4725842" cy="907372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1582" y="2117158"/>
            <a:ext cx="205211" cy="205211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2602" y="2429881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5026" y="2662514"/>
            <a:ext cx="762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1000" y="3077278"/>
            <a:ext cx="4727448" cy="3331777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5182" y="3263358"/>
            <a:ext cx="190500" cy="190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2602" y="5822131"/>
            <a:ext cx="762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41152" y="1108416"/>
            <a:ext cx="6698178" cy="5368583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87840" y="1343135"/>
            <a:ext cx="190500" cy="19050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분석 및 벤치마킹</a:t>
            </a:r>
            <a:endParaRPr lang="en-US" sz="2700" dirty="0"/>
          </a:p>
        </p:txBody>
      </p:sp>
      <p:sp>
        <p:nvSpPr>
          <p:cNvPr id="29" name="Text 1"/>
          <p:cNvSpPr/>
          <p:nvPr/>
        </p:nvSpPr>
        <p:spPr>
          <a:xfrm>
            <a:off x="782009" y="1197599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성공 요소</a:t>
            </a:r>
            <a:endParaRPr lang="en-US" sz="1500" dirty="0"/>
          </a:p>
        </p:txBody>
      </p:sp>
      <p:sp>
        <p:nvSpPr>
          <p:cNvPr id="31" name="Text 3"/>
          <p:cNvSpPr/>
          <p:nvPr/>
        </p:nvSpPr>
        <p:spPr>
          <a:xfrm>
            <a:off x="723900" y="1480910"/>
            <a:ext cx="309219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북한이 미국 본토를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침공하는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자극적인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설정</a:t>
            </a:r>
            <a:endParaRPr lang="en-US" sz="1200" dirty="0"/>
          </a:p>
        </p:txBody>
      </p:sp>
      <p:sp>
        <p:nvSpPr>
          <p:cNvPr id="34" name="Text 6"/>
          <p:cNvSpPr/>
          <p:nvPr/>
        </p:nvSpPr>
        <p:spPr>
          <a:xfrm>
            <a:off x="782009" y="2085172"/>
            <a:ext cx="6115376" cy="25395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Homefront 한계점</a:t>
            </a:r>
            <a:endParaRPr lang="en-US" sz="1500" dirty="0"/>
          </a:p>
        </p:txBody>
      </p:sp>
      <p:sp>
        <p:nvSpPr>
          <p:cNvPr id="35" name="Text 7"/>
          <p:cNvSpPr/>
          <p:nvPr/>
        </p:nvSpPr>
        <p:spPr>
          <a:xfrm>
            <a:off x="705809" y="2406000"/>
            <a:ext cx="3418347" cy="2176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싱글플레이에서의 짧은 플레이 시간</a:t>
            </a:r>
            <a:endParaRPr lang="en-US" sz="1200" dirty="0"/>
          </a:p>
        </p:txBody>
      </p:sp>
      <p:sp>
        <p:nvSpPr>
          <p:cNvPr id="37" name="Text 9"/>
          <p:cNvSpPr/>
          <p:nvPr/>
        </p:nvSpPr>
        <p:spPr>
          <a:xfrm>
            <a:off x="718489" y="2624723"/>
            <a:ext cx="1353781" cy="2176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답답한 조작감</a:t>
            </a:r>
            <a:endParaRPr lang="en-US" sz="1200" dirty="0"/>
          </a:p>
        </p:txBody>
      </p:sp>
      <p:sp>
        <p:nvSpPr>
          <p:cNvPr id="39" name="Text 11"/>
          <p:cNvSpPr/>
          <p:nvPr/>
        </p:nvSpPr>
        <p:spPr>
          <a:xfrm>
            <a:off x="771882" y="3225258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벤치마킹 대상</a:t>
            </a:r>
            <a:endParaRPr lang="en-US" sz="1500" dirty="0"/>
          </a:p>
        </p:txBody>
      </p:sp>
      <p:sp>
        <p:nvSpPr>
          <p:cNvPr id="41" name="Text 13"/>
          <p:cNvSpPr/>
          <p:nvPr/>
        </p:nvSpPr>
        <p:spPr>
          <a:xfrm>
            <a:off x="708266" y="5790509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Tarkov</a:t>
            </a:r>
            <a:endParaRPr lang="en-US" sz="1600" dirty="0"/>
          </a:p>
        </p:txBody>
      </p:sp>
      <p:sp>
        <p:nvSpPr>
          <p:cNvPr id="44" name="Text 16"/>
          <p:cNvSpPr/>
          <p:nvPr/>
        </p:nvSpPr>
        <p:spPr>
          <a:xfrm>
            <a:off x="5754540" y="1305035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9333E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시스템 통합 전략</a:t>
            </a:r>
            <a:endParaRPr lang="en-US" sz="1500" dirty="0"/>
          </a:p>
        </p:txBody>
      </p:sp>
      <p:sp>
        <p:nvSpPr>
          <p:cNvPr id="49" name="Text 21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6 / 9</a:t>
            </a:r>
            <a:endParaRPr lang="en-US" sz="1200" dirty="0"/>
          </a:p>
        </p:txBody>
      </p:sp>
      <p:pic>
        <p:nvPicPr>
          <p:cNvPr id="2054" name="Picture 6" descr="배틀스테이트게임즈 이스케이프 프롬 타르코프 (게임사 코드) : 다나와 가격비교">
            <a:extLst>
              <a:ext uri="{FF2B5EF4-FFF2-40B4-BE49-F238E27FC236}">
                <a16:creationId xmlns:a16="http://schemas.microsoft.com/office/drawing/2014/main" id="{CB01A007-8D9A-969B-E8B2-17D6492C04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182" y="3605979"/>
            <a:ext cx="2022557" cy="2114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2" name="화살표: 오른쪽 51">
            <a:extLst>
              <a:ext uri="{FF2B5EF4-FFF2-40B4-BE49-F238E27FC236}">
                <a16:creationId xmlns:a16="http://schemas.microsoft.com/office/drawing/2014/main" id="{A665F88D-CF28-C5AA-B894-98ECBCB602C4}"/>
              </a:ext>
            </a:extLst>
          </p:cNvPr>
          <p:cNvSpPr/>
          <p:nvPr/>
        </p:nvSpPr>
        <p:spPr>
          <a:xfrm>
            <a:off x="2606256" y="4460688"/>
            <a:ext cx="302483" cy="484632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AutoShape 8" descr="Escape from Duckov - 나무위키">
            <a:extLst>
              <a:ext uri="{FF2B5EF4-FFF2-40B4-BE49-F238E27FC236}">
                <a16:creationId xmlns:a16="http://schemas.microsoft.com/office/drawing/2014/main" id="{573C2275-3B53-E77D-E1B6-8C995ED5D1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198165" y="2388487"/>
            <a:ext cx="115747" cy="86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2058" name="Picture 10" descr="이 게임을 아시나요? - 이스케이프 프롬 덕코프 : 네이버 블로그">
            <a:extLst>
              <a:ext uri="{FF2B5EF4-FFF2-40B4-BE49-F238E27FC236}">
                <a16:creationId xmlns:a16="http://schemas.microsoft.com/office/drawing/2014/main" id="{E75A9A7F-0710-C816-3F69-F179664D4F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2087" y="3605978"/>
            <a:ext cx="1958075" cy="2138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Image 17" descr="preencoded.png">
            <a:extLst>
              <a:ext uri="{FF2B5EF4-FFF2-40B4-BE49-F238E27FC236}">
                <a16:creationId xmlns:a16="http://schemas.microsoft.com/office/drawing/2014/main" id="{6422F241-1A40-08D2-FA37-FEEC86B84FF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08284" y="5828253"/>
            <a:ext cx="76200" cy="152400"/>
          </a:xfrm>
          <a:prstGeom prst="rect">
            <a:avLst/>
          </a:prstGeom>
        </p:spPr>
      </p:pic>
      <p:sp>
        <p:nvSpPr>
          <p:cNvPr id="55" name="Text 13">
            <a:extLst>
              <a:ext uri="{FF2B5EF4-FFF2-40B4-BE49-F238E27FC236}">
                <a16:creationId xmlns:a16="http://schemas.microsoft.com/office/drawing/2014/main" id="{E331C07D-F116-38D4-C012-DCBE14C38D3E}"/>
              </a:ext>
            </a:extLst>
          </p:cNvPr>
          <p:cNvSpPr/>
          <p:nvPr/>
        </p:nvSpPr>
        <p:spPr>
          <a:xfrm>
            <a:off x="3253593" y="5790153"/>
            <a:ext cx="259996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Escape from </a:t>
            </a:r>
            <a:r>
              <a:rPr lang="en-US" sz="16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Duckov</a:t>
            </a:r>
            <a:endParaRPr lang="en-US" sz="1600" dirty="0"/>
          </a:p>
        </p:txBody>
      </p:sp>
      <p:sp>
        <p:nvSpPr>
          <p:cNvPr id="56" name="Text 7">
            <a:extLst>
              <a:ext uri="{FF2B5EF4-FFF2-40B4-BE49-F238E27FC236}">
                <a16:creationId xmlns:a16="http://schemas.microsoft.com/office/drawing/2014/main" id="{4DD166B6-EBA2-0F49-8D4B-A02DAF6B726C}"/>
              </a:ext>
            </a:extLst>
          </p:cNvPr>
          <p:cNvSpPr/>
          <p:nvPr/>
        </p:nvSpPr>
        <p:spPr>
          <a:xfrm>
            <a:off x="7247500" y="2213317"/>
            <a:ext cx="2917686" cy="406087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Homefront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의 스토리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, bp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시스템 등을 가져오고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발로란트의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 진행방식을 접목시켜 짧은 플레이시간을 개선하고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발로란트처럼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 빠른 움직임의 게임으로 답답한 조작감을 개선시킨 게임을 제작하겠다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</a:rPr>
              <a:t>.</a:t>
            </a:r>
          </a:p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또한 멀티플레이의 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BP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시스템을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발로란트의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경제시스템과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베일드엑스퍼트라는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게임의 경제시스템을 접목 시켜 다양한 전략을 만들 수 있는 게임으로 만들겠다는 내용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04900"/>
            <a:ext cx="5562600" cy="15049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0563" y="1400175"/>
            <a:ext cx="238125" cy="2667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1914525"/>
            <a:ext cx="762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1100" y="2219325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838449"/>
            <a:ext cx="5562600" cy="1895475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028950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375" y="3133725"/>
            <a:ext cx="19050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100" y="3648075"/>
            <a:ext cx="762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71956" y="3914774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48400" y="1104900"/>
            <a:ext cx="5562600" cy="18097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1295400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7963" y="1400175"/>
            <a:ext cx="23812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1914525"/>
            <a:ext cx="762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2219325"/>
            <a:ext cx="762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48500" y="2524125"/>
            <a:ext cx="762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400" y="3143250"/>
            <a:ext cx="5562600" cy="16002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38900" y="3333750"/>
            <a:ext cx="476250" cy="4762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567488" y="3438525"/>
            <a:ext cx="219075" cy="2667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48500" y="3952875"/>
            <a:ext cx="762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48500" y="4207412"/>
            <a:ext cx="76200" cy="1524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000220" y="5743574"/>
            <a:ext cx="1119932" cy="3810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206978" y="5910261"/>
            <a:ext cx="476250" cy="1905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809256" y="5743574"/>
            <a:ext cx="967532" cy="3810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 rot="20440135">
            <a:off x="4852988" y="5786437"/>
            <a:ext cx="476250" cy="1905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405438" y="5486400"/>
            <a:ext cx="967532" cy="3810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49169" y="5667375"/>
            <a:ext cx="476250" cy="190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001619" y="5486400"/>
            <a:ext cx="1172914" cy="3810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326934" y="5676900"/>
            <a:ext cx="476250" cy="1905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955584" y="5486400"/>
            <a:ext cx="1175593" cy="3810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 rot="1265084">
            <a:off x="4855231" y="6115048"/>
            <a:ext cx="476250" cy="1905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395165" y="6110287"/>
            <a:ext cx="967532" cy="3810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449169" y="6286500"/>
            <a:ext cx="476250" cy="1905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010400" y="6123876"/>
            <a:ext cx="1172914" cy="381000"/>
          </a:xfrm>
          <a:prstGeom prst="rect">
            <a:avLst/>
          </a:prstGeom>
        </p:spPr>
      </p:pic>
      <p:sp>
        <p:nvSpPr>
          <p:cNvPr id="42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진행 방식</a:t>
            </a:r>
            <a:endParaRPr lang="en-US" sz="2700" dirty="0"/>
          </a:p>
        </p:txBody>
      </p:sp>
      <p:sp>
        <p:nvSpPr>
          <p:cNvPr id="43" name="Text 1"/>
          <p:cNvSpPr/>
          <p:nvPr/>
        </p:nvSpPr>
        <p:spPr>
          <a:xfrm>
            <a:off x="1162050" y="1400175"/>
            <a:ext cx="7654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팀 설정</a:t>
            </a:r>
            <a:endParaRPr lang="en-US" sz="1500" dirty="0"/>
          </a:p>
        </p:txBody>
      </p:sp>
      <p:sp>
        <p:nvSpPr>
          <p:cNvPr id="44" name="Text 2"/>
          <p:cNvSpPr/>
          <p:nvPr/>
        </p:nvSpPr>
        <p:spPr>
          <a:xfrm>
            <a:off x="1143000" y="18859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저항군(미국), 점령군(북한) 두 팀으로 진행</a:t>
            </a:r>
            <a:endParaRPr lang="en-US" sz="1200" dirty="0"/>
          </a:p>
        </p:txBody>
      </p:sp>
      <p:sp>
        <p:nvSpPr>
          <p:cNvPr id="45" name="Text 3"/>
          <p:cNvSpPr/>
          <p:nvPr/>
        </p:nvSpPr>
        <p:spPr>
          <a:xfrm>
            <a:off x="1143000" y="21907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저항군이 선공권을 가진다</a:t>
            </a:r>
            <a:endParaRPr lang="en-US" sz="1200" dirty="0"/>
          </a:p>
        </p:txBody>
      </p:sp>
      <p:sp>
        <p:nvSpPr>
          <p:cNvPr id="46" name="Text 4"/>
          <p:cNvSpPr/>
          <p:nvPr/>
        </p:nvSpPr>
        <p:spPr>
          <a:xfrm>
            <a:off x="1162050" y="3133725"/>
            <a:ext cx="13023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및 수비</a:t>
            </a:r>
            <a:endParaRPr lang="en-US" sz="1500" dirty="0"/>
          </a:p>
        </p:txBody>
      </p:sp>
      <p:sp>
        <p:nvSpPr>
          <p:cNvPr id="47" name="Text 5"/>
          <p:cNvSpPr/>
          <p:nvPr/>
        </p:nvSpPr>
        <p:spPr>
          <a:xfrm>
            <a:off x="1348383" y="36195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공격팀은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은신처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내부에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지정된 구역에 폭탄을 설치한다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1200" dirty="0"/>
          </a:p>
        </p:txBody>
      </p:sp>
      <p:sp>
        <p:nvSpPr>
          <p:cNvPr id="48" name="Text 6"/>
          <p:cNvSpPr/>
          <p:nvPr/>
        </p:nvSpPr>
        <p:spPr>
          <a:xfrm>
            <a:off x="1348383" y="3881437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수비팀은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공격팀을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저지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하며 설치된 폭탄을 제거한다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1200" dirty="0"/>
          </a:p>
        </p:txBody>
      </p:sp>
      <p:sp>
        <p:nvSpPr>
          <p:cNvPr id="49" name="Text 7"/>
          <p:cNvSpPr/>
          <p:nvPr/>
        </p:nvSpPr>
        <p:spPr>
          <a:xfrm>
            <a:off x="7029450" y="1400175"/>
            <a:ext cx="1451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라운드 시스템</a:t>
            </a:r>
            <a:endParaRPr lang="en-US" sz="1500" dirty="0"/>
          </a:p>
        </p:txBody>
      </p:sp>
      <p:sp>
        <p:nvSpPr>
          <p:cNvPr id="50" name="Text 8"/>
          <p:cNvSpPr/>
          <p:nvPr/>
        </p:nvSpPr>
        <p:spPr>
          <a:xfrm>
            <a:off x="7010400" y="18859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한 경기는 여러 번의 짧은 라운드로 진행</a:t>
            </a:r>
            <a:endParaRPr lang="en-US" sz="1200" dirty="0"/>
          </a:p>
        </p:txBody>
      </p:sp>
      <p:sp>
        <p:nvSpPr>
          <p:cNvPr id="51" name="Text 9"/>
          <p:cNvSpPr/>
          <p:nvPr/>
        </p:nvSpPr>
        <p:spPr>
          <a:xfrm>
            <a:off x="7010400" y="219075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 13라운드를 먼저 승리한 팀이 경기에서 승리</a:t>
            </a:r>
            <a:endParaRPr lang="en-US" sz="1200" dirty="0"/>
          </a:p>
        </p:txBody>
      </p:sp>
      <p:sp>
        <p:nvSpPr>
          <p:cNvPr id="52" name="Text 10"/>
          <p:cNvSpPr/>
          <p:nvPr/>
        </p:nvSpPr>
        <p:spPr>
          <a:xfrm>
            <a:off x="7010400" y="249555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매 라운드마다 일정량의 돈을 얻는다</a:t>
            </a:r>
            <a:endParaRPr lang="en-US" sz="1200" dirty="0"/>
          </a:p>
        </p:txBody>
      </p:sp>
      <p:sp>
        <p:nvSpPr>
          <p:cNvPr id="53" name="Text 11"/>
          <p:cNvSpPr/>
          <p:nvPr/>
        </p:nvSpPr>
        <p:spPr>
          <a:xfrm>
            <a:off x="7029450" y="3438525"/>
            <a:ext cx="175950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변화 메커니즘</a:t>
            </a:r>
            <a:endParaRPr lang="en-US" sz="1500" dirty="0"/>
          </a:p>
        </p:txBody>
      </p:sp>
      <p:sp>
        <p:nvSpPr>
          <p:cNvPr id="54" name="Text 12"/>
          <p:cNvSpPr/>
          <p:nvPr/>
        </p:nvSpPr>
        <p:spPr>
          <a:xfrm>
            <a:off x="7267956" y="3924300"/>
            <a:ext cx="571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공격을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성공하면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오브젝트의 위치가 변경된다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1200" dirty="0"/>
          </a:p>
        </p:txBody>
      </p:sp>
      <p:sp>
        <p:nvSpPr>
          <p:cNvPr id="56" name="Text 14"/>
          <p:cNvSpPr/>
          <p:nvPr/>
        </p:nvSpPr>
        <p:spPr>
          <a:xfrm>
            <a:off x="7254026" y="4183951"/>
            <a:ext cx="4214818" cy="46424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박격포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수류탄 등의 폭발로 벽이나 오브젝트가 실시간으로 파괴된다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1200" dirty="0"/>
          </a:p>
        </p:txBody>
      </p:sp>
      <p:sp>
        <p:nvSpPr>
          <p:cNvPr id="58" name="Text 16"/>
          <p:cNvSpPr/>
          <p:nvPr/>
        </p:nvSpPr>
        <p:spPr>
          <a:xfrm>
            <a:off x="2152620" y="5838824"/>
            <a:ext cx="97815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라운드 시작</a:t>
            </a:r>
            <a:endParaRPr lang="en-US" sz="1200" dirty="0"/>
          </a:p>
        </p:txBody>
      </p:sp>
      <p:sp>
        <p:nvSpPr>
          <p:cNvPr id="59" name="Text 17"/>
          <p:cNvSpPr/>
          <p:nvPr/>
        </p:nvSpPr>
        <p:spPr>
          <a:xfrm>
            <a:off x="3961656" y="5838824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게임 진행</a:t>
            </a:r>
            <a:endParaRPr lang="en-US" sz="1200" dirty="0"/>
          </a:p>
        </p:txBody>
      </p:sp>
      <p:sp>
        <p:nvSpPr>
          <p:cNvPr id="60" name="Text 18"/>
          <p:cNvSpPr/>
          <p:nvPr/>
        </p:nvSpPr>
        <p:spPr>
          <a:xfrm>
            <a:off x="5557838" y="5581650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A34A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성공</a:t>
            </a:r>
            <a:endParaRPr lang="en-US" sz="1200" dirty="0"/>
          </a:p>
        </p:txBody>
      </p:sp>
      <p:sp>
        <p:nvSpPr>
          <p:cNvPr id="61" name="Text 19"/>
          <p:cNvSpPr/>
          <p:nvPr/>
        </p:nvSpPr>
        <p:spPr>
          <a:xfrm>
            <a:off x="7154019" y="5581650"/>
            <a:ext cx="1224617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</a:t>
            </a:r>
            <a:r>
              <a:rPr lang="ko-KR" alt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일부</a:t>
            </a: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변경</a:t>
            </a:r>
            <a:endParaRPr lang="en-US" sz="1200" dirty="0"/>
          </a:p>
        </p:txBody>
      </p:sp>
      <p:sp>
        <p:nvSpPr>
          <p:cNvPr id="62" name="Text 20"/>
          <p:cNvSpPr/>
          <p:nvPr/>
        </p:nvSpPr>
        <p:spPr>
          <a:xfrm>
            <a:off x="9107984" y="5581650"/>
            <a:ext cx="1044952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공/수비 변경</a:t>
            </a:r>
            <a:endParaRPr lang="en-US" sz="1200" dirty="0"/>
          </a:p>
        </p:txBody>
      </p:sp>
      <p:sp>
        <p:nvSpPr>
          <p:cNvPr id="65" name="Text 23"/>
          <p:cNvSpPr/>
          <p:nvPr/>
        </p:nvSpPr>
        <p:spPr>
          <a:xfrm>
            <a:off x="5547565" y="6205537"/>
            <a:ext cx="795278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DC2626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공격 실패</a:t>
            </a:r>
            <a:endParaRPr lang="en-US" sz="1200" dirty="0"/>
          </a:p>
        </p:txBody>
      </p:sp>
      <p:sp>
        <p:nvSpPr>
          <p:cNvPr id="66" name="Text 24"/>
          <p:cNvSpPr/>
          <p:nvPr/>
        </p:nvSpPr>
        <p:spPr>
          <a:xfrm>
            <a:off x="7162800" y="6219126"/>
            <a:ext cx="1041737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563EB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 일부 변경</a:t>
            </a:r>
            <a:endParaRPr lang="en-US" sz="1200" dirty="0"/>
          </a:p>
        </p:txBody>
      </p:sp>
      <p:sp>
        <p:nvSpPr>
          <p:cNvPr id="68" name="Text 26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7 / 9</a:t>
            </a:r>
            <a:endParaRPr lang="en-US" sz="1200" dirty="0"/>
          </a:p>
        </p:txBody>
      </p:sp>
      <p:pic>
        <p:nvPicPr>
          <p:cNvPr id="24" name="Image 11" descr="preencoded.png">
            <a:extLst>
              <a:ext uri="{FF2B5EF4-FFF2-40B4-BE49-F238E27FC236}">
                <a16:creationId xmlns:a16="http://schemas.microsoft.com/office/drawing/2014/main" id="{6C2FED09-E1D8-8A09-618D-7649018DC11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81505" y="4190999"/>
            <a:ext cx="76200" cy="152400"/>
          </a:xfrm>
          <a:prstGeom prst="rect">
            <a:avLst/>
          </a:prstGeom>
        </p:spPr>
      </p:pic>
      <p:sp>
        <p:nvSpPr>
          <p:cNvPr id="55" name="Text 6">
            <a:extLst>
              <a:ext uri="{FF2B5EF4-FFF2-40B4-BE49-F238E27FC236}">
                <a16:creationId xmlns:a16="http://schemas.microsoft.com/office/drawing/2014/main" id="{E4766AD8-163A-8FDE-8857-D94CC09BC4E7}"/>
              </a:ext>
            </a:extLst>
          </p:cNvPr>
          <p:cNvSpPr/>
          <p:nvPr/>
        </p:nvSpPr>
        <p:spPr>
          <a:xfrm>
            <a:off x="1351806" y="4143375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l">
              <a:lnSpc>
                <a:spcPts val="1800"/>
              </a:lnSpc>
              <a:buSzPct val="100000"/>
            </a:pPr>
            <a:r>
              <a:rPr lang="ko-KR" altLang="en-US" sz="1200" dirty="0"/>
              <a:t>시간이 지나 폭탄이 터지면 라운드가 종료되며 </a:t>
            </a:r>
            <a:r>
              <a:rPr lang="ko-KR" altLang="en-US" sz="1200" dirty="0" err="1"/>
              <a:t>공수교대한다</a:t>
            </a:r>
            <a:r>
              <a:rPr lang="en-US" altLang="ko-KR" sz="1200" dirty="0"/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842C243-DA11-5D84-ED86-64B3C2327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7E77D91-EEA4-FBDC-DFA2-57C30B55D568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맵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06CE4605-17B1-06F2-605B-016B53BD6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FF4482F7-8501-6A24-3DF5-ED60BA2851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455" y="1143000"/>
            <a:ext cx="6634363" cy="5334000"/>
          </a:xfrm>
          <a:prstGeom prst="rect">
            <a:avLst/>
          </a:prstGeom>
        </p:spPr>
      </p:pic>
      <p:pic>
        <p:nvPicPr>
          <p:cNvPr id="9" name="Image 2" descr="preencoded.png">
            <a:extLst>
              <a:ext uri="{FF2B5EF4-FFF2-40B4-BE49-F238E27FC236}">
                <a16:creationId xmlns:a16="http://schemas.microsoft.com/office/drawing/2014/main" id="{827DC21E-3DC4-50D9-937E-729F2943F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167" y="1143000"/>
            <a:ext cx="4721507" cy="5334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2737670-D4F1-E7C8-CB31-6AAE03658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7127" y="1905000"/>
            <a:ext cx="4281586" cy="2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8C9CB8C-2695-DD2F-BCDA-F1BCC3BB8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315" y="1403604"/>
            <a:ext cx="6382641" cy="608732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A0D2E2-F417-927F-5413-D8B405B63407}"/>
              </a:ext>
            </a:extLst>
          </p:cNvPr>
          <p:cNvSpPr txBox="1"/>
          <p:nvPr/>
        </p:nvSpPr>
        <p:spPr>
          <a:xfrm>
            <a:off x="2144400" y="1010283"/>
            <a:ext cx="5252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맵 다시 그릴 것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E40F62-5E1F-4DDB-3A60-C34EE0A8264C}"/>
              </a:ext>
            </a:extLst>
          </p:cNvPr>
          <p:cNvSpPr txBox="1"/>
          <p:nvPr/>
        </p:nvSpPr>
        <p:spPr>
          <a:xfrm>
            <a:off x="7313039" y="145941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예시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C069FB-4EA6-9B4D-C0DA-F28F50CBF423}"/>
              </a:ext>
            </a:extLst>
          </p:cNvPr>
          <p:cNvSpPr txBox="1"/>
          <p:nvPr/>
        </p:nvSpPr>
        <p:spPr>
          <a:xfrm>
            <a:off x="7397127" y="4550587"/>
            <a:ext cx="42815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건물 외부</a:t>
            </a:r>
            <a:r>
              <a:rPr lang="en-US" altLang="ko-KR" dirty="0"/>
              <a:t>, </a:t>
            </a:r>
            <a:r>
              <a:rPr lang="ko-KR" altLang="en-US" dirty="0"/>
              <a:t>벽 모양의 오브젝트로 이동 제한</a:t>
            </a:r>
          </a:p>
        </p:txBody>
      </p:sp>
    </p:spTree>
    <p:extLst>
      <p:ext uri="{BB962C8B-B14F-4D97-AF65-F5344CB8AC3E}">
        <p14:creationId xmlns:p14="http://schemas.microsoft.com/office/powerpoint/2010/main" val="1528142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1" y="1181100"/>
            <a:ext cx="3530352" cy="4953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1" y="1181100"/>
            <a:ext cx="3530352" cy="1028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9790" y="1333500"/>
            <a:ext cx="571500" cy="571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1240" y="1466850"/>
            <a:ext cx="228600" cy="304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2857500"/>
            <a:ext cx="17145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32004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35433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00" y="5295900"/>
            <a:ext cx="3149501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2501" y="1181100"/>
            <a:ext cx="3606850" cy="4953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92501" y="1181100"/>
            <a:ext cx="3606850" cy="10287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79952" y="1333500"/>
            <a:ext cx="571500" cy="571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37114" y="1466850"/>
            <a:ext cx="257175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35734" y="3333750"/>
            <a:ext cx="15240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35734" y="2942463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21101" y="5486400"/>
            <a:ext cx="3149650" cy="419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204150" y="1181100"/>
            <a:ext cx="3606701" cy="49530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04150" y="1181100"/>
            <a:ext cx="3606701" cy="1028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88327" y="1333500"/>
            <a:ext cx="571500" cy="571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432750" y="2857500"/>
            <a:ext cx="19050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432750" y="3429000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32750" y="4000500"/>
            <a:ext cx="152400" cy="152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432750" y="5486400"/>
            <a:ext cx="3149501" cy="419100"/>
          </a:xfrm>
          <a:prstGeom prst="rect">
            <a:avLst/>
          </a:prstGeom>
        </p:spPr>
      </p:pic>
      <p:sp>
        <p:nvSpPr>
          <p:cNvPr id="26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 err="1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플레이어</a:t>
            </a: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endParaRPr lang="en-US" sz="2700" dirty="0"/>
          </a:p>
        </p:txBody>
      </p:sp>
      <p:sp>
        <p:nvSpPr>
          <p:cNvPr id="27" name="Text 1"/>
          <p:cNvSpPr/>
          <p:nvPr/>
        </p:nvSpPr>
        <p:spPr>
          <a:xfrm>
            <a:off x="533400" y="1543050"/>
            <a:ext cx="113085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A</a:t>
            </a:r>
            <a:endParaRPr lang="en-US" sz="1800" dirty="0"/>
          </a:p>
        </p:txBody>
      </p:sp>
      <p:sp>
        <p:nvSpPr>
          <p:cNvPr id="28" name="Text 2"/>
          <p:cNvSpPr/>
          <p:nvPr/>
        </p:nvSpPr>
        <p:spPr>
          <a:xfrm>
            <a:off x="60960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특정 위치 포격</a:t>
            </a:r>
            <a:endParaRPr lang="en-US" sz="1500" dirty="0"/>
          </a:p>
        </p:txBody>
      </p:sp>
      <p:sp>
        <p:nvSpPr>
          <p:cNvPr id="29" name="Text 3"/>
          <p:cNvSpPr/>
          <p:nvPr/>
        </p:nvSpPr>
        <p:spPr>
          <a:xfrm>
            <a:off x="857250" y="2819400"/>
            <a:ext cx="345775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박격포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를 설치한 후 발포한다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altLang="ko-KR" sz="1200" dirty="0"/>
          </a:p>
        </p:txBody>
      </p:sp>
      <p:sp>
        <p:nvSpPr>
          <p:cNvPr id="30" name="Text 4"/>
          <p:cNvSpPr/>
          <p:nvPr/>
        </p:nvSpPr>
        <p:spPr>
          <a:xfrm>
            <a:off x="838200" y="3162300"/>
            <a:ext cx="253653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목표물 까지 거리를 직접 설정한다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1200" dirty="0"/>
          </a:p>
        </p:txBody>
      </p:sp>
      <p:sp>
        <p:nvSpPr>
          <p:cNvPr id="31" name="Text 5"/>
          <p:cNvSpPr/>
          <p:nvPr/>
        </p:nvSpPr>
        <p:spPr>
          <a:xfrm>
            <a:off x="838200" y="3505200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박격포에 피격된 오브젝트는 부서진다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sz="1200" dirty="0"/>
          </a:p>
        </p:txBody>
      </p:sp>
      <p:sp>
        <p:nvSpPr>
          <p:cNvPr id="32" name="Text 6"/>
          <p:cNvSpPr/>
          <p:nvPr/>
        </p:nvSpPr>
        <p:spPr>
          <a:xfrm>
            <a:off x="723900" y="5410200"/>
            <a:ext cx="2920901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3" name="Text 7"/>
          <p:cNvSpPr/>
          <p:nvPr/>
        </p:nvSpPr>
        <p:spPr>
          <a:xfrm>
            <a:off x="4444901" y="1543050"/>
            <a:ext cx="112764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B</a:t>
            </a:r>
            <a:endParaRPr lang="en-US" sz="1800" dirty="0"/>
          </a:p>
        </p:txBody>
      </p:sp>
      <p:sp>
        <p:nvSpPr>
          <p:cNvPr id="38" name="Text 12"/>
          <p:cNvSpPr/>
          <p:nvPr/>
        </p:nvSpPr>
        <p:spPr>
          <a:xfrm>
            <a:off x="4635401" y="5600700"/>
            <a:ext cx="35052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39" name="Text 13"/>
          <p:cNvSpPr/>
          <p:nvPr/>
        </p:nvSpPr>
        <p:spPr>
          <a:xfrm>
            <a:off x="8356550" y="1543050"/>
            <a:ext cx="1119783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능력</a:t>
            </a: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C</a:t>
            </a:r>
            <a:endParaRPr lang="en-US" sz="1800" dirty="0"/>
          </a:p>
        </p:txBody>
      </p:sp>
      <p:sp>
        <p:nvSpPr>
          <p:cNvPr id="40" name="Text 14"/>
          <p:cNvSpPr/>
          <p:nvPr/>
        </p:nvSpPr>
        <p:spPr>
          <a:xfrm>
            <a:off x="8432750" y="243840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드론</a:t>
            </a:r>
            <a:endParaRPr lang="en-US" sz="1500" dirty="0"/>
          </a:p>
        </p:txBody>
      </p:sp>
      <p:sp>
        <p:nvSpPr>
          <p:cNvPr id="41" name="Text 15"/>
          <p:cNvSpPr/>
          <p:nvPr/>
        </p:nvSpPr>
        <p:spPr>
          <a:xfrm>
            <a:off x="8699450" y="2819400"/>
            <a:ext cx="28828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한 라운드에 한 </a:t>
            </a:r>
            <a:r>
              <a:rPr lang="en-US" sz="1200" dirty="0" err="1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개의</a:t>
            </a: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무소음드론을 조종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8661350" y="3390900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정찰만 가능하며 적을 발견하면 맵에 위치표시</a:t>
            </a:r>
            <a:endParaRPr lang="en-US" sz="1200" dirty="0"/>
          </a:p>
        </p:txBody>
      </p:sp>
      <p:sp>
        <p:nvSpPr>
          <p:cNvPr id="43" name="Text 17"/>
          <p:cNvSpPr/>
          <p:nvPr/>
        </p:nvSpPr>
        <p:spPr>
          <a:xfrm>
            <a:off x="8661350" y="3962400"/>
            <a:ext cx="273480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</p:txBody>
      </p:sp>
      <p:sp>
        <p:nvSpPr>
          <p:cNvPr id="44" name="Text 18"/>
          <p:cNvSpPr/>
          <p:nvPr/>
        </p:nvSpPr>
        <p:spPr>
          <a:xfrm>
            <a:off x="8547050" y="5600700"/>
            <a:ext cx="350508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endParaRPr lang="en-US" sz="1050" dirty="0"/>
          </a:p>
        </p:txBody>
      </p:sp>
      <p:sp>
        <p:nvSpPr>
          <p:cNvPr id="45" name="Text 19"/>
          <p:cNvSpPr/>
          <p:nvPr/>
        </p:nvSpPr>
        <p:spPr>
          <a:xfrm>
            <a:off x="11468844" y="6477000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8 / 9</a:t>
            </a:r>
            <a:endParaRPr lang="en-US" sz="1200" dirty="0"/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5A3571DD-9FB7-FC1A-2AEB-3E1A89AA2FF4}"/>
              </a:ext>
            </a:extLst>
          </p:cNvPr>
          <p:cNvSpPr/>
          <p:nvPr/>
        </p:nvSpPr>
        <p:spPr>
          <a:xfrm>
            <a:off x="8661350" y="3976878"/>
            <a:ext cx="29209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자신과 </a:t>
            </a:r>
            <a:r>
              <a:rPr lang="ko-KR" altLang="en-US" sz="1200" dirty="0" err="1">
                <a:solidFill>
                  <a:srgbClr val="374151"/>
                </a:solidFill>
                <a:latin typeface="ui-sans-serif" pitchFamily="34" charset="0"/>
              </a:rPr>
              <a:t>드론</a:t>
            </a:r>
            <a:r>
              <a:rPr lang="ko-KR" altLang="en-US" sz="1200" dirty="0">
                <a:solidFill>
                  <a:srgbClr val="374151"/>
                </a:solidFill>
                <a:latin typeface="ui-sans-serif" pitchFamily="34" charset="0"/>
              </a:rPr>
              <a:t> 사이의 거리를 측정할 수 있다</a:t>
            </a:r>
            <a:r>
              <a:rPr lang="en-US" altLang="ko-KR" sz="1200" dirty="0">
                <a:solidFill>
                  <a:srgbClr val="374151"/>
                </a:solidFill>
                <a:latin typeface="ui-sans-serif" pitchFamily="34" charset="0"/>
              </a:rPr>
              <a:t>.</a:t>
            </a:r>
            <a:endParaRPr lang="en-US" sz="1200" dirty="0"/>
          </a:p>
        </p:txBody>
      </p:sp>
      <p:sp>
        <p:nvSpPr>
          <p:cNvPr id="34" name="Text 2">
            <a:extLst>
              <a:ext uri="{FF2B5EF4-FFF2-40B4-BE49-F238E27FC236}">
                <a16:creationId xmlns:a16="http://schemas.microsoft.com/office/drawing/2014/main" id="{EEB20541-DBB3-E791-F02C-0D6A7AD30C5D}"/>
              </a:ext>
            </a:extLst>
          </p:cNvPr>
          <p:cNvSpPr/>
          <p:nvPr/>
        </p:nvSpPr>
        <p:spPr>
          <a:xfrm>
            <a:off x="4564946" y="2456688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ui-sans-serif" pitchFamily="34" charset="0"/>
              </a:rPr>
              <a:t>점착 폭탄</a:t>
            </a:r>
            <a:endParaRPr lang="en-US" sz="1500" dirty="0"/>
          </a:p>
        </p:txBody>
      </p:sp>
      <p:sp>
        <p:nvSpPr>
          <p:cNvPr id="35" name="Text 3">
            <a:extLst>
              <a:ext uri="{FF2B5EF4-FFF2-40B4-BE49-F238E27FC236}">
                <a16:creationId xmlns:a16="http://schemas.microsoft.com/office/drawing/2014/main" id="{5DE08FEA-2560-C00D-F544-74422C06C364}"/>
              </a:ext>
            </a:extLst>
          </p:cNvPr>
          <p:cNvSpPr/>
          <p:nvPr/>
        </p:nvSpPr>
        <p:spPr>
          <a:xfrm>
            <a:off x="4812596" y="2837688"/>
            <a:ext cx="290185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/>
              <a:t>일정 시간이 지나면 터지는 폭탄을 벽</a:t>
            </a:r>
            <a:r>
              <a:rPr lang="en-US" altLang="ko-KR" sz="1200" dirty="0"/>
              <a:t>, </a:t>
            </a:r>
            <a:r>
              <a:rPr lang="ko-KR" altLang="en-US" sz="1200" dirty="0"/>
              <a:t>오브젝트에 던진다</a:t>
            </a:r>
            <a:endParaRPr lang="en-US" altLang="ko-KR" sz="1200" dirty="0"/>
          </a:p>
        </p:txBody>
      </p:sp>
      <p:sp>
        <p:nvSpPr>
          <p:cNvPr id="36" name="Text 4">
            <a:extLst>
              <a:ext uri="{FF2B5EF4-FFF2-40B4-BE49-F238E27FC236}">
                <a16:creationId xmlns:a16="http://schemas.microsoft.com/office/drawing/2014/main" id="{AF311DF7-3383-673D-F4F3-C779876725FA}"/>
              </a:ext>
            </a:extLst>
          </p:cNvPr>
          <p:cNvSpPr/>
          <p:nvPr/>
        </p:nvSpPr>
        <p:spPr>
          <a:xfrm>
            <a:off x="4808179" y="3313938"/>
            <a:ext cx="3014822" cy="36271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점착되어 있는 벽</a:t>
            </a:r>
            <a:r>
              <a:rPr lang="en-US" altLang="ko-KR" sz="1200" dirty="0"/>
              <a:t>, </a:t>
            </a:r>
            <a:r>
              <a:rPr lang="ko-KR" altLang="en-US" sz="1200" dirty="0"/>
              <a:t>오브젝트가 폭발 범위만큼 파괴된다</a:t>
            </a:r>
            <a:r>
              <a:rPr lang="en-US" altLang="ko-KR" sz="1200" dirty="0"/>
              <a:t>.</a:t>
            </a:r>
            <a:endParaRPr lang="en-US" sz="1200" dirty="0"/>
          </a:p>
        </p:txBody>
      </p:sp>
      <p:sp>
        <p:nvSpPr>
          <p:cNvPr id="37" name="Text 5">
            <a:extLst>
              <a:ext uri="{FF2B5EF4-FFF2-40B4-BE49-F238E27FC236}">
                <a16:creationId xmlns:a16="http://schemas.microsoft.com/office/drawing/2014/main" id="{F77E53EB-8B50-93E9-64AD-4228D7DF14AF}"/>
              </a:ext>
            </a:extLst>
          </p:cNvPr>
          <p:cNvSpPr/>
          <p:nvPr/>
        </p:nvSpPr>
        <p:spPr>
          <a:xfrm>
            <a:off x="4808179" y="3804666"/>
            <a:ext cx="2806601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dirty="0"/>
              <a:t> 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9235" y="1391646"/>
            <a:ext cx="5714999" cy="1390128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9736" y="1555208"/>
            <a:ext cx="476250" cy="4762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8799" y="1659983"/>
            <a:ext cx="238125" cy="266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3294" y="2421983"/>
            <a:ext cx="3113021" cy="2286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9236" y="2943699"/>
            <a:ext cx="5715000" cy="2031462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2160" y="3124422"/>
            <a:ext cx="476250" cy="4762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4560" y="3229197"/>
            <a:ext cx="171450" cy="266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0641" y="4294541"/>
            <a:ext cx="3450771" cy="244583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93548" y="4617154"/>
            <a:ext cx="4808984" cy="245818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69236" y="5079936"/>
            <a:ext cx="5715000" cy="1480677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9736" y="5204342"/>
            <a:ext cx="476250" cy="4762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88324" y="5309117"/>
            <a:ext cx="219075" cy="2667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59736" y="6048346"/>
            <a:ext cx="2798564" cy="342928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재화 시스템 구조</a:t>
            </a:r>
            <a:endParaRPr lang="en-US" sz="2700" dirty="0"/>
          </a:p>
        </p:txBody>
      </p:sp>
      <p:sp>
        <p:nvSpPr>
          <p:cNvPr id="22" name="Text 1"/>
          <p:cNvSpPr/>
          <p:nvPr/>
        </p:nvSpPr>
        <p:spPr>
          <a:xfrm>
            <a:off x="7050286" y="1640933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펀딩</a:t>
            </a:r>
            <a:endParaRPr lang="en-US" sz="1800" dirty="0"/>
          </a:p>
        </p:txBody>
      </p:sp>
      <p:sp>
        <p:nvSpPr>
          <p:cNvPr id="23" name="Text 2"/>
          <p:cNvSpPr/>
          <p:nvPr/>
        </p:nvSpPr>
        <p:spPr>
          <a:xfrm>
            <a:off x="6459736" y="2082833"/>
            <a:ext cx="4114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모든 팀원이 투자하여 팀원 모두가 얻는 능력</a:t>
            </a:r>
            <a:endParaRPr lang="en-US" sz="1200" dirty="0"/>
          </a:p>
        </p:txBody>
      </p:sp>
      <p:sp>
        <p:nvSpPr>
          <p:cNvPr id="25" name="Text 4"/>
          <p:cNvSpPr/>
          <p:nvPr/>
        </p:nvSpPr>
        <p:spPr>
          <a:xfrm>
            <a:off x="6539495" y="2421982"/>
            <a:ext cx="3439157" cy="3450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기본 능력 향상 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공격력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방어력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장전 속도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이동 속도</a:t>
            </a:r>
            <a:endParaRPr lang="en-US" sz="102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6" name="Text 5"/>
          <p:cNvSpPr/>
          <p:nvPr/>
        </p:nvSpPr>
        <p:spPr>
          <a:xfrm>
            <a:off x="7022710" y="3210147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랩톤</a:t>
            </a:r>
            <a:endParaRPr lang="en-US" sz="1800" dirty="0"/>
          </a:p>
        </p:txBody>
      </p:sp>
      <p:sp>
        <p:nvSpPr>
          <p:cNvPr id="27" name="Text 6"/>
          <p:cNvSpPr/>
          <p:nvPr/>
        </p:nvSpPr>
        <p:spPr>
          <a:xfrm>
            <a:off x="6432160" y="3676872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개인 투자하여 자기자신만 얻는 능력</a:t>
            </a:r>
            <a:endParaRPr lang="en-US" sz="1200" dirty="0"/>
          </a:p>
        </p:txBody>
      </p:sp>
      <p:sp>
        <p:nvSpPr>
          <p:cNvPr id="28" name="Text 7"/>
          <p:cNvSpPr/>
          <p:nvPr/>
        </p:nvSpPr>
        <p:spPr>
          <a:xfrm>
            <a:off x="6505891" y="4317312"/>
            <a:ext cx="3587169" cy="21080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경제 관련 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(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라운드 시작 시 얻는 재화 증가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상점 물품 할인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)</a:t>
            </a:r>
            <a:endParaRPr lang="en-US" sz="1020" dirty="0"/>
          </a:p>
        </p:txBody>
      </p:sp>
      <p:sp>
        <p:nvSpPr>
          <p:cNvPr id="29" name="Text 8"/>
          <p:cNvSpPr/>
          <p:nvPr/>
        </p:nvSpPr>
        <p:spPr>
          <a:xfrm>
            <a:off x="6484740" y="4623368"/>
            <a:ext cx="4717792" cy="21080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전투 관련 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(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적 처치 시 일정 시간 이동속도 증가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, 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폭탄 설치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/</a:t>
            </a:r>
            <a:r>
              <a:rPr lang="ko-KR" altLang="en-US" sz="1020" dirty="0">
                <a:solidFill>
                  <a:schemeClr val="bg1">
                    <a:lumMod val="95000"/>
                  </a:schemeClr>
                </a:solidFill>
              </a:rPr>
              <a:t>해체 시 받는 피해 감소</a:t>
            </a:r>
            <a:r>
              <a:rPr lang="en-US" altLang="ko-KR" sz="1020" dirty="0">
                <a:solidFill>
                  <a:schemeClr val="bg1">
                    <a:lumMod val="95000"/>
                  </a:schemeClr>
                </a:solidFill>
              </a:rPr>
              <a:t>)</a:t>
            </a:r>
            <a:endParaRPr lang="en-US" sz="102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0" name="Text 9"/>
          <p:cNvSpPr/>
          <p:nvPr/>
        </p:nvSpPr>
        <p:spPr>
          <a:xfrm>
            <a:off x="7050286" y="5290067"/>
            <a:ext cx="5486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상점</a:t>
            </a:r>
            <a:endParaRPr lang="en-US" sz="1800" dirty="0"/>
          </a:p>
        </p:txBody>
      </p:sp>
      <p:sp>
        <p:nvSpPr>
          <p:cNvPr id="31" name="Text 10"/>
          <p:cNvSpPr/>
          <p:nvPr/>
        </p:nvSpPr>
        <p:spPr>
          <a:xfrm>
            <a:off x="6459736" y="5756792"/>
            <a:ext cx="8191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타 플레이어에게 선물 가능한</a:t>
            </a:r>
            <a:r>
              <a:rPr lang="en-US" sz="120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모든 플레이어가 사용할 수 있는 아이템</a:t>
            </a:r>
            <a:endParaRPr lang="en-US" sz="1200" dirty="0"/>
          </a:p>
        </p:txBody>
      </p:sp>
      <p:sp>
        <p:nvSpPr>
          <p:cNvPr id="32" name="Text 11"/>
          <p:cNvSpPr/>
          <p:nvPr/>
        </p:nvSpPr>
        <p:spPr>
          <a:xfrm>
            <a:off x="6554986" y="6080642"/>
            <a:ext cx="2703314" cy="27042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총, 방탄복, </a:t>
            </a:r>
            <a:r>
              <a:rPr lang="en-US" sz="1020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회복키트</a:t>
            </a:r>
            <a:r>
              <a:rPr 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수류탄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연막탄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, </a:t>
            </a:r>
            <a:r>
              <a:rPr lang="ko-KR" altLang="en-US" sz="1020" dirty="0" err="1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해체킷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 </a:t>
            </a:r>
            <a:endParaRPr lang="en-US" sz="1020" dirty="0"/>
          </a:p>
        </p:txBody>
      </p:sp>
      <p:sp>
        <p:nvSpPr>
          <p:cNvPr id="35" name="Text 14"/>
          <p:cNvSpPr/>
          <p:nvPr/>
        </p:nvSpPr>
        <p:spPr>
          <a:xfrm>
            <a:off x="11468844" y="6968133"/>
            <a:ext cx="410587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9 / 9</a:t>
            </a:r>
            <a:endParaRPr lang="en-US" sz="1200" dirty="0"/>
          </a:p>
        </p:txBody>
      </p:sp>
      <p:pic>
        <p:nvPicPr>
          <p:cNvPr id="36" name="Image 10" descr="preencoded.png">
            <a:extLst>
              <a:ext uri="{FF2B5EF4-FFF2-40B4-BE49-F238E27FC236}">
                <a16:creationId xmlns:a16="http://schemas.microsoft.com/office/drawing/2014/main" id="{0838435D-6906-8433-C5ED-BE7E37C47F5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0641" y="3996531"/>
            <a:ext cx="3999411" cy="239409"/>
          </a:xfrm>
          <a:prstGeom prst="rect">
            <a:avLst/>
          </a:prstGeom>
        </p:spPr>
      </p:pic>
      <p:sp>
        <p:nvSpPr>
          <p:cNvPr id="37" name="Text 7">
            <a:extLst>
              <a:ext uri="{FF2B5EF4-FFF2-40B4-BE49-F238E27FC236}">
                <a16:creationId xmlns:a16="http://schemas.microsoft.com/office/drawing/2014/main" id="{4547F64D-3890-734E-90DB-9ED02ECA509E}"/>
              </a:ext>
            </a:extLst>
          </p:cNvPr>
          <p:cNvSpPr/>
          <p:nvPr/>
        </p:nvSpPr>
        <p:spPr>
          <a:xfrm>
            <a:off x="6505891" y="4019302"/>
            <a:ext cx="3904161" cy="29574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30"/>
              </a:lnSpc>
              <a:buNone/>
            </a:pP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생존 관련 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(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자연 치유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폭발로 받는 데미지 감소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, </a:t>
            </a:r>
            <a:r>
              <a:rPr lang="ko-KR" altLang="en-US" sz="1020" dirty="0">
                <a:solidFill>
                  <a:srgbClr val="FFFFFF"/>
                </a:solidFill>
                <a:latin typeface="ui-sans-serif" pitchFamily="34" charset="0"/>
              </a:rPr>
              <a:t>총기 데미지 감소</a:t>
            </a:r>
            <a:r>
              <a:rPr lang="en-US" altLang="ko-KR" sz="1020" dirty="0">
                <a:solidFill>
                  <a:srgbClr val="FFFFFF"/>
                </a:solidFill>
                <a:latin typeface="ui-sans-serif" pitchFamily="34" charset="0"/>
              </a:rPr>
              <a:t>)</a:t>
            </a:r>
            <a:endParaRPr lang="en-US" sz="102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C3BE25-D6B5-DC0D-A6B6-F56F2AF42778}"/>
              </a:ext>
            </a:extLst>
          </p:cNvPr>
          <p:cNvSpPr txBox="1"/>
          <p:nvPr/>
        </p:nvSpPr>
        <p:spPr>
          <a:xfrm>
            <a:off x="6670285" y="834541"/>
            <a:ext cx="4709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설명 텍스트 대체할 이미지 생성 후 적용 필요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968FF87-8737-D829-A2BD-8008E6D9D284}"/>
              </a:ext>
            </a:extLst>
          </p:cNvPr>
          <p:cNvSpPr txBox="1"/>
          <p:nvPr/>
        </p:nvSpPr>
        <p:spPr>
          <a:xfrm>
            <a:off x="838200" y="4511007"/>
            <a:ext cx="2803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라운드 종료 후 얻는 재화로 구매한다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56D7BD8F-F7EC-D524-BD3E-DEEE3E22678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" y="2426246"/>
            <a:ext cx="1853940" cy="186018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348EDF-F14E-CC3C-3CEB-B9DECB3E6E52}"/>
              </a:ext>
            </a:extLst>
          </p:cNvPr>
          <p:cNvSpPr txBox="1"/>
          <p:nvPr/>
        </p:nvSpPr>
        <p:spPr>
          <a:xfrm>
            <a:off x="3736428" y="1466193"/>
            <a:ext cx="26516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중점 연구과제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각자 맡은 파트 자세하게</a:t>
            </a:r>
            <a:endParaRPr lang="en-US" altLang="ko-KR" dirty="0"/>
          </a:p>
          <a:p>
            <a:r>
              <a:rPr lang="ko-KR" altLang="en-US" dirty="0"/>
              <a:t>들은 강의들</a:t>
            </a:r>
            <a:r>
              <a:rPr lang="en-US" altLang="ko-KR" dirty="0"/>
              <a:t>?</a:t>
            </a:r>
            <a:endParaRPr lang="ko-KR" altLang="en-US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1F9984FF-373E-BC9E-0AA7-29F591034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19291CDA-F090-3D29-B871-F822F6209F2A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ED072AAF-B34D-3684-019A-0729ECA2C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6" name="Image 2" descr="preencoded.png">
            <a:extLst>
              <a:ext uri="{FF2B5EF4-FFF2-40B4-BE49-F238E27FC236}">
                <a16:creationId xmlns:a16="http://schemas.microsoft.com/office/drawing/2014/main" id="{9E2ADC4C-F41F-E1D5-6C8F-7BA78F775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" y="1783342"/>
            <a:ext cx="3447289" cy="471363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C8EB4B8-A392-FCE5-637B-446C0D660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690" y="2189966"/>
            <a:ext cx="2652801" cy="3977260"/>
          </a:xfrm>
          <a:prstGeom prst="rect">
            <a:avLst/>
          </a:prstGeom>
        </p:spPr>
      </p:pic>
      <p:pic>
        <p:nvPicPr>
          <p:cNvPr id="13" name="Image 2" descr="preencoded.png">
            <a:extLst>
              <a:ext uri="{FF2B5EF4-FFF2-40B4-BE49-F238E27FC236}">
                <a16:creationId xmlns:a16="http://schemas.microsoft.com/office/drawing/2014/main" id="{2B66EA3C-12AF-B0CA-6D8C-E409740C6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2" y="1027547"/>
            <a:ext cx="3150229" cy="63243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678D0AC-D0E8-F4B7-938B-0B8D15080BFA}"/>
              </a:ext>
            </a:extLst>
          </p:cNvPr>
          <p:cNvSpPr txBox="1"/>
          <p:nvPr/>
        </p:nvSpPr>
        <p:spPr>
          <a:xfrm>
            <a:off x="704850" y="1881691"/>
            <a:ext cx="2879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부위별 피격 데미지 계산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3E7988-5323-C95F-CC6A-98EA4A6AB92F}"/>
              </a:ext>
            </a:extLst>
          </p:cNvPr>
          <p:cNvSpPr txBox="1"/>
          <p:nvPr/>
        </p:nvSpPr>
        <p:spPr>
          <a:xfrm>
            <a:off x="375262" y="1167279"/>
            <a:ext cx="3058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더 정확한 피해 계산 </a:t>
            </a:r>
            <a:r>
              <a:rPr lang="en-US" altLang="ko-KR" dirty="0"/>
              <a:t>- </a:t>
            </a:r>
            <a:r>
              <a:rPr lang="ko-KR" altLang="en-US" dirty="0"/>
              <a:t>장윤서</a:t>
            </a:r>
          </a:p>
        </p:txBody>
      </p:sp>
      <p:pic>
        <p:nvPicPr>
          <p:cNvPr id="14" name="Image 2" descr="preencoded.png">
            <a:extLst>
              <a:ext uri="{FF2B5EF4-FFF2-40B4-BE49-F238E27FC236}">
                <a16:creationId xmlns:a16="http://schemas.microsoft.com/office/drawing/2014/main" id="{9B6500FB-5648-C589-0D63-D1817DD65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735" y="1783342"/>
            <a:ext cx="4600940" cy="47136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5BE65A5-D3B0-803B-551B-5D437D9C3C33}"/>
              </a:ext>
            </a:extLst>
          </p:cNvPr>
          <p:cNvSpPr txBox="1"/>
          <p:nvPr/>
        </p:nvSpPr>
        <p:spPr>
          <a:xfrm>
            <a:off x="4017182" y="1881691"/>
            <a:ext cx="4600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2. </a:t>
            </a:r>
            <a:r>
              <a:rPr lang="ko-KR" altLang="en-US" dirty="0"/>
              <a:t>오브젝트에 가려진 캐릭터 범위 피해 계산</a:t>
            </a:r>
          </a:p>
        </p:txBody>
      </p:sp>
      <p:pic>
        <p:nvPicPr>
          <p:cNvPr id="15" name="Image 2" descr="preencoded.png">
            <a:extLst>
              <a:ext uri="{FF2B5EF4-FFF2-40B4-BE49-F238E27FC236}">
                <a16:creationId xmlns:a16="http://schemas.microsoft.com/office/drawing/2014/main" id="{EE4BEFAD-D244-CD4A-54F6-4ED99D8F6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4193" y="1783342"/>
            <a:ext cx="3447289" cy="47136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8CD89A-7C63-5CF5-CCF0-EC81C70D663D}"/>
              </a:ext>
            </a:extLst>
          </p:cNvPr>
          <p:cNvSpPr txBox="1"/>
          <p:nvPr/>
        </p:nvSpPr>
        <p:spPr>
          <a:xfrm>
            <a:off x="8899597" y="1881691"/>
            <a:ext cx="23647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3. </a:t>
            </a:r>
            <a:r>
              <a:rPr lang="ko-KR" altLang="en-US" dirty="0"/>
              <a:t>투사체 </a:t>
            </a:r>
            <a:r>
              <a:rPr lang="ko-KR" altLang="en-US" dirty="0" err="1"/>
              <a:t>관통력</a:t>
            </a:r>
            <a:r>
              <a:rPr lang="ko-KR" altLang="en-US" dirty="0"/>
              <a:t> 구현</a:t>
            </a:r>
          </a:p>
        </p:txBody>
      </p:sp>
    </p:spTree>
    <p:extLst>
      <p:ext uri="{BB962C8B-B14F-4D97-AF65-F5344CB8AC3E}">
        <p14:creationId xmlns:p14="http://schemas.microsoft.com/office/powerpoint/2010/main" val="7208563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554483E-141E-F596-60A9-E2D786B8E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C5661B06-B635-915D-DA4E-8E33C4C04F82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7DDE2B6F-FD91-1210-1BB2-A9E76CD43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7" name="Image 2" descr="preencoded.png">
            <a:extLst>
              <a:ext uri="{FF2B5EF4-FFF2-40B4-BE49-F238E27FC236}">
                <a16:creationId xmlns:a16="http://schemas.microsoft.com/office/drawing/2014/main" id="{0DDF11F8-7E61-FB27-1A01-79EFD6D68F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" y="1783342"/>
            <a:ext cx="10811257" cy="4713638"/>
          </a:xfrm>
          <a:prstGeom prst="rect">
            <a:avLst/>
          </a:prstGeom>
        </p:spPr>
      </p:pic>
      <p:pic>
        <p:nvPicPr>
          <p:cNvPr id="8" name="Image 2" descr="preencoded.png">
            <a:extLst>
              <a:ext uri="{FF2B5EF4-FFF2-40B4-BE49-F238E27FC236}">
                <a16:creationId xmlns:a16="http://schemas.microsoft.com/office/drawing/2014/main" id="{F5DDAF49-F9D8-E48D-B021-F2A5D2EAB5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3" y="1027547"/>
            <a:ext cx="4221122" cy="6324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8902F5C-2DAC-91FC-D0E8-16BA96A2CA11}"/>
              </a:ext>
            </a:extLst>
          </p:cNvPr>
          <p:cNvSpPr txBox="1"/>
          <p:nvPr/>
        </p:nvSpPr>
        <p:spPr>
          <a:xfrm>
            <a:off x="487720" y="1925524"/>
            <a:ext cx="10082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비동기 입출력</a:t>
            </a:r>
            <a:r>
              <a:rPr lang="en-US" altLang="ko-KR" dirty="0"/>
              <a:t>, </a:t>
            </a:r>
            <a:r>
              <a:rPr lang="ko-KR" altLang="en-US" dirty="0"/>
              <a:t>스레드 </a:t>
            </a:r>
            <a:r>
              <a:rPr lang="ko-KR" altLang="en-US" dirty="0" err="1"/>
              <a:t>풀링</a:t>
            </a:r>
            <a:r>
              <a:rPr lang="en-US" altLang="ko-KR" dirty="0"/>
              <a:t>, </a:t>
            </a:r>
            <a:r>
              <a:rPr lang="ko-KR" altLang="en-US" dirty="0"/>
              <a:t>동기화 처리 구현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0AC35B-4749-2B89-2C0F-A7CB7640010F}"/>
              </a:ext>
            </a:extLst>
          </p:cNvPr>
          <p:cNvSpPr txBox="1"/>
          <p:nvPr/>
        </p:nvSpPr>
        <p:spPr>
          <a:xfrm>
            <a:off x="375262" y="1167279"/>
            <a:ext cx="4647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멀티스레드를</a:t>
            </a:r>
            <a:r>
              <a:rPr lang="ko-KR" altLang="en-US" dirty="0"/>
              <a:t> 활용한 </a:t>
            </a:r>
            <a:r>
              <a:rPr lang="en-US" altLang="ko-KR" dirty="0"/>
              <a:t>IOCP </a:t>
            </a:r>
            <a:r>
              <a:rPr lang="ko-KR" altLang="en-US" dirty="0"/>
              <a:t>구현 </a:t>
            </a:r>
            <a:r>
              <a:rPr lang="en-US" altLang="ko-KR" dirty="0"/>
              <a:t>– </a:t>
            </a:r>
            <a:r>
              <a:rPr lang="ko-KR" altLang="en-US" dirty="0"/>
              <a:t>이수현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1D39BB-BCE9-EB6B-AD25-B9E054E07262}"/>
              </a:ext>
            </a:extLst>
          </p:cNvPr>
          <p:cNvSpPr txBox="1"/>
          <p:nvPr/>
        </p:nvSpPr>
        <p:spPr>
          <a:xfrm>
            <a:off x="487720" y="2952960"/>
            <a:ext cx="10302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2. </a:t>
            </a:r>
            <a:r>
              <a:rPr lang="ko-KR" altLang="en-US" dirty="0"/>
              <a:t>수백만개의 접속을 처리하는 구조를 설계하면서 성능 최적화 구현</a:t>
            </a:r>
            <a:r>
              <a:rPr lang="en-US" altLang="ko-KR" dirty="0"/>
              <a:t>(</a:t>
            </a:r>
            <a:r>
              <a:rPr lang="ko-KR" altLang="en-US" dirty="0"/>
              <a:t>객체 풀</a:t>
            </a:r>
            <a:r>
              <a:rPr lang="en-US" altLang="ko-KR" dirty="0"/>
              <a:t>, </a:t>
            </a:r>
            <a:r>
              <a:rPr lang="ko-KR" altLang="en-US" dirty="0"/>
              <a:t>효율적인 패킷 직렬화 버퍼 설계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5CE6E5-340F-5BC7-EDAA-A48253893F8C}"/>
              </a:ext>
            </a:extLst>
          </p:cNvPr>
          <p:cNvSpPr txBox="1"/>
          <p:nvPr/>
        </p:nvSpPr>
        <p:spPr>
          <a:xfrm>
            <a:off x="462513" y="4074322"/>
            <a:ext cx="2023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3. </a:t>
            </a:r>
            <a:r>
              <a:rPr lang="ko-KR" altLang="en-US" dirty="0" err="1"/>
              <a:t>동접</a:t>
            </a:r>
            <a:r>
              <a:rPr lang="ko-KR" altLang="en-US" dirty="0"/>
              <a:t> </a:t>
            </a:r>
            <a:r>
              <a:rPr lang="en-US" altLang="ko-KR" dirty="0"/>
              <a:t>300</a:t>
            </a:r>
            <a:r>
              <a:rPr lang="ko-KR" altLang="en-US" dirty="0"/>
              <a:t>만 목표</a:t>
            </a:r>
          </a:p>
        </p:txBody>
      </p:sp>
    </p:spTree>
    <p:extLst>
      <p:ext uri="{BB962C8B-B14F-4D97-AF65-F5344CB8AC3E}">
        <p14:creationId xmlns:p14="http://schemas.microsoft.com/office/powerpoint/2010/main" val="38417603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F20E90D-DE46-C9CD-2145-DC53F318E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E4CBBB49-5CB9-9C20-828C-CD5912234256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중점 연구과제</a:t>
            </a:r>
            <a:endParaRPr lang="en-US" sz="2700" dirty="0"/>
          </a:p>
        </p:txBody>
      </p:sp>
      <p:pic>
        <p:nvPicPr>
          <p:cNvPr id="5" name="Image 1" descr="preencoded.png">
            <a:extLst>
              <a:ext uri="{FF2B5EF4-FFF2-40B4-BE49-F238E27FC236}">
                <a16:creationId xmlns:a16="http://schemas.microsoft.com/office/drawing/2014/main" id="{162493CE-3122-1B6E-009D-E7400E3CA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  <p:pic>
        <p:nvPicPr>
          <p:cNvPr id="6" name="Image 2" descr="preencoded.png">
            <a:extLst>
              <a:ext uri="{FF2B5EF4-FFF2-40B4-BE49-F238E27FC236}">
                <a16:creationId xmlns:a16="http://schemas.microsoft.com/office/drawing/2014/main" id="{E2FBA9C2-909E-0AF3-223D-BBC7F43050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" y="1783342"/>
            <a:ext cx="11430000" cy="4713638"/>
          </a:xfrm>
          <a:prstGeom prst="rect">
            <a:avLst/>
          </a:prstGeom>
        </p:spPr>
      </p:pic>
      <p:pic>
        <p:nvPicPr>
          <p:cNvPr id="7" name="Image 2" descr="preencoded.png">
            <a:extLst>
              <a:ext uri="{FF2B5EF4-FFF2-40B4-BE49-F238E27FC236}">
                <a16:creationId xmlns:a16="http://schemas.microsoft.com/office/drawing/2014/main" id="{6028250E-8B4B-9482-34CE-896FCC7D7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2" y="1027547"/>
            <a:ext cx="5306210" cy="6324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F8AE59-0B2D-7F71-590B-44F2C7CD3F45}"/>
              </a:ext>
            </a:extLst>
          </p:cNvPr>
          <p:cNvSpPr txBox="1"/>
          <p:nvPr/>
        </p:nvSpPr>
        <p:spPr>
          <a:xfrm>
            <a:off x="375262" y="1167279"/>
            <a:ext cx="57207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폭발로 인한 실시간 맵</a:t>
            </a:r>
            <a:r>
              <a:rPr lang="en-US" altLang="ko-KR" dirty="0"/>
              <a:t>, </a:t>
            </a:r>
            <a:r>
              <a:rPr lang="ko-KR" altLang="en-US" dirty="0"/>
              <a:t>오브젝트 변화 구현 </a:t>
            </a:r>
            <a:r>
              <a:rPr lang="en-US" altLang="ko-KR" dirty="0"/>
              <a:t>– </a:t>
            </a:r>
            <a:r>
              <a:rPr lang="ko-KR" altLang="en-US" dirty="0"/>
              <a:t>한건우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C177EA-DFBD-C418-367D-232D61A24591}"/>
              </a:ext>
            </a:extLst>
          </p:cNvPr>
          <p:cNvSpPr txBox="1"/>
          <p:nvPr/>
        </p:nvSpPr>
        <p:spPr>
          <a:xfrm>
            <a:off x="1040524" y="2286000"/>
            <a:ext cx="1388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지형 변화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C6D56B-DA2F-4D27-3CB7-377FF87E7E05}"/>
              </a:ext>
            </a:extLst>
          </p:cNvPr>
          <p:cNvSpPr txBox="1"/>
          <p:nvPr/>
        </p:nvSpPr>
        <p:spPr>
          <a:xfrm>
            <a:off x="1040524" y="2623801"/>
            <a:ext cx="6609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</a:t>
            </a:r>
            <a:r>
              <a:rPr lang="ko-KR" altLang="en-US" dirty="0" err="1"/>
              <a:t>셰이더를</a:t>
            </a:r>
            <a:r>
              <a:rPr lang="ko-KR" altLang="en-US" dirty="0"/>
              <a:t> 사용하여 폭발 범위 내의 높이 맵 데이터를 수정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3FBBFE-03D1-B295-0043-B8E68916B008}"/>
              </a:ext>
            </a:extLst>
          </p:cNvPr>
          <p:cNvSpPr txBox="1"/>
          <p:nvPr/>
        </p:nvSpPr>
        <p:spPr>
          <a:xfrm>
            <a:off x="1024428" y="3032547"/>
            <a:ext cx="4657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텍스쳐를</a:t>
            </a:r>
            <a:r>
              <a:rPr lang="ko-KR" altLang="en-US" dirty="0"/>
              <a:t>  </a:t>
            </a:r>
            <a:r>
              <a:rPr lang="ko-KR" altLang="en-US" dirty="0" err="1"/>
              <a:t>블렌딩하여</a:t>
            </a:r>
            <a:r>
              <a:rPr lang="ko-KR" altLang="en-US" dirty="0"/>
              <a:t> 폭발로 노출된 흙 표현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EE4B1A-5A26-F8FC-0C55-D5A73C71D56A}"/>
              </a:ext>
            </a:extLst>
          </p:cNvPr>
          <p:cNvSpPr txBox="1"/>
          <p:nvPr/>
        </p:nvSpPr>
        <p:spPr>
          <a:xfrm>
            <a:off x="1040524" y="3401879"/>
            <a:ext cx="786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지형 </a:t>
            </a:r>
            <a:r>
              <a:rPr lang="ko-KR" altLang="en-US" dirty="0" err="1"/>
              <a:t>메쉬의</a:t>
            </a:r>
            <a:r>
              <a:rPr lang="ko-KR" altLang="en-US" dirty="0"/>
              <a:t> 정점 수를 직접 늘리지 않고 </a:t>
            </a:r>
            <a:r>
              <a:rPr lang="ko-KR" altLang="en-US" dirty="0" err="1"/>
              <a:t>테셀레이션</a:t>
            </a:r>
            <a:r>
              <a:rPr lang="ko-KR" altLang="en-US" dirty="0"/>
              <a:t> </a:t>
            </a:r>
            <a:r>
              <a:rPr lang="ko-KR" altLang="en-US" dirty="0" err="1"/>
              <a:t>셰이더를</a:t>
            </a:r>
            <a:r>
              <a:rPr lang="ko-KR" altLang="en-US" dirty="0"/>
              <a:t> 사용하여 표현</a:t>
            </a:r>
          </a:p>
        </p:txBody>
      </p:sp>
    </p:spTree>
    <p:extLst>
      <p:ext uri="{BB962C8B-B14F-4D97-AF65-F5344CB8AC3E}">
        <p14:creationId xmlns:p14="http://schemas.microsoft.com/office/powerpoint/2010/main" val="640271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C997F7E7-9F73-268D-4A9C-70AD1AFF8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7CAFFAC-4879-D3CE-893C-FB64FFA11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51" y="1499859"/>
            <a:ext cx="11601450" cy="4867275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CC98A578-FB0D-73F3-2DDC-258C2DD31643}"/>
              </a:ext>
            </a:extLst>
          </p:cNvPr>
          <p:cNvSpPr/>
          <p:nvPr/>
        </p:nvSpPr>
        <p:spPr>
          <a:xfrm>
            <a:off x="381000" y="381000"/>
            <a:ext cx="114300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3000"/>
              </a:lnSpc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ui-sans-serif" pitchFamily="34" charset="0"/>
              </a:rPr>
              <a:t>일정</a:t>
            </a:r>
            <a:endParaRPr lang="en-US" sz="2700" dirty="0"/>
          </a:p>
        </p:txBody>
      </p:sp>
      <p:pic>
        <p:nvPicPr>
          <p:cNvPr id="6" name="Image 1" descr="preencoded.png">
            <a:extLst>
              <a:ext uri="{FF2B5EF4-FFF2-40B4-BE49-F238E27FC236}">
                <a16:creationId xmlns:a16="http://schemas.microsoft.com/office/drawing/2014/main" id="{9E68C1D9-1A7F-25B4-9765-0E786435E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38200"/>
            <a:ext cx="914400" cy="3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1835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</TotalTime>
  <Words>713</Words>
  <Application>Microsoft Office PowerPoint</Application>
  <PresentationFormat>와이드스크린</PresentationFormat>
  <Paragraphs>154</Paragraphs>
  <Slides>13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ui-sans-serif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한건우(2019180042)</cp:lastModifiedBy>
  <cp:revision>25</cp:revision>
  <dcterms:created xsi:type="dcterms:W3CDTF">2025-11-12T03:30:23Z</dcterms:created>
  <dcterms:modified xsi:type="dcterms:W3CDTF">2025-11-21T08:25:18Z</dcterms:modified>
</cp:coreProperties>
</file>