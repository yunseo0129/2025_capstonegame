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1" r:id="rId4"/>
    <p:sldId id="259" r:id="rId5"/>
    <p:sldId id="261" r:id="rId6"/>
    <p:sldId id="272" r:id="rId7"/>
    <p:sldId id="257" r:id="rId8"/>
    <p:sldId id="262" r:id="rId9"/>
    <p:sldId id="267" r:id="rId10"/>
    <p:sldId id="263" r:id="rId11"/>
    <p:sldId id="264" r:id="rId12"/>
    <p:sldId id="269" r:id="rId13"/>
    <p:sldId id="265" r:id="rId14"/>
    <p:sldId id="273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E7FF"/>
    <a:srgbClr val="E3C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08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-24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89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7562-C4A9-4FD7-220F-5260CD65F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DE3F81-6ABC-BFA0-CD77-0DB7EBB3D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EE218-4BE4-2AA2-72FA-16731862C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56056-37CA-39A8-5859-230E1D563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88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E79F6-267C-1309-995E-B7B6EEFDE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CC60B3-5FB3-AAE8-062B-A6789DC7B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01FE85-7918-F93C-532F-9AE5F9A10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86A6-63DE-EDF8-49A1-E861419399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46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microsoft.com/office/2007/relationships/hdphoto" Target="../media/hdphoto1.wd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jpe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microsoft.com/office/2007/relationships/hdphoto" Target="../media/hdphoto1.wdp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3.png"/><Relationship Id="rId5" Type="http://schemas.openxmlformats.org/officeDocument/2006/relationships/image" Target="../media/image25.png"/><Relationship Id="rId10" Type="http://schemas.openxmlformats.org/officeDocument/2006/relationships/image" Target="../media/image32.jpeg"/><Relationship Id="rId4" Type="http://schemas.openxmlformats.org/officeDocument/2006/relationships/image" Target="../media/image6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6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6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24.png"/><Relationship Id="rId21" Type="http://schemas.openxmlformats.org/officeDocument/2006/relationships/image" Target="../media/image61.png"/><Relationship Id="rId7" Type="http://schemas.openxmlformats.org/officeDocument/2006/relationships/image" Target="../media/image44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1.png"/><Relationship Id="rId5" Type="http://schemas.openxmlformats.org/officeDocument/2006/relationships/image" Target="../media/image47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6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jpe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26" Type="http://schemas.openxmlformats.org/officeDocument/2006/relationships/image" Target="../media/image86.png"/><Relationship Id="rId3" Type="http://schemas.openxmlformats.org/officeDocument/2006/relationships/image" Target="../media/image24.png"/><Relationship Id="rId21" Type="http://schemas.openxmlformats.org/officeDocument/2006/relationships/image" Target="../media/image8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5" Type="http://schemas.openxmlformats.org/officeDocument/2006/relationships/image" Target="../media/image8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24" Type="http://schemas.openxmlformats.org/officeDocument/2006/relationships/image" Target="../media/image84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23" Type="http://schemas.openxmlformats.org/officeDocument/2006/relationships/image" Target="../media/image83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Relationship Id="rId22" Type="http://schemas.openxmlformats.org/officeDocument/2006/relationships/image" Target="../media/image8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5.png"/><Relationship Id="rId3" Type="http://schemas.openxmlformats.org/officeDocument/2006/relationships/image" Target="../media/image87.png"/><Relationship Id="rId7" Type="http://schemas.openxmlformats.org/officeDocument/2006/relationships/image" Target="../media/image44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3.png"/><Relationship Id="rId5" Type="http://schemas.openxmlformats.org/officeDocument/2006/relationships/image" Target="../media/image88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6.png"/><Relationship Id="rId9" Type="http://schemas.openxmlformats.org/officeDocument/2006/relationships/image" Target="../media/image91.png"/><Relationship Id="rId14" Type="http://schemas.openxmlformats.org/officeDocument/2006/relationships/image" Target="../media/image9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9.png"/><Relationship Id="rId7" Type="http://schemas.microsoft.com/office/2007/relationships/hdphoto" Target="../media/hdphoto3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6.png"/><Relationship Id="rId4" Type="http://schemas.microsoft.com/office/2007/relationships/hdphoto" Target="../media/hdphoto2.wdp"/><Relationship Id="rId9" Type="http://schemas.openxmlformats.org/officeDocument/2006/relationships/image" Target="../media/image10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24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81.png"/><Relationship Id="rId4" Type="http://schemas.openxmlformats.org/officeDocument/2006/relationships/image" Target="../media/image6.png"/><Relationship Id="rId9" Type="http://schemas.openxmlformats.org/officeDocument/2006/relationships/image" Target="../media/image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4800"/>
            <a:ext cx="10972800" cy="952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962912"/>
            <a:ext cx="10972799" cy="361648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914400" y="457200"/>
            <a:ext cx="10363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 프로젝트 소개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914400" y="838200"/>
            <a:ext cx="10363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새로운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3대3 FPS 게임 프로젝트</a:t>
            </a:r>
            <a:endParaRPr lang="en-US" sz="1500" dirty="0"/>
          </a:p>
        </p:txBody>
      </p:sp>
      <p:pic>
        <p:nvPicPr>
          <p:cNvPr id="6" name="그림 5" descr="클립아트, 만화 영화, 그래픽, 할로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E9C8F5-4A84-EAD5-436D-B3560A496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30480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1" y="1104900"/>
            <a:ext cx="2666999" cy="204802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1479" y="1104901"/>
            <a:ext cx="8637953" cy="52578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9791" y="1265845"/>
            <a:ext cx="228600" cy="228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312" y="1282921"/>
            <a:ext cx="20002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3589" y="1584962"/>
            <a:ext cx="3757554" cy="187424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시장 </a:t>
            </a: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환경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분석</a:t>
            </a:r>
            <a:endParaRPr lang="en-US" sz="2700" dirty="0"/>
          </a:p>
        </p:txBody>
      </p:sp>
      <p:sp>
        <p:nvSpPr>
          <p:cNvPr id="19" name="Text 7"/>
          <p:cNvSpPr/>
          <p:nvPr/>
        </p:nvSpPr>
        <p:spPr>
          <a:xfrm>
            <a:off x="853881" y="1257300"/>
            <a:ext cx="3167574" cy="2276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2026년 </a:t>
            </a:r>
            <a:r>
              <a:rPr lang="en-US" sz="18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주요</a:t>
            </a: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8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이벤트</a:t>
            </a:r>
            <a:endParaRPr lang="en-US" sz="18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400617-C10B-A4E1-34FE-37CC24299EF9}"/>
              </a:ext>
            </a:extLst>
          </p:cNvPr>
          <p:cNvSpPr/>
          <p:nvPr/>
        </p:nvSpPr>
        <p:spPr>
          <a:xfrm>
            <a:off x="598065" y="1711814"/>
            <a:ext cx="2170535" cy="13341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0E8D27D7-491E-453D-004B-4B4CBF7ADA21}"/>
              </a:ext>
            </a:extLst>
          </p:cNvPr>
          <p:cNvSpPr/>
          <p:nvPr/>
        </p:nvSpPr>
        <p:spPr>
          <a:xfrm>
            <a:off x="691009" y="1744542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6월</a:t>
            </a:r>
            <a:endParaRPr lang="en-US" sz="1350" dirty="0">
              <a:latin typeface="+mn-ea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F0CFDAD8-F966-3FFA-AB5A-690A23EDE2FF}"/>
              </a:ext>
            </a:extLst>
          </p:cNvPr>
          <p:cNvSpPr/>
          <p:nvPr/>
        </p:nvSpPr>
        <p:spPr>
          <a:xfrm>
            <a:off x="674265" y="2037160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 err="1">
                <a:solidFill>
                  <a:srgbClr val="4B5563"/>
                </a:solidFill>
                <a:latin typeface="+mn-ea"/>
                <a:cs typeface="ui-sans-serif" pitchFamily="34" charset="-120"/>
              </a:rPr>
              <a:t>전국동시지방선거</a:t>
            </a:r>
            <a:endParaRPr lang="en-US" sz="1400" dirty="0">
              <a:latin typeface="+mn-ea"/>
            </a:endParaRPr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742C5F4E-FA04-CAE7-BF61-C9A6F79AEEC8}"/>
              </a:ext>
            </a:extLst>
          </p:cNvPr>
          <p:cNvSpPr/>
          <p:nvPr/>
        </p:nvSpPr>
        <p:spPr>
          <a:xfrm>
            <a:off x="670829" y="2448732"/>
            <a:ext cx="27927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11월</a:t>
            </a:r>
            <a:endParaRPr lang="en-US" sz="1350" dirty="0">
              <a:latin typeface="+mn-ea"/>
            </a:endParaRPr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C8A5A121-E757-4D41-A9EB-78AA002694FD}"/>
              </a:ext>
            </a:extLst>
          </p:cNvPr>
          <p:cNvSpPr/>
          <p:nvPr/>
        </p:nvSpPr>
        <p:spPr>
          <a:xfrm>
            <a:off x="686355" y="2753754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>
                <a:solidFill>
                  <a:srgbClr val="4B5563"/>
                </a:solidFill>
                <a:latin typeface="+mn-ea"/>
                <a:cs typeface="ui-sans-serif" pitchFamily="34" charset="-120"/>
              </a:rPr>
              <a:t>미국 중간 선거</a:t>
            </a:r>
            <a:endParaRPr lang="en-US" sz="1400" dirty="0">
              <a:latin typeface="+mn-ea"/>
            </a:endParaRPr>
          </a:p>
        </p:txBody>
      </p:sp>
      <p:sp>
        <p:nvSpPr>
          <p:cNvPr id="59" name="Text 15">
            <a:extLst>
              <a:ext uri="{FF2B5EF4-FFF2-40B4-BE49-F238E27FC236}">
                <a16:creationId xmlns:a16="http://schemas.microsoft.com/office/drawing/2014/main" id="{13CC8883-CB2E-0BB0-55B2-94DBF39778A8}"/>
              </a:ext>
            </a:extLst>
          </p:cNvPr>
          <p:cNvSpPr/>
          <p:nvPr/>
        </p:nvSpPr>
        <p:spPr>
          <a:xfrm>
            <a:off x="607635" y="2191996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60" name="Text 15">
            <a:extLst>
              <a:ext uri="{FF2B5EF4-FFF2-40B4-BE49-F238E27FC236}">
                <a16:creationId xmlns:a16="http://schemas.microsoft.com/office/drawing/2014/main" id="{1C578CC3-0882-EB4F-5737-E89EDB6AD732}"/>
              </a:ext>
            </a:extLst>
          </p:cNvPr>
          <p:cNvSpPr/>
          <p:nvPr/>
        </p:nvSpPr>
        <p:spPr>
          <a:xfrm>
            <a:off x="607635" y="3037449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66" name="Text 10">
            <a:extLst>
              <a:ext uri="{FF2B5EF4-FFF2-40B4-BE49-F238E27FC236}">
                <a16:creationId xmlns:a16="http://schemas.microsoft.com/office/drawing/2014/main" id="{D7BBAD59-426A-93FD-3831-960A05961F35}"/>
              </a:ext>
            </a:extLst>
          </p:cNvPr>
          <p:cNvSpPr/>
          <p:nvPr/>
        </p:nvSpPr>
        <p:spPr>
          <a:xfrm>
            <a:off x="601710" y="3914922"/>
            <a:ext cx="335131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71" name="Text 15">
            <a:extLst>
              <a:ext uri="{FF2B5EF4-FFF2-40B4-BE49-F238E27FC236}">
                <a16:creationId xmlns:a16="http://schemas.microsoft.com/office/drawing/2014/main" id="{2C901E34-6368-0B01-FE6E-2B894F9EB61D}"/>
              </a:ext>
            </a:extLst>
          </p:cNvPr>
          <p:cNvSpPr/>
          <p:nvPr/>
        </p:nvSpPr>
        <p:spPr>
          <a:xfrm>
            <a:off x="608146" y="6477000"/>
            <a:ext cx="2792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70ED58-9495-274A-8044-F536F9310109}"/>
              </a:ext>
            </a:extLst>
          </p:cNvPr>
          <p:cNvSpPr txBox="1"/>
          <p:nvPr/>
        </p:nvSpPr>
        <p:spPr>
          <a:xfrm>
            <a:off x="3660505" y="1750237"/>
            <a:ext cx="2981370" cy="1575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정부 체계 변화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선거로 인한 정부 체계 변화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주변 국가와의 관계 악화 우려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최근 예</a:t>
            </a:r>
            <a:r>
              <a:rPr lang="en-US" altLang="ko-KR" sz="1600" dirty="0"/>
              <a:t>: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 관계</a:t>
            </a:r>
            <a:endParaRPr lang="ko-KR" altLang="en-US" b="1" dirty="0"/>
          </a:p>
        </p:txBody>
      </p:sp>
      <p:pic>
        <p:nvPicPr>
          <p:cNvPr id="20" name="Image 9" descr="preencoded.png">
            <a:extLst>
              <a:ext uri="{FF2B5EF4-FFF2-40B4-BE49-F238E27FC236}">
                <a16:creationId xmlns:a16="http://schemas.microsoft.com/office/drawing/2014/main" id="{E4123D87-7D3E-8874-7589-ABE49AF2D4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4022" y="1592193"/>
            <a:ext cx="3899913" cy="1874245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D3C287E9-2AAC-1867-2CF3-30EE0694A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257" y="3274522"/>
            <a:ext cx="2666999" cy="305007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73693F2F-93E3-2CCD-E869-7736B75B8D17}"/>
              </a:ext>
            </a:extLst>
          </p:cNvPr>
          <p:cNvSpPr/>
          <p:nvPr/>
        </p:nvSpPr>
        <p:spPr>
          <a:xfrm>
            <a:off x="853881" y="3428553"/>
            <a:ext cx="3167574" cy="2276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2025년 </a:t>
            </a: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최근</a:t>
            </a: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이슈</a:t>
            </a:r>
            <a:endParaRPr lang="en-US" sz="1800" dirty="0"/>
          </a:p>
        </p:txBody>
      </p:sp>
      <p:pic>
        <p:nvPicPr>
          <p:cNvPr id="14" name="Image 5" descr="preencoded.png">
            <a:extLst>
              <a:ext uri="{FF2B5EF4-FFF2-40B4-BE49-F238E27FC236}">
                <a16:creationId xmlns:a16="http://schemas.microsoft.com/office/drawing/2014/main" id="{85384717-FA8C-9BA7-271E-77755358B1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346" y="3446905"/>
            <a:ext cx="200025" cy="228600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4620DF19-E15C-6705-2C8F-3B0C9FF0E410}"/>
              </a:ext>
            </a:extLst>
          </p:cNvPr>
          <p:cNvSpPr/>
          <p:nvPr/>
        </p:nvSpPr>
        <p:spPr>
          <a:xfrm>
            <a:off x="598065" y="3844999"/>
            <a:ext cx="2170535" cy="754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FA98AC-E215-1962-9CD0-14A9B45C2627}"/>
              </a:ext>
            </a:extLst>
          </p:cNvPr>
          <p:cNvSpPr/>
          <p:nvPr/>
        </p:nvSpPr>
        <p:spPr>
          <a:xfrm>
            <a:off x="598065" y="4685109"/>
            <a:ext cx="2170535" cy="6307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15AAB827-E4EB-4B8B-B17E-B18EE6E26DEC}"/>
              </a:ext>
            </a:extLst>
          </p:cNvPr>
          <p:cNvSpPr/>
          <p:nvPr/>
        </p:nvSpPr>
        <p:spPr>
          <a:xfrm>
            <a:off x="686355" y="3980140"/>
            <a:ext cx="1993345" cy="963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>
                <a:solidFill>
                  <a:srgbClr val="4B5563"/>
                </a:solidFill>
                <a:latin typeface="+mn-ea"/>
              </a:rPr>
              <a:t>다카이치 총리 취임 이후</a:t>
            </a:r>
            <a:endParaRPr lang="en-US" altLang="ko-KR" sz="1400" dirty="0">
              <a:solidFill>
                <a:srgbClr val="4B5563"/>
              </a:solidFill>
              <a:latin typeface="+mn-ea"/>
            </a:endParaRPr>
          </a:p>
          <a:p>
            <a:pPr>
              <a:lnSpc>
                <a:spcPts val="1800"/>
              </a:lnSpc>
            </a:pPr>
            <a:r>
              <a:rPr lang="ko-KR" altLang="en-US" sz="1400" dirty="0">
                <a:solidFill>
                  <a:srgbClr val="4B5563"/>
                </a:solidFill>
                <a:latin typeface="+mn-ea"/>
              </a:rPr>
              <a:t>중국</a:t>
            </a:r>
            <a:r>
              <a:rPr lang="en-US" altLang="ko-KR" sz="1400" dirty="0">
                <a:solidFill>
                  <a:srgbClr val="4B5563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4B5563"/>
                </a:solidFill>
                <a:latin typeface="+mn-ea"/>
              </a:rPr>
              <a:t>일본 갈등</a:t>
            </a:r>
            <a:endParaRPr lang="en-US" sz="1400" dirty="0">
              <a:latin typeface="+mn-ea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47DA861-62A3-37A3-0567-17279F737807}"/>
              </a:ext>
            </a:extLst>
          </p:cNvPr>
          <p:cNvSpPr/>
          <p:nvPr/>
        </p:nvSpPr>
        <p:spPr>
          <a:xfrm>
            <a:off x="657358" y="4781343"/>
            <a:ext cx="1993345" cy="4908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>
                <a:solidFill>
                  <a:srgbClr val="4B5563"/>
                </a:solidFill>
                <a:latin typeface="+mn-ea"/>
              </a:rPr>
              <a:t>캄보디아 대규모 범죄 조직</a:t>
            </a:r>
            <a:endParaRPr lang="en-US" sz="1400" dirty="0"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767682-4B6C-7DC6-A9C3-7C07BA8026BF}"/>
              </a:ext>
            </a:extLst>
          </p:cNvPr>
          <p:cNvSpPr/>
          <p:nvPr/>
        </p:nvSpPr>
        <p:spPr>
          <a:xfrm>
            <a:off x="608146" y="5393770"/>
            <a:ext cx="2170535" cy="6307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E2C7F4E0-079D-59B8-6ADB-90AE44132C24}"/>
              </a:ext>
            </a:extLst>
          </p:cNvPr>
          <p:cNvSpPr/>
          <p:nvPr/>
        </p:nvSpPr>
        <p:spPr>
          <a:xfrm>
            <a:off x="641324" y="5386471"/>
            <a:ext cx="1993345" cy="6077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400" dirty="0">
              <a:solidFill>
                <a:srgbClr val="4B5563"/>
              </a:solidFill>
              <a:latin typeface="+mn-ea"/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ko-KR" altLang="en-US" sz="1400" dirty="0">
                <a:latin typeface="+mn-ea"/>
              </a:rPr>
              <a:t>태국의 캄보디아 침공</a:t>
            </a:r>
            <a:endParaRPr lang="en-US" sz="1400" dirty="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1B4F55-3B56-BE1C-E995-FCA0D346B456}"/>
              </a:ext>
            </a:extLst>
          </p:cNvPr>
          <p:cNvSpPr txBox="1"/>
          <p:nvPr/>
        </p:nvSpPr>
        <p:spPr>
          <a:xfrm>
            <a:off x="7880986" y="1758760"/>
            <a:ext cx="2981370" cy="12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국제 안보 위협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캄보디아 내 대규모 범죄 조직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태국의 캄보디아 침공</a:t>
            </a:r>
            <a:endParaRPr lang="ko-KR" altLang="en-US" b="1" dirty="0"/>
          </a:p>
        </p:txBody>
      </p:sp>
      <p:pic>
        <p:nvPicPr>
          <p:cNvPr id="26" name="Image 9" descr="preencoded.png">
            <a:extLst>
              <a:ext uri="{FF2B5EF4-FFF2-40B4-BE49-F238E27FC236}">
                <a16:creationId xmlns:a16="http://schemas.microsoft.com/office/drawing/2014/main" id="{BF0D3217-7A30-A395-BF12-056951F764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4547" y="4335047"/>
            <a:ext cx="4314706" cy="18742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8006FB-DD95-88E6-C41E-FA04A944BDB1}"/>
              </a:ext>
            </a:extLst>
          </p:cNvPr>
          <p:cNvSpPr txBox="1"/>
          <p:nvPr/>
        </p:nvSpPr>
        <p:spPr>
          <a:xfrm>
            <a:off x="5564590" y="4456290"/>
            <a:ext cx="3754619" cy="1619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/>
              <a:t>핵심 키워드 </a:t>
            </a:r>
            <a:r>
              <a:rPr lang="en-US" altLang="ko-KR" b="1" dirty="0"/>
              <a:t>: </a:t>
            </a:r>
            <a:r>
              <a:rPr lang="ko-KR" altLang="en-US" b="1" dirty="0"/>
              <a:t>전쟁</a:t>
            </a:r>
            <a:br>
              <a:rPr lang="en-US" altLang="ko-KR" b="1" dirty="0"/>
            </a:br>
            <a:r>
              <a:rPr lang="en-US" altLang="ko-KR" sz="1600" dirty="0"/>
              <a:t>-</a:t>
            </a:r>
            <a:r>
              <a:rPr lang="ko-KR" altLang="en-US" sz="1600" dirty="0"/>
              <a:t> 국제 안보 위협 요소 증가</a:t>
            </a:r>
            <a:br>
              <a:rPr lang="en-US" altLang="ko-KR" sz="1600" dirty="0"/>
            </a:br>
            <a:r>
              <a:rPr lang="en-US" altLang="ko-KR" sz="1600" dirty="0"/>
              <a:t>-</a:t>
            </a:r>
            <a:r>
              <a:rPr lang="ko-KR" altLang="en-US" sz="1600" dirty="0"/>
              <a:t> 국제 정세 불안정성 증가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글로벌 안보 이슈 부각</a:t>
            </a:r>
            <a:endParaRPr lang="ko-KR" altLang="en-US" b="1" dirty="0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307BF28C-F7F6-0093-9A6B-11F56CF8B516}"/>
              </a:ext>
            </a:extLst>
          </p:cNvPr>
          <p:cNvSpPr/>
          <p:nvPr/>
        </p:nvSpPr>
        <p:spPr>
          <a:xfrm rot="2586534">
            <a:off x="5736755" y="3704630"/>
            <a:ext cx="613705" cy="35142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E1C795BF-733F-E16F-4D31-E81A513918DF}"/>
              </a:ext>
            </a:extLst>
          </p:cNvPr>
          <p:cNvSpPr/>
          <p:nvPr/>
        </p:nvSpPr>
        <p:spPr>
          <a:xfrm rot="8117035">
            <a:off x="8370600" y="3721414"/>
            <a:ext cx="613705" cy="35142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29138A3-FE17-D557-2F5B-C2C441079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7298C41-1014-EC69-8B73-F690F9CB12B6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시장 환경 분석</a:t>
            </a:r>
            <a:endParaRPr lang="en-US" sz="27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68779D68-502A-8AFD-6C40-2B7E2EA35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8DBE31D1-302D-6A29-3A54-C387D0C0E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149746"/>
            <a:ext cx="2666999" cy="168648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3134A47-9393-6D3F-682C-E90AD88A7144}"/>
              </a:ext>
            </a:extLst>
          </p:cNvPr>
          <p:cNvSpPr/>
          <p:nvPr/>
        </p:nvSpPr>
        <p:spPr>
          <a:xfrm>
            <a:off x="541311" y="1690688"/>
            <a:ext cx="2227288" cy="8447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1CAC25-1686-E60B-7A8C-B38C13B4ADC3}"/>
              </a:ext>
            </a:extLst>
          </p:cNvPr>
          <p:cNvSpPr txBox="1"/>
          <p:nvPr/>
        </p:nvSpPr>
        <p:spPr>
          <a:xfrm>
            <a:off x="638495" y="1759699"/>
            <a:ext cx="287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Feel-conomy</a:t>
            </a:r>
            <a:endParaRPr lang="ko-KR" altLang="en-US" b="1" dirty="0"/>
          </a:p>
        </p:txBody>
      </p:sp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0CBFB7EA-0CE8-D1E9-2E23-90DF7582A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45" y="1304187"/>
            <a:ext cx="200025" cy="22860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CCC1BBA7-5194-9462-38F6-FA3FCA63D72E}"/>
              </a:ext>
            </a:extLst>
          </p:cNvPr>
          <p:cNvSpPr/>
          <p:nvPr/>
        </p:nvSpPr>
        <p:spPr>
          <a:xfrm>
            <a:off x="818844" y="1293737"/>
            <a:ext cx="3167574" cy="2276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2026년 </a:t>
            </a:r>
            <a:r>
              <a:rPr lang="ko-KR" altLang="en-US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소비 트렌드</a:t>
            </a:r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CC78E4-7BEF-01C1-CB7C-5423D9BEE057}"/>
              </a:ext>
            </a:extLst>
          </p:cNvPr>
          <p:cNvSpPr txBox="1"/>
          <p:nvPr/>
        </p:nvSpPr>
        <p:spPr>
          <a:xfrm>
            <a:off x="524466" y="2152357"/>
            <a:ext cx="2254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“</a:t>
            </a:r>
            <a:r>
              <a:rPr lang="ko-KR" altLang="en-US" sz="1400" dirty="0"/>
              <a:t>내 기분이 곧 소비의 기준</a:t>
            </a:r>
            <a:r>
              <a:rPr lang="en-US" altLang="ko-KR" sz="1400" dirty="0"/>
              <a:t>”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ko-KR" altLang="en-US" sz="1400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9876D4A4-AA81-0C19-501C-205F378CE6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1479" y="1104901"/>
            <a:ext cx="8637953" cy="5257800"/>
          </a:xfrm>
          <a:prstGeom prst="rect">
            <a:avLst/>
          </a:prstGeom>
        </p:spPr>
      </p:pic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C7720E43-DF0D-1585-B6EA-0682BC6AD1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9791" y="1265845"/>
            <a:ext cx="228600" cy="22860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6B041212-9608-CF09-AC54-1566980A32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1230" y="1584962"/>
            <a:ext cx="3828177" cy="25229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2F304E-91EA-2EDD-9083-000E417FCAB3}"/>
              </a:ext>
            </a:extLst>
          </p:cNvPr>
          <p:cNvSpPr txBox="1"/>
          <p:nvPr/>
        </p:nvSpPr>
        <p:spPr>
          <a:xfrm>
            <a:off x="3429000" y="1750237"/>
            <a:ext cx="3720407" cy="2357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Feel-conomy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트렌드 코리아가 선정한 </a:t>
            </a:r>
            <a:r>
              <a:rPr lang="en-US" altLang="ko-KR" sz="1600" dirty="0"/>
              <a:t>2026</a:t>
            </a:r>
            <a:r>
              <a:rPr lang="ko-KR" altLang="en-US" sz="1600" dirty="0"/>
              <a:t>년 주요 소비 트렌드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기능이 아닌 자신의 기분을 위한 소비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감성적 만족감을 주는 제품 선호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재미와 공감을 통한 소비 결정</a:t>
            </a:r>
            <a:endParaRPr lang="ko-KR" altLang="en-US" b="1" dirty="0"/>
          </a:p>
        </p:txBody>
      </p:sp>
      <p:pic>
        <p:nvPicPr>
          <p:cNvPr id="16" name="Image 9" descr="preencoded.png">
            <a:extLst>
              <a:ext uri="{FF2B5EF4-FFF2-40B4-BE49-F238E27FC236}">
                <a16:creationId xmlns:a16="http://schemas.microsoft.com/office/drawing/2014/main" id="{EB5C0F89-1741-7008-215D-92A99FB92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94022" y="1592193"/>
            <a:ext cx="3899913" cy="25229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93FF04-EC5D-8912-F467-B8F6422744D9}"/>
              </a:ext>
            </a:extLst>
          </p:cNvPr>
          <p:cNvSpPr txBox="1"/>
          <p:nvPr/>
        </p:nvSpPr>
        <p:spPr>
          <a:xfrm>
            <a:off x="7880985" y="1758760"/>
            <a:ext cx="3769703" cy="1988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B</a:t>
            </a:r>
            <a:r>
              <a:rPr lang="ko-KR" altLang="en-US" b="1" dirty="0"/>
              <a:t>급 감성의 효과</a:t>
            </a:r>
            <a:br>
              <a:rPr lang="en-US" altLang="ko-KR" b="1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소비자의 경계심을 허무는 효과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긍정적인 감정 유발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특유의 재미와 친근함으로 접근성 향상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자발적 공유를 유도하는 마케팅 효과</a:t>
            </a:r>
            <a:endParaRPr lang="ko-KR" altLang="en-US" b="1" dirty="0"/>
          </a:p>
        </p:txBody>
      </p:sp>
      <p:pic>
        <p:nvPicPr>
          <p:cNvPr id="18" name="Image 9" descr="preencoded.png">
            <a:extLst>
              <a:ext uri="{FF2B5EF4-FFF2-40B4-BE49-F238E27FC236}">
                <a16:creationId xmlns:a16="http://schemas.microsoft.com/office/drawing/2014/main" id="{6003F112-64F3-C4F3-44F0-11A8163FF53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8801" y="4944649"/>
            <a:ext cx="3720407" cy="12646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7A1C678-63D0-2913-0F0A-BD807E523D02}"/>
              </a:ext>
            </a:extLst>
          </p:cNvPr>
          <p:cNvSpPr txBox="1"/>
          <p:nvPr/>
        </p:nvSpPr>
        <p:spPr>
          <a:xfrm>
            <a:off x="5564590" y="5129553"/>
            <a:ext cx="3754619" cy="1249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/>
              <a:t>핵심 키워드 </a:t>
            </a:r>
            <a:r>
              <a:rPr lang="en-US" altLang="ko-KR" b="1" dirty="0"/>
              <a:t>: B</a:t>
            </a:r>
            <a:r>
              <a:rPr lang="ko-KR" altLang="en-US" b="1" dirty="0"/>
              <a:t>급 감성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최근 성공사례 증가</a:t>
            </a:r>
            <a:br>
              <a:rPr lang="en-US" altLang="ko-KR" sz="1600" dirty="0"/>
            </a:br>
            <a:endParaRPr lang="ko-KR" altLang="en-US" b="1" dirty="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CD1B578-F6D8-F55D-3ADF-F85DF1051BA8}"/>
              </a:ext>
            </a:extLst>
          </p:cNvPr>
          <p:cNvSpPr/>
          <p:nvPr/>
        </p:nvSpPr>
        <p:spPr>
          <a:xfrm rot="2586534">
            <a:off x="5989882" y="4415557"/>
            <a:ext cx="613705" cy="35142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E8F0679B-9FFD-C5BF-6882-A40BF8F2B55A}"/>
              </a:ext>
            </a:extLst>
          </p:cNvPr>
          <p:cNvSpPr/>
          <p:nvPr/>
        </p:nvSpPr>
        <p:spPr>
          <a:xfrm rot="8117035">
            <a:off x="8167400" y="4418339"/>
            <a:ext cx="613705" cy="35142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FCF70875-571B-C73C-31BB-726AF389A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57" y="3025068"/>
            <a:ext cx="2666999" cy="3299532"/>
          </a:xfrm>
          <a:prstGeom prst="rect">
            <a:avLst/>
          </a:prstGeom>
        </p:spPr>
      </p:pic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35F907E6-AD4C-CA85-A1BF-29695FAB57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46" y="3154969"/>
            <a:ext cx="200025" cy="2286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6130039C-12FE-1413-9E07-847F2A816442}"/>
              </a:ext>
            </a:extLst>
          </p:cNvPr>
          <p:cNvSpPr/>
          <p:nvPr/>
        </p:nvSpPr>
        <p:spPr>
          <a:xfrm>
            <a:off x="587364" y="3474432"/>
            <a:ext cx="2251845" cy="27348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922E19FD-35D4-5CF8-74C2-D889F6D7C5CC}"/>
              </a:ext>
            </a:extLst>
          </p:cNvPr>
          <p:cNvSpPr/>
          <p:nvPr/>
        </p:nvSpPr>
        <p:spPr>
          <a:xfrm>
            <a:off x="718940" y="4027234"/>
            <a:ext cx="2120269" cy="21820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>
                <a:latin typeface="+mn-ea"/>
              </a:rPr>
              <a:t>광고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 err="1">
                <a:latin typeface="+mn-ea"/>
              </a:rPr>
              <a:t>돌고래유괴단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- </a:t>
            </a:r>
            <a:r>
              <a:rPr lang="ko-KR" altLang="en-US" sz="1600" dirty="0" err="1">
                <a:latin typeface="+mn-ea"/>
              </a:rPr>
              <a:t>스튜디오좋</a:t>
            </a:r>
            <a:endParaRPr lang="en-US" altLang="ko-KR" sz="16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>
                <a:latin typeface="+mn-ea"/>
              </a:rPr>
              <a:t>게임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- </a:t>
            </a:r>
            <a:r>
              <a:rPr lang="en-US" altLang="ko-KR" sz="1600" dirty="0" err="1">
                <a:latin typeface="+mn-ea"/>
              </a:rPr>
              <a:t>wasd</a:t>
            </a:r>
            <a:endParaRPr lang="en-US" altLang="ko-KR" sz="1600" dirty="0">
              <a:latin typeface="+mn-ea"/>
            </a:endParaRPr>
          </a:p>
          <a:p>
            <a:pPr marL="0" indent="0">
              <a:buNone/>
            </a:pPr>
            <a:r>
              <a:rPr lang="en-US" altLang="ko-KR" sz="1600" dirty="0">
                <a:latin typeface="+mn-ea"/>
              </a:rPr>
              <a:t>- Escape from </a:t>
            </a:r>
            <a:r>
              <a:rPr lang="en-US" altLang="ko-KR" sz="1600" dirty="0" err="1">
                <a:latin typeface="+mn-ea"/>
              </a:rPr>
              <a:t>Duckov</a:t>
            </a:r>
            <a:br>
              <a:rPr lang="en-US" altLang="ko-KR" sz="1600" dirty="0">
                <a:latin typeface="+mn-ea"/>
              </a:rPr>
            </a:br>
            <a:r>
              <a:rPr lang="en-US" altLang="ko-KR" sz="1600" dirty="0">
                <a:latin typeface="+mn-ea"/>
              </a:rPr>
              <a:t>- PEAK</a:t>
            </a:r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609B1B6C-8404-7A8F-D25C-DD701EF370B4}"/>
              </a:ext>
            </a:extLst>
          </p:cNvPr>
          <p:cNvSpPr/>
          <p:nvPr/>
        </p:nvSpPr>
        <p:spPr>
          <a:xfrm>
            <a:off x="818844" y="3121931"/>
            <a:ext cx="3167574" cy="22762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최근 마케팅 트렌드</a:t>
            </a:r>
            <a:endParaRPr lang="en-US" sz="1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29B744-DE62-EF8D-674A-A6A82B16FE58}"/>
              </a:ext>
            </a:extLst>
          </p:cNvPr>
          <p:cNvSpPr txBox="1"/>
          <p:nvPr/>
        </p:nvSpPr>
        <p:spPr>
          <a:xfrm>
            <a:off x="657358" y="3614249"/>
            <a:ext cx="2875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</a:t>
            </a:r>
            <a:r>
              <a:rPr lang="ko-KR" altLang="en-US" b="1" dirty="0"/>
              <a:t>급 감성</a:t>
            </a:r>
          </a:p>
        </p:txBody>
      </p:sp>
    </p:spTree>
    <p:extLst>
      <p:ext uri="{BB962C8B-B14F-4D97-AF65-F5344CB8AC3E}">
        <p14:creationId xmlns:p14="http://schemas.microsoft.com/office/powerpoint/2010/main" val="263611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53" y="1786841"/>
            <a:ext cx="3657600" cy="27930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653" y="2053542"/>
            <a:ext cx="285750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653" y="2418423"/>
            <a:ext cx="3200400" cy="149317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0700" y="1788308"/>
            <a:ext cx="3436305" cy="27930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22153" y="2016469"/>
            <a:ext cx="190500" cy="190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74503" y="2359369"/>
            <a:ext cx="3543300" cy="1828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34453" y="2704173"/>
            <a:ext cx="604178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3258" y="1785377"/>
            <a:ext cx="3292507" cy="279302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2353" y="2052077"/>
            <a:ext cx="163286" cy="21771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62353" y="2394977"/>
            <a:ext cx="3122012" cy="20900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15403" y="5209981"/>
            <a:ext cx="9743147" cy="921897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FPS </a:t>
            </a: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장르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994703" y="2015442"/>
            <a:ext cx="3200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타겟 플레이어</a:t>
            </a:r>
            <a:endParaRPr lang="en-US" sz="1800" dirty="0"/>
          </a:p>
        </p:txBody>
      </p:sp>
      <p:sp>
        <p:nvSpPr>
          <p:cNvPr id="18" name="Text 2"/>
          <p:cNvSpPr/>
          <p:nvPr/>
        </p:nvSpPr>
        <p:spPr>
          <a:xfrm>
            <a:off x="785153" y="2608923"/>
            <a:ext cx="2819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Z세대 선정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799453" y="2950802"/>
            <a:ext cx="28194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디지털</a:t>
            </a:r>
            <a:r>
              <a:rPr 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세대</a:t>
            </a:r>
            <a:endParaRPr lang="en-US" sz="1400" dirty="0"/>
          </a:p>
        </p:txBody>
      </p:sp>
      <p:sp>
        <p:nvSpPr>
          <p:cNvPr id="21" name="Text 5"/>
          <p:cNvSpPr/>
          <p:nvPr/>
        </p:nvSpPr>
        <p:spPr>
          <a:xfrm>
            <a:off x="785153" y="3215244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모바일 및 PC 게임에 익숙</a:t>
            </a:r>
            <a:endParaRPr lang="en-US" sz="1400" dirty="0"/>
          </a:p>
        </p:txBody>
      </p:sp>
      <p:sp>
        <p:nvSpPr>
          <p:cNvPr id="23" name="Text 7"/>
          <p:cNvSpPr/>
          <p:nvPr/>
        </p:nvSpPr>
        <p:spPr>
          <a:xfrm>
            <a:off x="5026953" y="1978369"/>
            <a:ext cx="294005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청소년 가장 많이 이용하는 게임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933450" y="5577255"/>
            <a:ext cx="37033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9119528" y="2013976"/>
            <a:ext cx="2334369" cy="3047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PC방 점유율 상위 10개 중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2546154" y="5506839"/>
            <a:ext cx="7399997" cy="41627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결론: Z세대가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즐겨하는</a:t>
            </a: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장르이면서</a:t>
            </a: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시장</a:t>
            </a: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점유율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도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높은</a:t>
            </a: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 FPS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장르를</a:t>
            </a:r>
            <a:r>
              <a:rPr 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+mn-ea"/>
                <a:cs typeface="ui-sans-serif" pitchFamily="34" charset="-120"/>
              </a:rPr>
              <a:t>선택</a:t>
            </a:r>
            <a:r>
              <a:rPr lang="ko-KR" altLang="en-US" sz="1600" b="1" dirty="0">
                <a:solidFill>
                  <a:srgbClr val="FFFFFF"/>
                </a:solidFill>
                <a:latin typeface="+mn-ea"/>
                <a:cs typeface="ui-sans-serif" pitchFamily="34" charset="-120"/>
              </a:rPr>
              <a:t>하였다</a:t>
            </a:r>
            <a:endParaRPr lang="en-US" sz="1600" dirty="0">
              <a:latin typeface="+mn-ea"/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E6294FA3-E019-0C72-3288-9610A4E1CBEE}"/>
              </a:ext>
            </a:extLst>
          </p:cNvPr>
          <p:cNvSpPr/>
          <p:nvPr/>
        </p:nvSpPr>
        <p:spPr>
          <a:xfrm>
            <a:off x="5185251" y="2756049"/>
            <a:ext cx="604178" cy="24383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FPS/TPS</a:t>
            </a:r>
            <a:endParaRPr lang="en-US" sz="12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3E9B8FBA-832E-CEFC-3BA2-91A2C786757F}"/>
              </a:ext>
            </a:extLst>
          </p:cNvPr>
          <p:cNvSpPr/>
          <p:nvPr/>
        </p:nvSpPr>
        <p:spPr>
          <a:xfrm>
            <a:off x="785153" y="3481944"/>
            <a:ext cx="3383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장기 고객 가능성이 높음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797" y="1769615"/>
            <a:ext cx="2161615" cy="3744547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67" y="1991041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742" y="5137630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225" y="1363579"/>
            <a:ext cx="9152105" cy="4150583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20112" y="1686241"/>
            <a:ext cx="190500" cy="190500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벤치마킹 대상 분석</a:t>
            </a:r>
            <a:r>
              <a:rPr lang="en-US" altLang="ko-KR" sz="27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: </a:t>
            </a:r>
            <a:r>
              <a:rPr lang="ko-KR" altLang="en-US" sz="2700" b="1" dirty="0" err="1">
                <a:solidFill>
                  <a:srgbClr val="1F2937"/>
                </a:solidFill>
                <a:latin typeface="+mn-ea"/>
                <a:cs typeface="ui-sans-serif" pitchFamily="34" charset="-120"/>
              </a:rPr>
              <a:t>발로란트</a:t>
            </a:r>
            <a:endParaRPr lang="en-US" sz="2700" dirty="0">
              <a:latin typeface="+mn-ea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743867" y="1952941"/>
            <a:ext cx="138973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벤치마킹 대상</a:t>
            </a:r>
            <a:endParaRPr lang="en-US" sz="1500" dirty="0"/>
          </a:p>
        </p:txBody>
      </p:sp>
      <p:sp>
        <p:nvSpPr>
          <p:cNvPr id="41" name="Text 13"/>
          <p:cNvSpPr/>
          <p:nvPr/>
        </p:nvSpPr>
        <p:spPr>
          <a:xfrm>
            <a:off x="691841" y="5099530"/>
            <a:ext cx="17365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VALORANT</a:t>
            </a:r>
            <a:endParaRPr lang="en-US" sz="1600" dirty="0"/>
          </a:p>
        </p:txBody>
      </p:sp>
      <p:sp>
        <p:nvSpPr>
          <p:cNvPr id="44" name="Text 16"/>
          <p:cNvSpPr/>
          <p:nvPr/>
        </p:nvSpPr>
        <p:spPr>
          <a:xfrm>
            <a:off x="3269555" y="1686241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 err="1">
                <a:solidFill>
                  <a:srgbClr val="9333EA"/>
                </a:solidFill>
                <a:latin typeface="ui-sans-serif" pitchFamily="34" charset="0"/>
              </a:rPr>
              <a:t>발로란트</a:t>
            </a:r>
            <a:r>
              <a:rPr lang="ko-KR" altLang="en-US" sz="1500" b="1" dirty="0">
                <a:solidFill>
                  <a:srgbClr val="9333EA"/>
                </a:solidFill>
                <a:latin typeface="ui-sans-serif" pitchFamily="34" charset="0"/>
              </a:rPr>
              <a:t> 분석</a:t>
            </a:r>
            <a:endParaRPr lang="en-US" sz="1500" dirty="0"/>
          </a:p>
        </p:txBody>
      </p:sp>
      <p:sp>
        <p:nvSpPr>
          <p:cNvPr id="53" name="AutoShape 8" descr="Escape from Duckov - 나무위키">
            <a:extLst>
              <a:ext uri="{FF2B5EF4-FFF2-40B4-BE49-F238E27FC236}">
                <a16:creationId xmlns:a16="http://schemas.microsoft.com/office/drawing/2014/main" id="{573C2275-3B53-E77D-E1B6-8C995ED5D1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5378" y="2873754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pic>
        <p:nvPicPr>
          <p:cNvPr id="4" name="Picture 2" descr="VALORANT | Xbox">
            <a:extLst>
              <a:ext uri="{FF2B5EF4-FFF2-40B4-BE49-F238E27FC236}">
                <a16:creationId xmlns:a16="http://schemas.microsoft.com/office/drawing/2014/main" id="{6F46199A-818F-D6E8-6AE6-53A61B6EC2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926" y="2352359"/>
            <a:ext cx="1719373" cy="257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4" descr="preencoded.png">
            <a:extLst>
              <a:ext uri="{FF2B5EF4-FFF2-40B4-BE49-F238E27FC236}">
                <a16:creationId xmlns:a16="http://schemas.microsoft.com/office/drawing/2014/main" id="{17FD930C-F06E-C1F1-A388-D3EEAAD85B54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6E7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52574" y="2213948"/>
            <a:ext cx="2599187" cy="230992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A0EB7F1-431C-9614-6AAD-0B88B897C5B8}"/>
              </a:ext>
            </a:extLst>
          </p:cNvPr>
          <p:cNvSpPr txBox="1"/>
          <p:nvPr/>
        </p:nvSpPr>
        <p:spPr>
          <a:xfrm>
            <a:off x="3265248" y="2370817"/>
            <a:ext cx="1446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/>
              <a:t>발로란트란</a:t>
            </a:r>
            <a:r>
              <a:rPr lang="en-US" altLang="ko-KR" b="1" dirty="0"/>
              <a:t>?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74D1AA-3441-6055-6CEC-A79851F079F1}"/>
              </a:ext>
            </a:extLst>
          </p:cNvPr>
          <p:cNvSpPr txBox="1"/>
          <p:nvPr/>
        </p:nvSpPr>
        <p:spPr>
          <a:xfrm>
            <a:off x="3269555" y="2740149"/>
            <a:ext cx="2279791" cy="1529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 err="1"/>
              <a:t>라이엇</a:t>
            </a:r>
            <a:r>
              <a:rPr lang="ko-KR" altLang="en-US" sz="1600" dirty="0"/>
              <a:t> 게임즈 개발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- 5</a:t>
            </a:r>
            <a:r>
              <a:rPr lang="ko-KR" altLang="en-US" sz="1600" dirty="0"/>
              <a:t>대</a:t>
            </a:r>
            <a:r>
              <a:rPr lang="en-US" altLang="ko-KR" sz="1600" dirty="0"/>
              <a:t>5 </a:t>
            </a:r>
            <a:r>
              <a:rPr lang="ko-KR" altLang="en-US" sz="1600" dirty="0"/>
              <a:t>전술 슈팅 게임</a:t>
            </a:r>
          </a:p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캐릭터별 고유 능력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라운드 기반 게임 방식</a:t>
            </a:r>
          </a:p>
        </p:txBody>
      </p:sp>
      <p:sp>
        <p:nvSpPr>
          <p:cNvPr id="18" name="AutoShape 8" descr="Escape from Duckov - 나무위키">
            <a:extLst>
              <a:ext uri="{FF2B5EF4-FFF2-40B4-BE49-F238E27FC236}">
                <a16:creationId xmlns:a16="http://schemas.microsoft.com/office/drawing/2014/main" id="{2598E00F-DE54-3A7F-2948-694423EE80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16016" y="2914688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72C78477-EDEA-1B5F-2CE1-CFA010307907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6E7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62827" y="2178955"/>
            <a:ext cx="2941115" cy="235630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7EC03AB-A079-F726-1CF9-28E55D33F223}"/>
              </a:ext>
            </a:extLst>
          </p:cNvPr>
          <p:cNvSpPr txBox="1"/>
          <p:nvPr/>
        </p:nvSpPr>
        <p:spPr>
          <a:xfrm>
            <a:off x="6050202" y="244019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인기요인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DFE100-24E0-6CB2-5E1C-5514A2428760}"/>
              </a:ext>
            </a:extLst>
          </p:cNvPr>
          <p:cNvSpPr txBox="1"/>
          <p:nvPr/>
        </p:nvSpPr>
        <p:spPr>
          <a:xfrm>
            <a:off x="6050202" y="2786882"/>
            <a:ext cx="2895344" cy="1529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 err="1"/>
              <a:t>숏폼시대에</a:t>
            </a:r>
            <a:r>
              <a:rPr lang="ko-KR" altLang="en-US" sz="1600" dirty="0"/>
              <a:t> 맞는 짧은 라운드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피지컬 요소 중심 정통 </a:t>
            </a:r>
            <a:r>
              <a:rPr lang="en-US" altLang="ko-KR" sz="1600" dirty="0"/>
              <a:t>FPS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라운드마다 달라지는 전략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캐릭터 능력의 다양성</a:t>
            </a:r>
          </a:p>
        </p:txBody>
      </p:sp>
      <p:sp>
        <p:nvSpPr>
          <p:cNvPr id="25" name="AutoShape 8" descr="Escape from Duckov - 나무위키">
            <a:extLst>
              <a:ext uri="{FF2B5EF4-FFF2-40B4-BE49-F238E27FC236}">
                <a16:creationId xmlns:a16="http://schemas.microsoft.com/office/drawing/2014/main" id="{3D92EA02-0630-E1B0-1E8A-286261257C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50396" y="2914688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44D93851-32E5-1BAC-16A4-8989E777F09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F6E7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38349" y="2178955"/>
            <a:ext cx="2552817" cy="235630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5309F04-B12D-7BEB-BAF7-59C0DB8F74EB}"/>
              </a:ext>
            </a:extLst>
          </p:cNvPr>
          <p:cNvSpPr txBox="1"/>
          <p:nvPr/>
        </p:nvSpPr>
        <p:spPr>
          <a:xfrm>
            <a:off x="9180266" y="2411751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핵심 요소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E229E-8A3A-6995-3900-7667CB3C7958}"/>
              </a:ext>
            </a:extLst>
          </p:cNvPr>
          <p:cNvSpPr txBox="1"/>
          <p:nvPr/>
        </p:nvSpPr>
        <p:spPr>
          <a:xfrm>
            <a:off x="9184573" y="2781083"/>
            <a:ext cx="2279791" cy="15294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경제 시스템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짧은 라운드 형식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팀플레이 중심 게임성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캐릭터 </a:t>
            </a:r>
            <a:r>
              <a:rPr lang="ko-KR" altLang="en-US" sz="1600" dirty="0" err="1"/>
              <a:t>밸런싱</a:t>
            </a:r>
            <a:endParaRPr lang="ko-KR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A523A-0768-1042-D501-D36CA5FBE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4C039970-2782-ADE0-AECC-E3B46919F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06E9353-E083-A63A-6C7D-C83E386AD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80262AC3-4ECD-4108-E540-279C1EAF0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85" y="1068766"/>
            <a:ext cx="2161615" cy="5482885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B60F86D4-9C67-A442-37E3-22D54D9A14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167" y="1294495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94BE43BE-4250-6419-3237-397627DB1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511" y="3653652"/>
            <a:ext cx="76200" cy="152400"/>
          </a:xfrm>
          <a:prstGeom prst="rect">
            <a:avLst/>
          </a:prstGeom>
        </p:spPr>
      </p:pic>
      <p:pic>
        <p:nvPicPr>
          <p:cNvPr id="22" name="Image 20" descr="preencoded.png">
            <a:extLst>
              <a:ext uri="{FF2B5EF4-FFF2-40B4-BE49-F238E27FC236}">
                <a16:creationId xmlns:a16="http://schemas.microsoft.com/office/drawing/2014/main" id="{C2662EF9-DA78-0A35-FE70-9453673A1A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7225" y="1484996"/>
            <a:ext cx="9152105" cy="4029826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2DCBD090-DF2D-E068-3C9A-C6C5F00442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047" y="1885013"/>
            <a:ext cx="190500" cy="190500"/>
          </a:xfrm>
          <a:prstGeom prst="rect">
            <a:avLst/>
          </a:prstGeom>
        </p:spPr>
      </p:pic>
      <p:sp>
        <p:nvSpPr>
          <p:cNvPr id="28" name="Text 0">
            <a:extLst>
              <a:ext uri="{FF2B5EF4-FFF2-40B4-BE49-F238E27FC236}">
                <a16:creationId xmlns:a16="http://schemas.microsoft.com/office/drawing/2014/main" id="{19F51A3F-B4A2-CE5F-26B1-83AB67326721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ko-KR" altLang="en-US" sz="27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벤치마킹 대상 분석</a:t>
            </a:r>
            <a:r>
              <a:rPr lang="en-US" altLang="ko-KR" sz="27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: Escape from </a:t>
            </a:r>
            <a:r>
              <a:rPr lang="en-US" altLang="ko-KR" sz="2700" b="1" dirty="0" err="1">
                <a:solidFill>
                  <a:srgbClr val="1F2937"/>
                </a:solidFill>
                <a:latin typeface="+mn-ea"/>
                <a:cs typeface="ui-sans-serif" pitchFamily="34" charset="-120"/>
              </a:rPr>
              <a:t>Duckov</a:t>
            </a:r>
            <a:endParaRPr lang="ko-KR" altLang="en-US" sz="2700" b="1" dirty="0">
              <a:solidFill>
                <a:srgbClr val="1F2937"/>
              </a:solidFill>
              <a:latin typeface="+mn-ea"/>
              <a:cs typeface="ui-sans-serif" pitchFamily="34" charset="-120"/>
            </a:endParaRP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C9FCEACD-8BA0-5E8E-84E2-21FB41A2812A}"/>
              </a:ext>
            </a:extLst>
          </p:cNvPr>
          <p:cNvSpPr/>
          <p:nvPr/>
        </p:nvSpPr>
        <p:spPr>
          <a:xfrm>
            <a:off x="743867" y="1256395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563E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벤치마킹 대상</a:t>
            </a:r>
            <a:endParaRPr lang="en-US" sz="15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413ECBB2-8543-5FCB-D62A-B6B4EDE1FE9E}"/>
              </a:ext>
            </a:extLst>
          </p:cNvPr>
          <p:cNvSpPr/>
          <p:nvPr/>
        </p:nvSpPr>
        <p:spPr>
          <a:xfrm>
            <a:off x="625610" y="3615552"/>
            <a:ext cx="25999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Escape from Tarkov</a:t>
            </a:r>
            <a:endParaRPr lang="en-US" sz="1600" dirty="0"/>
          </a:p>
        </p:txBody>
      </p:sp>
      <p:sp>
        <p:nvSpPr>
          <p:cNvPr id="44" name="Text 16">
            <a:extLst>
              <a:ext uri="{FF2B5EF4-FFF2-40B4-BE49-F238E27FC236}">
                <a16:creationId xmlns:a16="http://schemas.microsoft.com/office/drawing/2014/main" id="{DBAF209C-4451-0F65-4844-1968D701EDDE}"/>
              </a:ext>
            </a:extLst>
          </p:cNvPr>
          <p:cNvSpPr/>
          <p:nvPr/>
        </p:nvSpPr>
        <p:spPr>
          <a:xfrm>
            <a:off x="3353717" y="1838522"/>
            <a:ext cx="5219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9333EA"/>
                </a:solidFill>
                <a:latin typeface="+mn-ea"/>
              </a:rPr>
              <a:t>Escape from </a:t>
            </a:r>
            <a:r>
              <a:rPr lang="en-US" sz="1600" b="1" dirty="0" err="1">
                <a:solidFill>
                  <a:srgbClr val="9333EA"/>
                </a:solidFill>
                <a:latin typeface="+mn-ea"/>
              </a:rPr>
              <a:t>Duckov</a:t>
            </a:r>
            <a:r>
              <a:rPr lang="en-US" sz="1600" b="1" dirty="0">
                <a:solidFill>
                  <a:srgbClr val="9333EA"/>
                </a:solidFill>
                <a:latin typeface="+mn-ea"/>
              </a:rPr>
              <a:t> </a:t>
            </a:r>
            <a:r>
              <a:rPr lang="ko-KR" altLang="en-US" sz="1600" b="1" dirty="0">
                <a:solidFill>
                  <a:srgbClr val="9333EA"/>
                </a:solidFill>
                <a:latin typeface="+mn-ea"/>
              </a:rPr>
              <a:t>분석</a:t>
            </a:r>
            <a:endParaRPr lang="en-US" sz="1600" dirty="0">
              <a:latin typeface="+mn-ea"/>
            </a:endParaRPr>
          </a:p>
        </p:txBody>
      </p:sp>
      <p:pic>
        <p:nvPicPr>
          <p:cNvPr id="2054" name="Picture 6" descr="배틀스테이트게임즈 이스케이프 프롬 타르코프 (게임사 코드) : 다나와 가격비교">
            <a:extLst>
              <a:ext uri="{FF2B5EF4-FFF2-40B4-BE49-F238E27FC236}">
                <a16:creationId xmlns:a16="http://schemas.microsoft.com/office/drawing/2014/main" id="{0AD980F3-194A-B5CA-4C8D-F0F6453BA5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68" y="1637116"/>
            <a:ext cx="1867456" cy="195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화살표: 오른쪽 51">
            <a:extLst>
              <a:ext uri="{FF2B5EF4-FFF2-40B4-BE49-F238E27FC236}">
                <a16:creationId xmlns:a16="http://schemas.microsoft.com/office/drawing/2014/main" id="{505F7FD5-6C79-0421-C27A-4F3445923867}"/>
              </a:ext>
            </a:extLst>
          </p:cNvPr>
          <p:cNvSpPr/>
          <p:nvPr/>
        </p:nvSpPr>
        <p:spPr>
          <a:xfrm rot="5400000">
            <a:off x="1212316" y="3742158"/>
            <a:ext cx="228602" cy="484632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AutoShape 8" descr="Escape from Duckov - 나무위키">
            <a:extLst>
              <a:ext uri="{FF2B5EF4-FFF2-40B4-BE49-F238E27FC236}">
                <a16:creationId xmlns:a16="http://schemas.microsoft.com/office/drawing/2014/main" id="{47C32BF6-F4EC-4847-95E4-4D93DBC565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198165" y="2388487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058" name="Picture 10" descr="이 게임을 아시나요? - 이스케이프 프롬 덕코프 : 네이버 블로그">
            <a:extLst>
              <a:ext uri="{FF2B5EF4-FFF2-40B4-BE49-F238E27FC236}">
                <a16:creationId xmlns:a16="http://schemas.microsoft.com/office/drawing/2014/main" id="{DB4E371D-BAB8-25BA-8714-8267430D9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11" y="4149721"/>
            <a:ext cx="1863804" cy="203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 17" descr="preencoded.png">
            <a:extLst>
              <a:ext uri="{FF2B5EF4-FFF2-40B4-BE49-F238E27FC236}">
                <a16:creationId xmlns:a16="http://schemas.microsoft.com/office/drawing/2014/main" id="{97287A70-3545-E137-F3B1-6951BB6E4D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167" y="6274191"/>
            <a:ext cx="76200" cy="152400"/>
          </a:xfrm>
          <a:prstGeom prst="rect">
            <a:avLst/>
          </a:prstGeom>
        </p:spPr>
      </p:pic>
      <p:sp>
        <p:nvSpPr>
          <p:cNvPr id="55" name="Text 13">
            <a:extLst>
              <a:ext uri="{FF2B5EF4-FFF2-40B4-BE49-F238E27FC236}">
                <a16:creationId xmlns:a16="http://schemas.microsoft.com/office/drawing/2014/main" id="{495C2189-4D18-E1A5-1C41-C887C52401E3}"/>
              </a:ext>
            </a:extLst>
          </p:cNvPr>
          <p:cNvSpPr/>
          <p:nvPr/>
        </p:nvSpPr>
        <p:spPr>
          <a:xfrm>
            <a:off x="610644" y="6246851"/>
            <a:ext cx="259996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Escape from </a:t>
            </a:r>
            <a:r>
              <a:rPr lang="en-US" sz="16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Duckov</a:t>
            </a:r>
            <a:endParaRPr lang="en-US" sz="1600" dirty="0"/>
          </a:p>
        </p:txBody>
      </p:sp>
      <p:sp>
        <p:nvSpPr>
          <p:cNvPr id="6" name="AutoShape 8" descr="Escape from Duckov - 나무위키">
            <a:extLst>
              <a:ext uri="{FF2B5EF4-FFF2-40B4-BE49-F238E27FC236}">
                <a16:creationId xmlns:a16="http://schemas.microsoft.com/office/drawing/2014/main" id="{03D93E21-6E2B-15B1-7A53-E67988391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35378" y="2873754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sp>
        <p:nvSpPr>
          <p:cNvPr id="10" name="AutoShape 8" descr="Escape from Duckov - 나무위키">
            <a:extLst>
              <a:ext uri="{FF2B5EF4-FFF2-40B4-BE49-F238E27FC236}">
                <a16:creationId xmlns:a16="http://schemas.microsoft.com/office/drawing/2014/main" id="{11E4C4BE-8EE7-E0A2-EFA9-674CF12A883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216016" y="2914688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pic>
        <p:nvPicPr>
          <p:cNvPr id="11" name="Image 4" descr="preencoded.png">
            <a:extLst>
              <a:ext uri="{FF2B5EF4-FFF2-40B4-BE49-F238E27FC236}">
                <a16:creationId xmlns:a16="http://schemas.microsoft.com/office/drawing/2014/main" id="{CC2331FA-F28B-73A0-DB17-FE45E45DCAB9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6E7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3652" y="2322717"/>
            <a:ext cx="3602904" cy="27013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6E0CBB-18C6-A09E-E157-A4F6A7A958AA}"/>
              </a:ext>
            </a:extLst>
          </p:cNvPr>
          <p:cNvSpPr txBox="1"/>
          <p:nvPr/>
        </p:nvSpPr>
        <p:spPr>
          <a:xfrm>
            <a:off x="3141026" y="2583956"/>
            <a:ext cx="3172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Escape from Tarkov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4394AE-47DE-0A27-0952-181E6F92E956}"/>
              </a:ext>
            </a:extLst>
          </p:cNvPr>
          <p:cNvSpPr txBox="1"/>
          <p:nvPr/>
        </p:nvSpPr>
        <p:spPr>
          <a:xfrm>
            <a:off x="3141026" y="2930643"/>
            <a:ext cx="3515530" cy="152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/>
              <a:t>하드코어 생존 </a:t>
            </a:r>
            <a:r>
              <a:rPr lang="en-US" altLang="ko-KR" sz="1600" dirty="0"/>
              <a:t>FPS </a:t>
            </a:r>
            <a:r>
              <a:rPr lang="ko-KR" altLang="en-US" sz="1600" dirty="0"/>
              <a:t>게임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현실적인 전투 시스템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 err="1"/>
              <a:t>파밍</a:t>
            </a:r>
            <a:r>
              <a:rPr lang="en-US" altLang="ko-KR" sz="1600" dirty="0"/>
              <a:t>, </a:t>
            </a:r>
            <a:r>
              <a:rPr lang="ko-KR" altLang="en-US" sz="1600" dirty="0"/>
              <a:t>탈출</a:t>
            </a:r>
            <a:r>
              <a:rPr lang="en-US" altLang="ko-KR" sz="1600" dirty="0"/>
              <a:t>, </a:t>
            </a:r>
            <a:r>
              <a:rPr lang="ko-KR" altLang="en-US" sz="1600" dirty="0"/>
              <a:t>성장 중심 게임플레이</a:t>
            </a:r>
            <a:br>
              <a:rPr lang="en-US" altLang="ko-KR" sz="1600" dirty="0"/>
            </a:br>
            <a:r>
              <a:rPr lang="en-US" altLang="ko-KR" sz="1600" dirty="0"/>
              <a:t>- PVP </a:t>
            </a:r>
            <a:r>
              <a:rPr lang="ko-KR" altLang="en-US" sz="1600" dirty="0"/>
              <a:t>중심의 전투 시스템</a:t>
            </a:r>
          </a:p>
        </p:txBody>
      </p:sp>
      <p:sp>
        <p:nvSpPr>
          <p:cNvPr id="14" name="AutoShape 8" descr="Escape from Duckov - 나무위키">
            <a:extLst>
              <a:ext uri="{FF2B5EF4-FFF2-40B4-BE49-F238E27FC236}">
                <a16:creationId xmlns:a16="http://schemas.microsoft.com/office/drawing/2014/main" id="{77605E79-2421-7EE0-49F4-28871F849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2150396" y="2914688"/>
            <a:ext cx="115747" cy="86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sz="160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FEBD3AED-5382-D3D6-46B8-1204051B74D0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F6E7FF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03857" y="2322716"/>
            <a:ext cx="3798632" cy="26994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67EEB3-1377-3D7C-3553-54AFE874EE39}"/>
              </a:ext>
            </a:extLst>
          </p:cNvPr>
          <p:cNvSpPr txBox="1"/>
          <p:nvPr/>
        </p:nvSpPr>
        <p:spPr>
          <a:xfrm>
            <a:off x="7945774" y="2555513"/>
            <a:ext cx="339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Escape from </a:t>
            </a:r>
            <a:r>
              <a:rPr lang="en-US" altLang="ko-KR" b="1" dirty="0" err="1"/>
              <a:t>Duckov</a:t>
            </a:r>
            <a:endParaRPr lang="ko-KR" alt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A3D8FC-7DA9-C78C-6C42-02A50EE0D25F}"/>
              </a:ext>
            </a:extLst>
          </p:cNvPr>
          <p:cNvSpPr txBox="1"/>
          <p:nvPr/>
        </p:nvSpPr>
        <p:spPr>
          <a:xfrm>
            <a:off x="7950081" y="2924845"/>
            <a:ext cx="3392365" cy="152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/>
              <a:t>- </a:t>
            </a:r>
            <a:r>
              <a:rPr lang="ko-KR" altLang="en-US" sz="1600" dirty="0" err="1"/>
              <a:t>하드코어한</a:t>
            </a:r>
            <a:r>
              <a:rPr lang="ko-KR" altLang="en-US" sz="1600" dirty="0"/>
              <a:t> 핵심 재미 요소 유지</a:t>
            </a:r>
            <a:br>
              <a:rPr lang="en-US" altLang="ko-KR" sz="1600" dirty="0"/>
            </a:br>
            <a:r>
              <a:rPr lang="en-US" altLang="ko-KR" sz="1600" dirty="0"/>
              <a:t>- PVP -&gt; PVE </a:t>
            </a:r>
            <a:r>
              <a:rPr lang="ko-KR" altLang="en-US" sz="1600" dirty="0"/>
              <a:t>변화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오리 캐릭터의 귀여운 컨셉</a:t>
            </a:r>
            <a:br>
              <a:rPr lang="en-US" altLang="ko-KR" sz="1600" dirty="0"/>
            </a:br>
            <a:r>
              <a:rPr lang="en-US" altLang="ko-KR" sz="1600" dirty="0"/>
              <a:t>- </a:t>
            </a:r>
            <a:r>
              <a:rPr lang="ko-KR" altLang="en-US" sz="1600" dirty="0"/>
              <a:t>복잡한 시스템을 등급별로 단순화</a:t>
            </a:r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51317B25-75B1-C27A-00C1-338C9FD105CB}"/>
              </a:ext>
            </a:extLst>
          </p:cNvPr>
          <p:cNvSpPr/>
          <p:nvPr/>
        </p:nvSpPr>
        <p:spPr>
          <a:xfrm>
            <a:off x="7020962" y="3385541"/>
            <a:ext cx="440294" cy="484632"/>
          </a:xfrm>
          <a:prstGeom prst="rightArrow">
            <a:avLst/>
          </a:prstGeom>
          <a:solidFill>
            <a:srgbClr val="F6E7FF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 preferRelativeResize="0"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1" y="1181100"/>
            <a:ext cx="3240000" cy="1080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996" y="1418396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4871" y="1551746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331624" y="1193550"/>
            <a:ext cx="3240000" cy="1080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708" y="1466850"/>
            <a:ext cx="57150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3871" y="1600200"/>
            <a:ext cx="257175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2514600"/>
            <a:ext cx="10957560" cy="370179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274320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6763" y="2876550"/>
            <a:ext cx="257175" cy="304800"/>
          </a:xfrm>
          <a:prstGeom prst="rect">
            <a:avLst/>
          </a:prstGeom>
        </p:spPr>
      </p:pic>
      <p:pic>
        <p:nvPicPr>
          <p:cNvPr id="13" name="Image 11" descr="preencoded.png"/>
          <p:cNvPicPr preferRelativeResize="0"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199525" y="1136399"/>
            <a:ext cx="3240000" cy="1080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58282" y="1423987"/>
            <a:ext cx="571500" cy="5715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개요</a:t>
            </a:r>
            <a:endParaRPr lang="en-US" sz="2700" dirty="0"/>
          </a:p>
        </p:txBody>
      </p:sp>
      <p:sp>
        <p:nvSpPr>
          <p:cNvPr id="17" name="Text 1"/>
          <p:cNvSpPr/>
          <p:nvPr/>
        </p:nvSpPr>
        <p:spPr>
          <a:xfrm>
            <a:off x="1565896" y="1418396"/>
            <a:ext cx="145464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장르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565896" y="1761296"/>
            <a:ext cx="174557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5대5 FPS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5460608" y="1466850"/>
            <a:ext cx="268069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출시 예정 시기</a:t>
            </a:r>
            <a:endParaRPr lang="en-US" sz="1500" dirty="0"/>
          </a:p>
        </p:txBody>
      </p:sp>
      <p:sp>
        <p:nvSpPr>
          <p:cNvPr id="20" name="Text 4"/>
          <p:cNvSpPr/>
          <p:nvPr/>
        </p:nvSpPr>
        <p:spPr>
          <a:xfrm>
            <a:off x="5689208" y="1781175"/>
            <a:ext cx="32168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2026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년 </a:t>
            </a: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월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333500" y="2743200"/>
            <a:ext cx="227900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게임</a:t>
            </a:r>
            <a:r>
              <a:rPr 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설명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9482182" y="1423987"/>
            <a:ext cx="3528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타겟 플레이어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9682118" y="1781174"/>
            <a:ext cx="4328160" cy="2762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</a:rPr>
              <a:t>Z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</a:rPr>
              <a:t>세대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8534400" y="2171700"/>
            <a:ext cx="3528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  <p:pic>
        <p:nvPicPr>
          <p:cNvPr id="39" name="Image 11" descr="preencoded.png">
            <a:extLst>
              <a:ext uri="{FF2B5EF4-FFF2-40B4-BE49-F238E27FC236}">
                <a16:creationId xmlns:a16="http://schemas.microsoft.com/office/drawing/2014/main" id="{3329CE8A-3502-F5E6-6724-4DA90BB8F01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906039" y="1571624"/>
            <a:ext cx="280647" cy="314325"/>
          </a:xfrm>
          <a:prstGeom prst="rect">
            <a:avLst/>
          </a:prstGeom>
        </p:spPr>
      </p:pic>
      <p:pic>
        <p:nvPicPr>
          <p:cNvPr id="1026" name="Picture 2" descr="VALORANT | Xbox">
            <a:extLst>
              <a:ext uri="{FF2B5EF4-FFF2-40B4-BE49-F238E27FC236}">
                <a16:creationId xmlns:a16="http://schemas.microsoft.com/office/drawing/2014/main" id="{275FF780-21B4-0828-B35B-C602AF603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313" y="2752725"/>
            <a:ext cx="1719373" cy="2579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직사각형 39">
            <a:extLst>
              <a:ext uri="{FF2B5EF4-FFF2-40B4-BE49-F238E27FC236}">
                <a16:creationId xmlns:a16="http://schemas.microsoft.com/office/drawing/2014/main" id="{3D05E15E-8417-0DCF-8A55-7D40BD660219}"/>
              </a:ext>
            </a:extLst>
          </p:cNvPr>
          <p:cNvSpPr/>
          <p:nvPr/>
        </p:nvSpPr>
        <p:spPr>
          <a:xfrm>
            <a:off x="4070171" y="4157363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93255BA-566A-02CD-7A98-DE3F21C5E4CF}"/>
              </a:ext>
            </a:extLst>
          </p:cNvPr>
          <p:cNvSpPr/>
          <p:nvPr/>
        </p:nvSpPr>
        <p:spPr>
          <a:xfrm rot="16200000">
            <a:off x="4066963" y="4157363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306AD3-D3B1-5585-A828-82F303E84611}"/>
              </a:ext>
            </a:extLst>
          </p:cNvPr>
          <p:cNvSpPr txBox="1"/>
          <p:nvPr/>
        </p:nvSpPr>
        <p:spPr>
          <a:xfrm>
            <a:off x="1588129" y="5502209"/>
            <a:ext cx="26055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B</a:t>
            </a:r>
            <a:r>
              <a:rPr lang="ko-KR" altLang="en-US" sz="1400" dirty="0"/>
              <a:t>급 감성 </a:t>
            </a:r>
            <a:r>
              <a:rPr lang="en-US" altLang="ko-KR" sz="1400" dirty="0"/>
              <a:t>(</a:t>
            </a:r>
            <a:r>
              <a:rPr lang="ko-KR" altLang="en-US" sz="1400" dirty="0"/>
              <a:t>하찮은 캐릭터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DADA97-F0D5-BBE3-4C78-217B2C9C3554}"/>
              </a:ext>
            </a:extLst>
          </p:cNvPr>
          <p:cNvSpPr txBox="1"/>
          <p:nvPr/>
        </p:nvSpPr>
        <p:spPr>
          <a:xfrm>
            <a:off x="5022458" y="5522373"/>
            <a:ext cx="22797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라운드 형식의 플레이 방식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B41D483-B19F-107F-B024-A5EEE04F5B6C}"/>
              </a:ext>
            </a:extLst>
          </p:cNvPr>
          <p:cNvSpPr/>
          <p:nvPr/>
        </p:nvSpPr>
        <p:spPr>
          <a:xfrm>
            <a:off x="7520012" y="4157362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58AF181-8DD1-501F-DD47-8924C12950DC}"/>
              </a:ext>
            </a:extLst>
          </p:cNvPr>
          <p:cNvSpPr/>
          <p:nvPr/>
        </p:nvSpPr>
        <p:spPr>
          <a:xfrm rot="16200000">
            <a:off x="7516804" y="4157362"/>
            <a:ext cx="522906" cy="1417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388B1C-DA24-0021-3AB5-90E6BBB19B5C}"/>
              </a:ext>
            </a:extLst>
          </p:cNvPr>
          <p:cNvSpPr txBox="1"/>
          <p:nvPr/>
        </p:nvSpPr>
        <p:spPr>
          <a:xfrm>
            <a:off x="8906039" y="5550156"/>
            <a:ext cx="1122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경제 시스템</a:t>
            </a:r>
          </a:p>
        </p:txBody>
      </p:sp>
      <p:pic>
        <p:nvPicPr>
          <p:cNvPr id="28" name="그림 27" descr="클립아트, 그림, 스케치, 라인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96A340-6546-9060-4148-60706128224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12086" y="3162120"/>
            <a:ext cx="1733560" cy="2030569"/>
          </a:xfrm>
          <a:prstGeom prst="rect">
            <a:avLst/>
          </a:prstGeom>
        </p:spPr>
      </p:pic>
      <p:pic>
        <p:nvPicPr>
          <p:cNvPr id="32" name="그림 31" descr="텍스트, 스크린샷, 책, 아니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935081-CC15-C4A3-C0FF-555C93077879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00009" y="2775508"/>
            <a:ext cx="1764346" cy="257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857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104900"/>
            <a:ext cx="5562600" cy="15049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9540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563" y="1400175"/>
            <a:ext cx="23812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1914525"/>
            <a:ext cx="762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1100" y="2219325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762248"/>
            <a:ext cx="5562600" cy="177850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952749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3057524"/>
            <a:ext cx="190500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100" y="3571874"/>
            <a:ext cx="762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1956" y="3838573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8400" y="1104900"/>
            <a:ext cx="5562600" cy="343585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2833" y="1537202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896" y="1641977"/>
            <a:ext cx="23812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100" y="2384927"/>
            <a:ext cx="762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100" y="2689727"/>
            <a:ext cx="762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96100" y="2994527"/>
            <a:ext cx="762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38345" y="5410199"/>
            <a:ext cx="1119932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45103" y="5576886"/>
            <a:ext cx="476250" cy="1905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47381" y="5410199"/>
            <a:ext cx="967532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0440135">
            <a:off x="5091113" y="5453062"/>
            <a:ext cx="476250" cy="190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43563" y="5153025"/>
            <a:ext cx="967532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87294" y="5334000"/>
            <a:ext cx="476250" cy="1905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00199" y="5124449"/>
            <a:ext cx="1175593" cy="381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1265084">
            <a:off x="5093356" y="5781673"/>
            <a:ext cx="476250" cy="1905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33290" y="5776912"/>
            <a:ext cx="967532" cy="381000"/>
          </a:xfrm>
          <a:prstGeom prst="rect">
            <a:avLst/>
          </a:prstGeom>
        </p:spPr>
      </p:pic>
      <p:sp>
        <p:nvSpPr>
          <p:cNvPr id="42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게임 진행 방식</a:t>
            </a:r>
            <a:endParaRPr lang="en-US" sz="2700" dirty="0">
              <a:latin typeface="+mn-ea"/>
            </a:endParaRPr>
          </a:p>
        </p:txBody>
      </p:sp>
      <p:sp>
        <p:nvSpPr>
          <p:cNvPr id="43" name="Text 1"/>
          <p:cNvSpPr/>
          <p:nvPr/>
        </p:nvSpPr>
        <p:spPr>
          <a:xfrm>
            <a:off x="1162050" y="1400175"/>
            <a:ext cx="7654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팀 설정</a:t>
            </a:r>
            <a:endParaRPr lang="en-US" sz="1500" dirty="0">
              <a:latin typeface="+mn-ea"/>
            </a:endParaRPr>
          </a:p>
        </p:txBody>
      </p:sp>
      <p:sp>
        <p:nvSpPr>
          <p:cNvPr id="44" name="Text 2"/>
          <p:cNvSpPr/>
          <p:nvPr/>
        </p:nvSpPr>
        <p:spPr>
          <a:xfrm>
            <a:off x="1143000" y="188595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ko-KR" alt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공격팀</a:t>
            </a:r>
            <a:r>
              <a:rPr lang="en-US" altLang="ko-KR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, 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수비팀으로 나뉜다</a:t>
            </a:r>
            <a:endParaRPr lang="en-US" sz="1400" dirty="0">
              <a:latin typeface="+mn-ea"/>
            </a:endParaRPr>
          </a:p>
        </p:txBody>
      </p:sp>
      <p:sp>
        <p:nvSpPr>
          <p:cNvPr id="45" name="Text 3"/>
          <p:cNvSpPr/>
          <p:nvPr/>
        </p:nvSpPr>
        <p:spPr>
          <a:xfrm>
            <a:off x="1143000" y="21907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ko-KR" altLang="en-US" sz="1400" dirty="0">
                <a:latin typeface="+mn-ea"/>
              </a:rPr>
              <a:t>공격팀과 수비팀은 랜덤으로 정해진다</a:t>
            </a:r>
            <a:r>
              <a:rPr lang="en-US" altLang="ko-KR" sz="1400" dirty="0">
                <a:latin typeface="+mn-ea"/>
              </a:rPr>
              <a:t>.</a:t>
            </a:r>
            <a:endParaRPr lang="en-US" sz="1400" dirty="0">
              <a:latin typeface="+mn-ea"/>
            </a:endParaRPr>
          </a:p>
        </p:txBody>
      </p:sp>
      <p:sp>
        <p:nvSpPr>
          <p:cNvPr id="46" name="Text 4"/>
          <p:cNvSpPr/>
          <p:nvPr/>
        </p:nvSpPr>
        <p:spPr>
          <a:xfrm>
            <a:off x="1162050" y="3057524"/>
            <a:ext cx="130230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공격 및 수비</a:t>
            </a:r>
            <a:endParaRPr lang="en-US" sz="1500" dirty="0">
              <a:latin typeface="+mn-ea"/>
            </a:endParaRPr>
          </a:p>
        </p:txBody>
      </p:sp>
      <p:sp>
        <p:nvSpPr>
          <p:cNvPr id="47" name="Text 5"/>
          <p:cNvSpPr/>
          <p:nvPr/>
        </p:nvSpPr>
        <p:spPr>
          <a:xfrm>
            <a:off x="1348383" y="3619500"/>
            <a:ext cx="57150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공격팀은</a:t>
            </a: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지정된 구역에 폭탄을 설치한다</a:t>
            </a:r>
            <a:r>
              <a:rPr lang="en-US" altLang="ko-KR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.</a:t>
            </a:r>
            <a:endParaRPr lang="en-US" sz="1400" dirty="0">
              <a:latin typeface="+mn-ea"/>
            </a:endParaRPr>
          </a:p>
        </p:txBody>
      </p:sp>
      <p:sp>
        <p:nvSpPr>
          <p:cNvPr id="48" name="Text 6"/>
          <p:cNvSpPr/>
          <p:nvPr/>
        </p:nvSpPr>
        <p:spPr>
          <a:xfrm>
            <a:off x="1348383" y="3805236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수비팀은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공격팀을</a:t>
            </a: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저지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하며 설치된 폭탄을 제거한다</a:t>
            </a:r>
            <a:r>
              <a:rPr lang="en-US" altLang="ko-KR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.</a:t>
            </a:r>
            <a:endParaRPr lang="en-US" sz="1400" dirty="0">
              <a:latin typeface="+mn-ea"/>
            </a:endParaRPr>
          </a:p>
        </p:txBody>
      </p:sp>
      <p:sp>
        <p:nvSpPr>
          <p:cNvPr id="49" name="Text 7"/>
          <p:cNvSpPr/>
          <p:nvPr/>
        </p:nvSpPr>
        <p:spPr>
          <a:xfrm>
            <a:off x="7063383" y="1641977"/>
            <a:ext cx="145125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+mn-ea"/>
                <a:cs typeface="ui-sans-serif" pitchFamily="34" charset="-120"/>
              </a:rPr>
              <a:t>라운드 시스템</a:t>
            </a:r>
            <a:endParaRPr lang="en-US" sz="1500" dirty="0">
              <a:latin typeface="+mn-ea"/>
            </a:endParaRPr>
          </a:p>
        </p:txBody>
      </p:sp>
      <p:sp>
        <p:nvSpPr>
          <p:cNvPr id="50" name="Text 8"/>
          <p:cNvSpPr/>
          <p:nvPr/>
        </p:nvSpPr>
        <p:spPr>
          <a:xfrm>
            <a:off x="6858000" y="2356352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한 경기는 여러 번의 짧은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라운드로</a:t>
            </a: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진행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된다</a:t>
            </a:r>
            <a:endParaRPr lang="en-US" sz="1400" dirty="0">
              <a:latin typeface="+mn-ea"/>
            </a:endParaRPr>
          </a:p>
        </p:txBody>
      </p:sp>
      <p:sp>
        <p:nvSpPr>
          <p:cNvPr id="51" name="Text 9"/>
          <p:cNvSpPr/>
          <p:nvPr/>
        </p:nvSpPr>
        <p:spPr>
          <a:xfrm>
            <a:off x="6858000" y="2661152"/>
            <a:ext cx="4483100" cy="2374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총 10라운드를 먼저 승리한 팀이 </a:t>
            </a:r>
            <a:r>
              <a:rPr lang="en-US" sz="14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경기에서</a:t>
            </a:r>
            <a:r>
              <a:rPr 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승리</a:t>
            </a:r>
            <a:r>
              <a:rPr lang="ko-KR" altLang="en-US" sz="14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한다</a:t>
            </a:r>
            <a:endParaRPr lang="en-US" sz="1400" dirty="0"/>
          </a:p>
        </p:txBody>
      </p:sp>
      <p:sp>
        <p:nvSpPr>
          <p:cNvPr id="52" name="Text 10"/>
          <p:cNvSpPr/>
          <p:nvPr/>
        </p:nvSpPr>
        <p:spPr>
          <a:xfrm>
            <a:off x="6858000" y="2965952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매 라운드마다 일정량의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돈을</a:t>
            </a: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얻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는다</a:t>
            </a:r>
            <a:endParaRPr lang="en-US" sz="1400" dirty="0">
              <a:latin typeface="+mn-ea"/>
            </a:endParaRPr>
          </a:p>
        </p:txBody>
      </p:sp>
      <p:sp>
        <p:nvSpPr>
          <p:cNvPr id="58" name="Text 16"/>
          <p:cNvSpPr/>
          <p:nvPr/>
        </p:nvSpPr>
        <p:spPr>
          <a:xfrm>
            <a:off x="2390745" y="5505449"/>
            <a:ext cx="97815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+mn-ea"/>
                <a:cs typeface="ui-sans-serif" pitchFamily="34" charset="-120"/>
              </a:rPr>
              <a:t>라운드 시작</a:t>
            </a:r>
            <a:endParaRPr lang="en-US" sz="1200" dirty="0">
              <a:latin typeface="+mn-ea"/>
            </a:endParaRPr>
          </a:p>
        </p:txBody>
      </p:sp>
      <p:sp>
        <p:nvSpPr>
          <p:cNvPr id="59" name="Text 17"/>
          <p:cNvSpPr/>
          <p:nvPr/>
        </p:nvSpPr>
        <p:spPr>
          <a:xfrm>
            <a:off x="4199781" y="5505449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+mn-ea"/>
                <a:cs typeface="ui-sans-serif" pitchFamily="34" charset="-120"/>
              </a:rPr>
              <a:t>게임 진행</a:t>
            </a:r>
            <a:endParaRPr lang="en-US" sz="1200" dirty="0">
              <a:latin typeface="+mn-ea"/>
            </a:endParaRPr>
          </a:p>
        </p:txBody>
      </p:sp>
      <p:sp>
        <p:nvSpPr>
          <p:cNvPr id="60" name="Text 18"/>
          <p:cNvSpPr/>
          <p:nvPr/>
        </p:nvSpPr>
        <p:spPr>
          <a:xfrm>
            <a:off x="5795963" y="5248275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+mn-ea"/>
                <a:cs typeface="ui-sans-serif" pitchFamily="34" charset="-120"/>
              </a:rPr>
              <a:t>공격 성공</a:t>
            </a:r>
            <a:endParaRPr lang="en-US" sz="1200" dirty="0">
              <a:latin typeface="+mn-ea"/>
            </a:endParaRPr>
          </a:p>
        </p:txBody>
      </p:sp>
      <p:sp>
        <p:nvSpPr>
          <p:cNvPr id="62" name="Text 20"/>
          <p:cNvSpPr/>
          <p:nvPr/>
        </p:nvSpPr>
        <p:spPr>
          <a:xfrm>
            <a:off x="7404393" y="5213350"/>
            <a:ext cx="1044952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+mn-ea"/>
                <a:cs typeface="ui-sans-serif" pitchFamily="34" charset="-120"/>
              </a:rPr>
              <a:t>공/수비 변경</a:t>
            </a:r>
            <a:endParaRPr lang="en-US" sz="1200" dirty="0">
              <a:latin typeface="+mn-ea"/>
            </a:endParaRPr>
          </a:p>
        </p:txBody>
      </p:sp>
      <p:sp>
        <p:nvSpPr>
          <p:cNvPr id="65" name="Text 23"/>
          <p:cNvSpPr/>
          <p:nvPr/>
        </p:nvSpPr>
        <p:spPr>
          <a:xfrm>
            <a:off x="5785690" y="5872162"/>
            <a:ext cx="795278" cy="1809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+mn-ea"/>
                <a:cs typeface="ui-sans-serif" pitchFamily="34" charset="-120"/>
              </a:rPr>
              <a:t>공격 실패</a:t>
            </a:r>
            <a:endParaRPr lang="en-US" sz="1200" dirty="0">
              <a:latin typeface="+mn-ea"/>
            </a:endParaRPr>
          </a:p>
        </p:txBody>
      </p:sp>
      <p:pic>
        <p:nvPicPr>
          <p:cNvPr id="24" name="Image 11" descr="preencoded.png">
            <a:extLst>
              <a:ext uri="{FF2B5EF4-FFF2-40B4-BE49-F238E27FC236}">
                <a16:creationId xmlns:a16="http://schemas.microsoft.com/office/drawing/2014/main" id="{6C2FED09-E1D8-8A09-618D-7649018DC1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505" y="4114798"/>
            <a:ext cx="76200" cy="152400"/>
          </a:xfrm>
          <a:prstGeom prst="rect">
            <a:avLst/>
          </a:prstGeom>
        </p:spPr>
      </p:pic>
      <p:sp>
        <p:nvSpPr>
          <p:cNvPr id="55" name="Text 6">
            <a:extLst>
              <a:ext uri="{FF2B5EF4-FFF2-40B4-BE49-F238E27FC236}">
                <a16:creationId xmlns:a16="http://schemas.microsoft.com/office/drawing/2014/main" id="{E4766AD8-163A-8FDE-8857-D94CC09BC4E7}"/>
              </a:ext>
            </a:extLst>
          </p:cNvPr>
          <p:cNvSpPr/>
          <p:nvPr/>
        </p:nvSpPr>
        <p:spPr>
          <a:xfrm>
            <a:off x="1351806" y="4067174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r>
              <a:rPr lang="ko-KR" altLang="en-US" sz="1400" dirty="0">
                <a:latin typeface="+mn-ea"/>
              </a:rPr>
              <a:t>공격팀이 공격 성공 시 </a:t>
            </a:r>
            <a:r>
              <a:rPr lang="ko-KR" altLang="en-US" sz="1400" dirty="0" err="1">
                <a:latin typeface="+mn-ea"/>
              </a:rPr>
              <a:t>공수교대한다</a:t>
            </a:r>
            <a:r>
              <a:rPr lang="en-US" altLang="ko-KR" sz="1400" dirty="0">
                <a:latin typeface="+mn-ea"/>
              </a:rPr>
              <a:t>.</a:t>
            </a:r>
            <a:endParaRPr lang="en-US" sz="1400" dirty="0">
              <a:latin typeface="+mn-ea"/>
            </a:endParaRPr>
          </a:p>
        </p:txBody>
      </p:sp>
      <p:pic>
        <p:nvPicPr>
          <p:cNvPr id="26" name="Image 17" descr="preencoded.png">
            <a:extLst>
              <a:ext uri="{FF2B5EF4-FFF2-40B4-BE49-F238E27FC236}">
                <a16:creationId xmlns:a16="http://schemas.microsoft.com/office/drawing/2014/main" id="{CB9B04F9-5509-0661-0601-06C740D667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7319" y="3323139"/>
            <a:ext cx="76200" cy="152400"/>
          </a:xfrm>
          <a:prstGeom prst="rect">
            <a:avLst/>
          </a:prstGeom>
        </p:spPr>
      </p:pic>
      <p:sp>
        <p:nvSpPr>
          <p:cNvPr id="40" name="Text 10">
            <a:extLst>
              <a:ext uri="{FF2B5EF4-FFF2-40B4-BE49-F238E27FC236}">
                <a16:creationId xmlns:a16="http://schemas.microsoft.com/office/drawing/2014/main" id="{4566EDB6-0AC7-5629-771D-C0DE4FE8340A}"/>
              </a:ext>
            </a:extLst>
          </p:cNvPr>
          <p:cNvSpPr/>
          <p:nvPr/>
        </p:nvSpPr>
        <p:spPr>
          <a:xfrm>
            <a:off x="6849219" y="3294564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매 </a:t>
            </a:r>
            <a:r>
              <a:rPr lang="en-US" sz="1400" dirty="0" err="1">
                <a:solidFill>
                  <a:srgbClr val="374151"/>
                </a:solidFill>
                <a:latin typeface="+mn-ea"/>
                <a:cs typeface="ui-sans-serif" pitchFamily="34" charset="-120"/>
              </a:rPr>
              <a:t>라운드마다</a:t>
            </a: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경기 시간이 늘어난다</a:t>
            </a:r>
            <a:r>
              <a:rPr lang="en-US" altLang="ko-KR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.</a:t>
            </a:r>
            <a:endParaRPr lang="en-US" sz="1400" dirty="0">
              <a:latin typeface="+mn-ea"/>
            </a:endParaRPr>
          </a:p>
        </p:txBody>
      </p:sp>
      <p:pic>
        <p:nvPicPr>
          <p:cNvPr id="41" name="Image 17" descr="preencoded.png">
            <a:extLst>
              <a:ext uri="{FF2B5EF4-FFF2-40B4-BE49-F238E27FC236}">
                <a16:creationId xmlns:a16="http://schemas.microsoft.com/office/drawing/2014/main" id="{AE508E75-2C89-F7E4-9CFE-7ABB9D1FC49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87319" y="3629025"/>
            <a:ext cx="76200" cy="152400"/>
          </a:xfrm>
          <a:prstGeom prst="rect">
            <a:avLst/>
          </a:prstGeom>
        </p:spPr>
      </p:pic>
      <p:sp>
        <p:nvSpPr>
          <p:cNvPr id="57" name="Text 10">
            <a:extLst>
              <a:ext uri="{FF2B5EF4-FFF2-40B4-BE49-F238E27FC236}">
                <a16:creationId xmlns:a16="http://schemas.microsoft.com/office/drawing/2014/main" id="{DBA784ED-EBD8-9470-314A-2FDD66E0E0F8}"/>
              </a:ext>
            </a:extLst>
          </p:cNvPr>
          <p:cNvSpPr/>
          <p:nvPr/>
        </p:nvSpPr>
        <p:spPr>
          <a:xfrm>
            <a:off x="6849219" y="3600450"/>
            <a:ext cx="47625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 </a:t>
            </a:r>
            <a:r>
              <a:rPr lang="ko-KR" altLang="en-US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라운드 시작 전 재화를 사용하는 시간이 주어진다</a:t>
            </a:r>
            <a:r>
              <a:rPr lang="en-US" altLang="ko-KR" sz="1400" dirty="0">
                <a:solidFill>
                  <a:srgbClr val="374151"/>
                </a:solidFill>
                <a:latin typeface="+mn-ea"/>
                <a:cs typeface="ui-sans-serif" pitchFamily="34" charset="-120"/>
              </a:rPr>
              <a:t>.</a:t>
            </a:r>
            <a:endParaRPr 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842C243-DA11-5D84-ED86-64B3C232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E7E77D91-EEA4-FBDC-DFA2-57C30B55D568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</a:t>
            </a:r>
            <a:endParaRPr lang="en-US" sz="27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06CE4605-17B1-06F2-605B-016B53BD6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FF4482F7-8501-6A24-3DF5-ED60BA285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55" y="1143000"/>
            <a:ext cx="6634363" cy="5334000"/>
          </a:xfrm>
          <a:prstGeom prst="rect">
            <a:avLst/>
          </a:prstGeom>
        </p:spPr>
      </p:pic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827DC21E-3DC4-50D9-937E-729F2943F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167" y="1143000"/>
            <a:ext cx="4721507" cy="5334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2737670-D4F1-E7C8-CB31-6AAE03658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7127" y="1905000"/>
            <a:ext cx="4281586" cy="240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8C9CB8C-2695-DD2F-BCDA-F1BCC3BB8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315" y="1403604"/>
            <a:ext cx="6382641" cy="60873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E40F62-5E1F-4DDB-3A60-C34EE0A8264C}"/>
              </a:ext>
            </a:extLst>
          </p:cNvPr>
          <p:cNvSpPr txBox="1"/>
          <p:nvPr/>
        </p:nvSpPr>
        <p:spPr>
          <a:xfrm>
            <a:off x="7313039" y="14594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예시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C069FB-4EA6-9B4D-C0DA-F28F50CBF423}"/>
              </a:ext>
            </a:extLst>
          </p:cNvPr>
          <p:cNvSpPr txBox="1"/>
          <p:nvPr/>
        </p:nvSpPr>
        <p:spPr>
          <a:xfrm>
            <a:off x="7397127" y="4550587"/>
            <a:ext cx="4281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건물 외부</a:t>
            </a:r>
            <a:r>
              <a:rPr lang="en-US" altLang="ko-KR" dirty="0"/>
              <a:t>, </a:t>
            </a:r>
            <a:r>
              <a:rPr lang="ko-KR" altLang="en-US" dirty="0"/>
              <a:t>벽 모양의 오브젝트로 이동 제한</a:t>
            </a:r>
          </a:p>
        </p:txBody>
      </p:sp>
    </p:spTree>
    <p:extLst>
      <p:ext uri="{BB962C8B-B14F-4D97-AF65-F5344CB8AC3E}">
        <p14:creationId xmlns:p14="http://schemas.microsoft.com/office/powerpoint/2010/main" val="1528142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1" y="1181100"/>
            <a:ext cx="3530352" cy="495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1" y="1181100"/>
            <a:ext cx="3530352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9790" y="1333500"/>
            <a:ext cx="571500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1240" y="1466850"/>
            <a:ext cx="228600" cy="304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57500"/>
            <a:ext cx="17145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2004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5433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" y="5295900"/>
            <a:ext cx="31495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92501" y="1181100"/>
            <a:ext cx="3606850" cy="4953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92501" y="1181100"/>
            <a:ext cx="360685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9952" y="133350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7114" y="146685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5734" y="33337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5734" y="3824478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21101" y="5486400"/>
            <a:ext cx="314965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04150" y="1181100"/>
            <a:ext cx="3606701" cy="4953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150" y="1181100"/>
            <a:ext cx="3606701" cy="10287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88327" y="1333500"/>
            <a:ext cx="571500" cy="571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32750" y="28575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2750" y="34290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32750" y="40005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32750" y="5486400"/>
            <a:ext cx="3149501" cy="4191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플레이어</a:t>
            </a: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능력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533400" y="1543050"/>
            <a:ext cx="113085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ui-sans-serif" pitchFamily="34" charset="0"/>
              </a:rPr>
              <a:t>닭</a:t>
            </a:r>
            <a:endParaRPr lang="en-US" sz="1800" dirty="0"/>
          </a:p>
        </p:txBody>
      </p:sp>
      <p:sp>
        <p:nvSpPr>
          <p:cNvPr id="28" name="Text 2"/>
          <p:cNvSpPr/>
          <p:nvPr/>
        </p:nvSpPr>
        <p:spPr>
          <a:xfrm>
            <a:off x="60960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알 폭격</a:t>
            </a:r>
            <a:endParaRPr lang="en-US" sz="1500" dirty="0"/>
          </a:p>
        </p:txBody>
      </p:sp>
      <p:sp>
        <p:nvSpPr>
          <p:cNvPr id="29" name="Text 3"/>
          <p:cNvSpPr/>
          <p:nvPr/>
        </p:nvSpPr>
        <p:spPr>
          <a:xfrm>
            <a:off x="857250" y="2819400"/>
            <a:ext cx="345775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공중 포격</a:t>
            </a:r>
            <a:endParaRPr lang="en-US" altLang="ko-KR" sz="1200" dirty="0"/>
          </a:p>
        </p:txBody>
      </p:sp>
      <p:sp>
        <p:nvSpPr>
          <p:cNvPr id="30" name="Text 4"/>
          <p:cNvSpPr/>
          <p:nvPr/>
        </p:nvSpPr>
        <p:spPr>
          <a:xfrm>
            <a:off x="838200" y="3162300"/>
            <a:ext cx="253653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 err="1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맵에서</a:t>
            </a:r>
            <a:r>
              <a:rPr lang="ko-KR" alt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지역 선택 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838200" y="3505200"/>
            <a:ext cx="28066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/>
              <a:t> </a:t>
            </a:r>
            <a:endParaRPr lang="en-US" sz="1200" dirty="0"/>
          </a:p>
        </p:txBody>
      </p:sp>
      <p:sp>
        <p:nvSpPr>
          <p:cNvPr id="32" name="Text 6"/>
          <p:cNvSpPr/>
          <p:nvPr/>
        </p:nvSpPr>
        <p:spPr>
          <a:xfrm>
            <a:off x="723900" y="5410200"/>
            <a:ext cx="2920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3" name="Text 7"/>
          <p:cNvSpPr/>
          <p:nvPr/>
        </p:nvSpPr>
        <p:spPr>
          <a:xfrm>
            <a:off x="4444901" y="1543050"/>
            <a:ext cx="11276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ui-sans-serif" pitchFamily="34" charset="0"/>
              </a:rPr>
              <a:t>돼지</a:t>
            </a:r>
            <a:endParaRPr lang="en-US" sz="1800" dirty="0"/>
          </a:p>
        </p:txBody>
      </p:sp>
      <p:sp>
        <p:nvSpPr>
          <p:cNvPr id="38" name="Text 12"/>
          <p:cNvSpPr/>
          <p:nvPr/>
        </p:nvSpPr>
        <p:spPr>
          <a:xfrm>
            <a:off x="4635401" y="5600700"/>
            <a:ext cx="3505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9" name="Text 13"/>
          <p:cNvSpPr/>
          <p:nvPr/>
        </p:nvSpPr>
        <p:spPr>
          <a:xfrm>
            <a:off x="8356550" y="1543050"/>
            <a:ext cx="111978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ui-sans-serif" pitchFamily="34" charset="0"/>
              </a:rPr>
              <a:t>생선</a:t>
            </a:r>
            <a:endParaRPr lang="en-US" sz="1800" dirty="0"/>
          </a:p>
        </p:txBody>
      </p:sp>
      <p:sp>
        <p:nvSpPr>
          <p:cNvPr id="40" name="Text 14"/>
          <p:cNvSpPr/>
          <p:nvPr/>
        </p:nvSpPr>
        <p:spPr>
          <a:xfrm>
            <a:off x="843275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1" name="Text 15"/>
          <p:cNvSpPr/>
          <p:nvPr/>
        </p:nvSpPr>
        <p:spPr>
          <a:xfrm>
            <a:off x="8699450" y="2819400"/>
            <a:ext cx="28828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2" name="Text 16"/>
          <p:cNvSpPr/>
          <p:nvPr/>
        </p:nvSpPr>
        <p:spPr>
          <a:xfrm>
            <a:off x="8661350" y="3390900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정찰만 가능하며 적을 발견하면 맵에 위치표시</a:t>
            </a:r>
            <a:endParaRPr lang="en-US" sz="1200" dirty="0"/>
          </a:p>
        </p:txBody>
      </p:sp>
      <p:sp>
        <p:nvSpPr>
          <p:cNvPr id="43" name="Text 17"/>
          <p:cNvSpPr/>
          <p:nvPr/>
        </p:nvSpPr>
        <p:spPr>
          <a:xfrm>
            <a:off x="8661350" y="3962400"/>
            <a:ext cx="27348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4" name="Text 18"/>
          <p:cNvSpPr/>
          <p:nvPr/>
        </p:nvSpPr>
        <p:spPr>
          <a:xfrm>
            <a:off x="8547050" y="5600700"/>
            <a:ext cx="350508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5A3571DD-9FB7-FC1A-2AEB-3E1A89AA2FF4}"/>
              </a:ext>
            </a:extLst>
          </p:cNvPr>
          <p:cNvSpPr/>
          <p:nvPr/>
        </p:nvSpPr>
        <p:spPr>
          <a:xfrm>
            <a:off x="8661350" y="3976878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</a:rPr>
              <a:t>.</a:t>
            </a:r>
            <a:endParaRPr lang="en-US" sz="1200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EB20541-DBB3-E791-F02C-0D6A7AD30C5D}"/>
              </a:ext>
            </a:extLst>
          </p:cNvPr>
          <p:cNvSpPr/>
          <p:nvPr/>
        </p:nvSpPr>
        <p:spPr>
          <a:xfrm>
            <a:off x="4564946" y="2456688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err="1">
                <a:solidFill>
                  <a:srgbClr val="1F2937"/>
                </a:solidFill>
                <a:latin typeface="ui-sans-serif" pitchFamily="34" charset="0"/>
              </a:rPr>
              <a:t>돈까스</a:t>
            </a: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 망치</a:t>
            </a:r>
            <a:endParaRPr lang="en-US" sz="15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5DE08FEA-2560-C00D-F544-74422C06C364}"/>
              </a:ext>
            </a:extLst>
          </p:cNvPr>
          <p:cNvSpPr/>
          <p:nvPr/>
        </p:nvSpPr>
        <p:spPr>
          <a:xfrm>
            <a:off x="4812596" y="2837688"/>
            <a:ext cx="290185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800"/>
              </a:lnSpc>
            </a:pPr>
            <a:r>
              <a:rPr lang="ko-KR" altLang="en-US" sz="1200" dirty="0"/>
              <a:t>일정 시간이 지나면 터지는 폭탄을 벽</a:t>
            </a:r>
            <a:r>
              <a:rPr lang="en-US" altLang="ko-KR" sz="1200" dirty="0"/>
              <a:t>, </a:t>
            </a:r>
            <a:r>
              <a:rPr lang="ko-KR" altLang="en-US" sz="1200" dirty="0"/>
              <a:t>오브젝트에 던진다</a:t>
            </a:r>
            <a:endParaRPr lang="en-US" altLang="ko-KR" sz="1200" dirty="0"/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AF311DF7-3383-673D-F4F3-C779876725FA}"/>
              </a:ext>
            </a:extLst>
          </p:cNvPr>
          <p:cNvSpPr/>
          <p:nvPr/>
        </p:nvSpPr>
        <p:spPr>
          <a:xfrm>
            <a:off x="4808179" y="3313938"/>
            <a:ext cx="3014822" cy="3627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/>
              <a:t>점착되어 있는 벽</a:t>
            </a:r>
            <a:r>
              <a:rPr lang="en-US" altLang="ko-KR" sz="1200" dirty="0"/>
              <a:t>, </a:t>
            </a:r>
            <a:r>
              <a:rPr lang="ko-KR" altLang="en-US" sz="1200" dirty="0"/>
              <a:t>오브젝트가 폭발 범위만큼 파괴된다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F77E53EB-8B50-93E9-64AD-4228D7DF14AF}"/>
              </a:ext>
            </a:extLst>
          </p:cNvPr>
          <p:cNvSpPr/>
          <p:nvPr/>
        </p:nvSpPr>
        <p:spPr>
          <a:xfrm>
            <a:off x="4808179" y="3804666"/>
            <a:ext cx="28066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/>
              <a:t> </a:t>
            </a:r>
            <a:endParaRPr lang="en-US" sz="1200" dirty="0"/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02508A50-8300-3AD5-E617-B8A68C6A6146}"/>
              </a:ext>
            </a:extLst>
          </p:cNvPr>
          <p:cNvSpPr/>
          <p:nvPr/>
        </p:nvSpPr>
        <p:spPr>
          <a:xfrm>
            <a:off x="8454002" y="243205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ko-KR" altLang="en-US" sz="1500" b="1" dirty="0">
                <a:solidFill>
                  <a:srgbClr val="1F2937"/>
                </a:solidFill>
                <a:latin typeface="ui-sans-serif" pitchFamily="34" charset="0"/>
              </a:rPr>
              <a:t>정찰 갈매기</a:t>
            </a:r>
            <a:endParaRPr lang="en-US" sz="15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43FC6EC-6062-3DD4-1B9B-4650DF734D75}"/>
              </a:ext>
            </a:extLst>
          </p:cNvPr>
          <p:cNvSpPr txBox="1"/>
          <p:nvPr/>
        </p:nvSpPr>
        <p:spPr>
          <a:xfrm>
            <a:off x="5572542" y="609600"/>
            <a:ext cx="2190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밑에 예시 사진 추가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D951D79-DBF6-79AC-3A89-49CBC95DCC36}"/>
              </a:ext>
            </a:extLst>
          </p:cNvPr>
          <p:cNvSpPr txBox="1"/>
          <p:nvPr/>
        </p:nvSpPr>
        <p:spPr>
          <a:xfrm>
            <a:off x="9476333" y="60960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텍스트</a:t>
            </a:r>
            <a:r>
              <a:rPr lang="en-US" altLang="ko-KR" dirty="0"/>
              <a:t>, </a:t>
            </a:r>
            <a:r>
              <a:rPr lang="ko-KR" altLang="en-US" dirty="0"/>
              <a:t>아이콘 정리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73" y="1142998"/>
            <a:ext cx="3600000" cy="518217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149" y="1428749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592" y="1526633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149" y="3250696"/>
            <a:ext cx="3499798" cy="51196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2626" y="1142998"/>
            <a:ext cx="3600000" cy="518217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03114" y="1414925"/>
            <a:ext cx="476250" cy="4762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5514" y="1519700"/>
            <a:ext cx="1714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0851" y="1132112"/>
            <a:ext cx="3600000" cy="518217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5485" y="1424299"/>
            <a:ext cx="476250" cy="4762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4073" y="1529074"/>
            <a:ext cx="219075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0705" y="3250696"/>
            <a:ext cx="3400292" cy="2577517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재화 시스템 구조</a:t>
            </a:r>
            <a:endParaRPr lang="en-US" sz="2700" dirty="0"/>
          </a:p>
        </p:txBody>
      </p:sp>
      <p:sp>
        <p:nvSpPr>
          <p:cNvPr id="26" name="Text 5"/>
          <p:cNvSpPr/>
          <p:nvPr/>
        </p:nvSpPr>
        <p:spPr>
          <a:xfrm>
            <a:off x="5003998" y="1572639"/>
            <a:ext cx="822177" cy="3135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 err="1">
                <a:latin typeface="+mn-ea"/>
                <a:cs typeface="ui-sans-serif" pitchFamily="34" charset="-120"/>
              </a:rPr>
              <a:t>랩톤</a:t>
            </a:r>
            <a:endParaRPr lang="en-US" sz="2800" dirty="0">
              <a:latin typeface="+mn-ea"/>
            </a:endParaRPr>
          </a:p>
        </p:txBody>
      </p:sp>
      <p:sp>
        <p:nvSpPr>
          <p:cNvPr id="30" name="Text 9"/>
          <p:cNvSpPr/>
          <p:nvPr/>
        </p:nvSpPr>
        <p:spPr>
          <a:xfrm>
            <a:off x="8886369" y="1541171"/>
            <a:ext cx="73820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2800" b="1" dirty="0">
                <a:latin typeface="+mn-ea"/>
                <a:cs typeface="ui-sans-serif" pitchFamily="34" charset="-120"/>
              </a:rPr>
              <a:t>상점</a:t>
            </a:r>
            <a:endParaRPr lang="en-US" sz="28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8BB512-283A-4D85-26F4-6EC59F274D26}"/>
              </a:ext>
            </a:extLst>
          </p:cNvPr>
          <p:cNvSpPr txBox="1"/>
          <p:nvPr/>
        </p:nvSpPr>
        <p:spPr>
          <a:xfrm>
            <a:off x="370273" y="2374108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팀원 전체 자금 투자 </a:t>
            </a:r>
            <a:r>
              <a:rPr lang="en-US" altLang="ko-KR" dirty="0"/>
              <a:t>        </a:t>
            </a:r>
            <a:r>
              <a:rPr lang="ko-KR" altLang="en-US" dirty="0"/>
              <a:t>추가능력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391F43-370D-DB56-8EA1-E8941EAB2F12}"/>
              </a:ext>
            </a:extLst>
          </p:cNvPr>
          <p:cNvSpPr txBox="1"/>
          <p:nvPr/>
        </p:nvSpPr>
        <p:spPr>
          <a:xfrm>
            <a:off x="978382" y="1433021"/>
            <a:ext cx="9029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/>
              <a:t>펀딩</a:t>
            </a:r>
            <a:endParaRPr lang="ko-KR" altLang="en-US" sz="2800" b="1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DFCA6628-8FDF-4186-9F82-E2EDCAF00D6F}"/>
              </a:ext>
            </a:extLst>
          </p:cNvPr>
          <p:cNvSpPr/>
          <p:nvPr/>
        </p:nvSpPr>
        <p:spPr>
          <a:xfrm>
            <a:off x="2517938" y="2435240"/>
            <a:ext cx="32385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37F90F-5596-BBF3-4A22-B7A8423251D0}"/>
              </a:ext>
            </a:extLst>
          </p:cNvPr>
          <p:cNvSpPr txBox="1"/>
          <p:nvPr/>
        </p:nvSpPr>
        <p:spPr>
          <a:xfrm>
            <a:off x="566415" y="3329326"/>
            <a:ext cx="32077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공격력 증가 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총기 </a:t>
            </a:r>
            <a:r>
              <a:rPr lang="ko-KR" altLang="en-US" sz="1500" dirty="0" err="1">
                <a:latin typeface="+mn-ea"/>
              </a:rPr>
              <a:t>피해량</a:t>
            </a:r>
            <a:r>
              <a:rPr lang="ko-KR" altLang="en-US" sz="1500" dirty="0">
                <a:latin typeface="+mn-ea"/>
              </a:rPr>
              <a:t> 증가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pic>
        <p:nvPicPr>
          <p:cNvPr id="33" name="Image 6" descr="preencoded.png">
            <a:extLst>
              <a:ext uri="{FF2B5EF4-FFF2-40B4-BE49-F238E27FC236}">
                <a16:creationId xmlns:a16="http://schemas.microsoft.com/office/drawing/2014/main" id="{9DF66E85-5AA4-E453-A112-09F5AD0F3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149" y="3939213"/>
            <a:ext cx="3499798" cy="51196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7A77DFD-E17C-86ED-CB72-AB7CA401FB30}"/>
              </a:ext>
            </a:extLst>
          </p:cNvPr>
          <p:cNvSpPr txBox="1"/>
          <p:nvPr/>
        </p:nvSpPr>
        <p:spPr>
          <a:xfrm>
            <a:off x="431149" y="4017843"/>
            <a:ext cx="3499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방어력 증가 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받는 데미지 감소율 증가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pic>
        <p:nvPicPr>
          <p:cNvPr id="45" name="Image 6" descr="preencoded.png">
            <a:extLst>
              <a:ext uri="{FF2B5EF4-FFF2-40B4-BE49-F238E27FC236}">
                <a16:creationId xmlns:a16="http://schemas.microsoft.com/office/drawing/2014/main" id="{05298464-4D0B-DF96-6EE7-B5BA61C569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149" y="4627730"/>
            <a:ext cx="3499798" cy="51196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00DE6E8D-1615-8091-1ADF-18F4FB850A47}"/>
              </a:ext>
            </a:extLst>
          </p:cNvPr>
          <p:cNvSpPr txBox="1"/>
          <p:nvPr/>
        </p:nvSpPr>
        <p:spPr>
          <a:xfrm>
            <a:off x="431149" y="4706360"/>
            <a:ext cx="3499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장전속도 증가</a:t>
            </a:r>
          </a:p>
        </p:txBody>
      </p:sp>
      <p:pic>
        <p:nvPicPr>
          <p:cNvPr id="47" name="Image 6" descr="preencoded.png">
            <a:extLst>
              <a:ext uri="{FF2B5EF4-FFF2-40B4-BE49-F238E27FC236}">
                <a16:creationId xmlns:a16="http://schemas.microsoft.com/office/drawing/2014/main" id="{161DCD38-DA31-0589-5EB3-A0DEB604C4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149" y="5316247"/>
            <a:ext cx="3499798" cy="511966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DA225156-CA01-C685-82AE-E109D64F0065}"/>
              </a:ext>
            </a:extLst>
          </p:cNvPr>
          <p:cNvSpPr txBox="1"/>
          <p:nvPr/>
        </p:nvSpPr>
        <p:spPr>
          <a:xfrm>
            <a:off x="431149" y="5394877"/>
            <a:ext cx="349979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이동 속도 증가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B90EFD-53EF-3051-A29F-33A5F6C48569}"/>
              </a:ext>
            </a:extLst>
          </p:cNvPr>
          <p:cNvSpPr txBox="1"/>
          <p:nvPr/>
        </p:nvSpPr>
        <p:spPr>
          <a:xfrm>
            <a:off x="4259375" y="2358996"/>
            <a:ext cx="36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개인 자금 투자 </a:t>
            </a:r>
            <a:r>
              <a:rPr lang="en-US" altLang="ko-KR" dirty="0"/>
              <a:t>         </a:t>
            </a:r>
            <a:r>
              <a:rPr lang="ko-KR" altLang="en-US" dirty="0"/>
              <a:t>추가능력</a:t>
            </a:r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5D31F6DD-9792-8221-6339-F73BC4BB6D48}"/>
              </a:ext>
            </a:extLst>
          </p:cNvPr>
          <p:cNvSpPr/>
          <p:nvPr/>
        </p:nvSpPr>
        <p:spPr>
          <a:xfrm>
            <a:off x="5923300" y="2435240"/>
            <a:ext cx="323850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4" name="Image 10" descr="preencoded.png">
            <a:extLst>
              <a:ext uri="{FF2B5EF4-FFF2-40B4-BE49-F238E27FC236}">
                <a16:creationId xmlns:a16="http://schemas.microsoft.com/office/drawing/2014/main" id="{170807BB-FEDE-D97D-BF0D-B189853F176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7776" y="5209771"/>
            <a:ext cx="3509700" cy="1016542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799ECC98-F310-2C60-D106-2A666054A51F}"/>
              </a:ext>
            </a:extLst>
          </p:cNvPr>
          <p:cNvSpPr txBox="1"/>
          <p:nvPr/>
        </p:nvSpPr>
        <p:spPr>
          <a:xfrm>
            <a:off x="4259375" y="5260082"/>
            <a:ext cx="350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전투 관련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굴렁쇠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적 </a:t>
            </a:r>
            <a:r>
              <a:rPr lang="ko-KR" altLang="en-US" sz="1500" dirty="0" err="1">
                <a:latin typeface="+mn-ea"/>
              </a:rPr>
              <a:t>처치시</a:t>
            </a:r>
            <a:r>
              <a:rPr lang="ko-KR" altLang="en-US" sz="1500" dirty="0">
                <a:latin typeface="+mn-ea"/>
              </a:rPr>
              <a:t> 일정 시간 이동속도 증가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>
                <a:latin typeface="+mn-ea"/>
              </a:rPr>
              <a:t>견고한 자세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피격 시 받는 경직 효과 감소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>
                <a:latin typeface="+mn-ea"/>
              </a:rPr>
              <a:t>정조준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샷 정확도 향상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pic>
        <p:nvPicPr>
          <p:cNvPr id="56" name="Image 10" descr="preencoded.png">
            <a:extLst>
              <a:ext uri="{FF2B5EF4-FFF2-40B4-BE49-F238E27FC236}">
                <a16:creationId xmlns:a16="http://schemas.microsoft.com/office/drawing/2014/main" id="{A0169841-4458-7DED-95AF-0D4B2577F73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7776" y="4116404"/>
            <a:ext cx="3509700" cy="101654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3F81085-97C5-700F-BACE-7E71F3E13299}"/>
              </a:ext>
            </a:extLst>
          </p:cNvPr>
          <p:cNvSpPr txBox="1"/>
          <p:nvPr/>
        </p:nvSpPr>
        <p:spPr>
          <a:xfrm>
            <a:off x="4297776" y="4351545"/>
            <a:ext cx="3509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경제 관련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알뜰한 시작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라운드 시작 시 추가 재화 획득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>
                <a:latin typeface="+mn-ea"/>
              </a:rPr>
              <a:t>총기 할인</a:t>
            </a:r>
          </a:p>
        </p:txBody>
      </p:sp>
      <p:pic>
        <p:nvPicPr>
          <p:cNvPr id="58" name="Image 10" descr="preencoded.png">
            <a:extLst>
              <a:ext uri="{FF2B5EF4-FFF2-40B4-BE49-F238E27FC236}">
                <a16:creationId xmlns:a16="http://schemas.microsoft.com/office/drawing/2014/main" id="{3DD5E38C-164E-3374-0613-F8F7DD013E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97776" y="3000998"/>
            <a:ext cx="3509700" cy="1016542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7134ED65-EAB5-E63D-18BD-BB474D5B6469}"/>
              </a:ext>
            </a:extLst>
          </p:cNvPr>
          <p:cNvSpPr txBox="1"/>
          <p:nvPr/>
        </p:nvSpPr>
        <p:spPr>
          <a:xfrm>
            <a:off x="4168450" y="3109378"/>
            <a:ext cx="35097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dirty="0">
                <a:latin typeface="+mn-ea"/>
              </a:rPr>
              <a:t>생존 관련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자연 치유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폭발 방호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폭발로 부터 받는 피해 감소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>
                <a:latin typeface="+mn-ea"/>
              </a:rPr>
              <a:t>강철 피부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 err="1">
                <a:latin typeface="+mn-ea"/>
              </a:rPr>
              <a:t>방어구</a:t>
            </a:r>
            <a:r>
              <a:rPr lang="ko-KR" altLang="en-US" sz="1500" dirty="0">
                <a:latin typeface="+mn-ea"/>
              </a:rPr>
              <a:t> 내구도 증가</a:t>
            </a:r>
            <a:r>
              <a:rPr lang="en-US" altLang="ko-KR" sz="1500" dirty="0">
                <a:latin typeface="+mn-ea"/>
              </a:rPr>
              <a:t>)</a:t>
            </a:r>
            <a:endParaRPr lang="ko-KR" altLang="en-US" sz="1500" dirty="0"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BFD029-506D-833B-4039-7395FF69BC35}"/>
              </a:ext>
            </a:extLst>
          </p:cNvPr>
          <p:cNvSpPr txBox="1"/>
          <p:nvPr/>
        </p:nvSpPr>
        <p:spPr>
          <a:xfrm>
            <a:off x="8167600" y="2310095"/>
            <a:ext cx="3593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타 게임의 상점 시스템 사용</a:t>
            </a:r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  <a:r>
              <a:rPr lang="ko-KR" altLang="en-US" dirty="0" err="1"/>
              <a:t>발로란트</a:t>
            </a:r>
            <a:r>
              <a:rPr lang="en-US" altLang="ko-KR" dirty="0"/>
              <a:t>, </a:t>
            </a:r>
            <a:r>
              <a:rPr lang="ko-KR" altLang="en-US" dirty="0"/>
              <a:t>카스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21CC21-E6D2-2B29-82B3-EC2F777F7C08}"/>
              </a:ext>
            </a:extLst>
          </p:cNvPr>
          <p:cNvSpPr txBox="1"/>
          <p:nvPr/>
        </p:nvSpPr>
        <p:spPr>
          <a:xfrm>
            <a:off x="8285485" y="3833176"/>
            <a:ext cx="330644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총기류 </a:t>
            </a:r>
            <a:r>
              <a:rPr lang="en-US" altLang="ko-KR" sz="1500" dirty="0">
                <a:latin typeface="+mn-ea"/>
              </a:rPr>
              <a:t>: AR,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SR,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DMR,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SMG,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MG</a:t>
            </a: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장비류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방탄복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수류탄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화염병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 err="1">
                <a:latin typeface="+mn-ea"/>
              </a:rPr>
              <a:t>섬광탄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연막탄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해체키트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>
                <a:latin typeface="+mn-ea"/>
              </a:rPr>
              <a:t>특수장비류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방패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총알막이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>
                <a:latin typeface="+mn-ea"/>
              </a:rPr>
              <a:t>음파폭탄</a:t>
            </a:r>
            <a:r>
              <a:rPr lang="en-US" altLang="ko-KR" sz="1500" dirty="0">
                <a:latin typeface="+mn-ea"/>
              </a:rPr>
              <a:t>(</a:t>
            </a:r>
            <a:r>
              <a:rPr lang="ko-KR" altLang="en-US" sz="1500" dirty="0">
                <a:latin typeface="+mn-ea"/>
              </a:rPr>
              <a:t>일정 범위에 있는 적 식별 가능</a:t>
            </a:r>
            <a:r>
              <a:rPr lang="en-US" altLang="ko-KR" sz="1500" dirty="0">
                <a:latin typeface="+mn-ea"/>
              </a:rPr>
              <a:t>), </a:t>
            </a:r>
            <a:r>
              <a:rPr lang="ko-KR" altLang="en-US" sz="1500" dirty="0" err="1">
                <a:latin typeface="+mn-ea"/>
              </a:rPr>
              <a:t>드론</a:t>
            </a:r>
            <a:endParaRPr lang="en-US" altLang="ko-KR" sz="1500" dirty="0">
              <a:latin typeface="+mn-ea"/>
            </a:endParaRPr>
          </a:p>
          <a:p>
            <a:r>
              <a:rPr lang="en-US" altLang="ko-KR" sz="1500" dirty="0">
                <a:latin typeface="+mn-ea"/>
              </a:rPr>
              <a:t>- </a:t>
            </a:r>
            <a:r>
              <a:rPr lang="ko-KR" altLang="en-US" sz="1500" dirty="0" err="1">
                <a:latin typeface="+mn-ea"/>
              </a:rPr>
              <a:t>회복류</a:t>
            </a:r>
            <a:r>
              <a:rPr lang="ko-KR" altLang="en-US" sz="1500" dirty="0">
                <a:latin typeface="+mn-ea"/>
              </a:rPr>
              <a:t> </a:t>
            </a:r>
            <a:r>
              <a:rPr lang="en-US" altLang="ko-KR" sz="1500" dirty="0">
                <a:latin typeface="+mn-ea"/>
              </a:rPr>
              <a:t>: </a:t>
            </a:r>
            <a:r>
              <a:rPr lang="ko-KR" altLang="en-US" sz="1500" dirty="0">
                <a:latin typeface="+mn-ea"/>
              </a:rPr>
              <a:t>붕대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회복키트</a:t>
            </a:r>
            <a:r>
              <a:rPr lang="en-US" altLang="ko-KR" sz="1500" dirty="0">
                <a:latin typeface="+mn-ea"/>
              </a:rPr>
              <a:t>, </a:t>
            </a:r>
            <a:r>
              <a:rPr lang="ko-KR" altLang="en-US" sz="1500" dirty="0">
                <a:latin typeface="+mn-ea"/>
              </a:rPr>
              <a:t>드링크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7C1BFB58-2719-AA9F-CBAB-DF6B1CFD0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1430071-44C8-0AEA-1EF0-CA299FC0AE5C}"/>
              </a:ext>
            </a:extLst>
          </p:cNvPr>
          <p:cNvSpPr/>
          <p:nvPr/>
        </p:nvSpPr>
        <p:spPr>
          <a:xfrm>
            <a:off x="20101" y="2106310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6848B2B-A47D-91B3-05F2-7F063A620D43}"/>
              </a:ext>
            </a:extLst>
          </p:cNvPr>
          <p:cNvSpPr/>
          <p:nvPr/>
        </p:nvSpPr>
        <p:spPr>
          <a:xfrm>
            <a:off x="20101" y="3448869"/>
            <a:ext cx="6114760" cy="1085449"/>
          </a:xfrm>
          <a:prstGeom prst="rect">
            <a:avLst/>
          </a:prstGeom>
          <a:solidFill>
            <a:schemeClr val="bg1">
              <a:lumMod val="8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8E9721-EBDF-44F9-62EE-32C2ABFD4E06}"/>
              </a:ext>
            </a:extLst>
          </p:cNvPr>
          <p:cNvSpPr/>
          <p:nvPr/>
        </p:nvSpPr>
        <p:spPr>
          <a:xfrm>
            <a:off x="6134861" y="3435324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9DE3189-A0EB-847B-313F-810469AC9C0F}"/>
              </a:ext>
            </a:extLst>
          </p:cNvPr>
          <p:cNvSpPr/>
          <p:nvPr/>
        </p:nvSpPr>
        <p:spPr>
          <a:xfrm>
            <a:off x="6134861" y="2113737"/>
            <a:ext cx="6077240" cy="1085449"/>
          </a:xfrm>
          <a:prstGeom prst="rect">
            <a:avLst/>
          </a:prstGeom>
          <a:solidFill>
            <a:schemeClr val="bg1">
              <a:lumMod val="65000"/>
              <a:alpha val="4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D004DE9-267E-5F21-E68C-B34F59EDF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3324" y1="27007" x2="63324" y2="28175"/>
                        <a14:foregroundMark x1="30907" y1="32701" x2="30769" y2="39124"/>
                        <a14:foregroundMark x1="34890" y1="67445" x2="34890" y2="684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8072" y="2263218"/>
            <a:ext cx="820069" cy="771631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C42B20B7-B30E-54B3-5511-36A029837571}"/>
              </a:ext>
            </a:extLst>
          </p:cNvPr>
          <p:cNvSpPr txBox="1"/>
          <p:nvPr/>
        </p:nvSpPr>
        <p:spPr>
          <a:xfrm>
            <a:off x="2509958" y="2471795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Microsoft Windows 11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9" name="Picture 2" descr="microsoft visual studio2019 icon에 대한 이미지 검색결과">
            <a:extLst>
              <a:ext uri="{FF2B5EF4-FFF2-40B4-BE49-F238E27FC236}">
                <a16:creationId xmlns:a16="http://schemas.microsoft.com/office/drawing/2014/main" id="{AC64E882-565C-698C-A488-C0309EEA2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47" y="3629941"/>
            <a:ext cx="723304" cy="723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11">
            <a:extLst>
              <a:ext uri="{FF2B5EF4-FFF2-40B4-BE49-F238E27FC236}">
                <a16:creationId xmlns:a16="http://schemas.microsoft.com/office/drawing/2014/main" id="{19DD4166-0ECC-09F6-F7FD-6B14F8619CCA}"/>
              </a:ext>
            </a:extLst>
          </p:cNvPr>
          <p:cNvSpPr txBox="1"/>
          <p:nvPr/>
        </p:nvSpPr>
        <p:spPr>
          <a:xfrm>
            <a:off x="2509958" y="3806927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Visual Studio 2022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B80D03B-12C6-8EBF-C606-940F8F5802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4986" y1="33824" x2="44986" y2="33824"/>
                        <a14:foregroundMark x1="50678" y1="36029" x2="50678" y2="36029"/>
                        <a14:foregroundMark x1="50949" y1="52941" x2="50949" y2="52941"/>
                        <a14:foregroundMark x1="55285" y1="47794" x2="55285" y2="47794"/>
                        <a14:foregroundMark x1="65854" y1="48529" x2="65854" y2="48529"/>
                        <a14:foregroundMark x1="72087" y1="54412" x2="72087" y2="54412"/>
                        <a14:foregroundMark x1="82385" y1="47794" x2="82385" y2="4779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66299" y="2263218"/>
            <a:ext cx="2048140" cy="754870"/>
          </a:xfrm>
          <a:prstGeom prst="rect">
            <a:avLst/>
          </a:prstGeom>
        </p:spPr>
      </p:pic>
      <p:pic>
        <p:nvPicPr>
          <p:cNvPr id="17" name="그래픽 20">
            <a:extLst>
              <a:ext uri="{FF2B5EF4-FFF2-40B4-BE49-F238E27FC236}">
                <a16:creationId xmlns:a16="http://schemas.microsoft.com/office/drawing/2014/main" id="{24260225-6F4A-3428-48F2-EDEBB7A8342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766299" y="3475314"/>
            <a:ext cx="2132118" cy="877931"/>
          </a:xfrm>
          <a:prstGeom prst="rect">
            <a:avLst/>
          </a:prstGeom>
        </p:spPr>
      </p:pic>
      <p:sp>
        <p:nvSpPr>
          <p:cNvPr id="12" name="TextBox 21">
            <a:extLst>
              <a:ext uri="{FF2B5EF4-FFF2-40B4-BE49-F238E27FC236}">
                <a16:creationId xmlns:a16="http://schemas.microsoft.com/office/drawing/2014/main" id="{0322B2EA-F77A-988B-6CF3-AB528AA69449}"/>
              </a:ext>
            </a:extLst>
          </p:cNvPr>
          <p:cNvSpPr txBox="1"/>
          <p:nvPr/>
        </p:nvSpPr>
        <p:spPr>
          <a:xfrm>
            <a:off x="7905651" y="2464366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Git hub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5FFB9446-91D8-F3DB-9421-C977BE1D8B32}"/>
              </a:ext>
            </a:extLst>
          </p:cNvPr>
          <p:cNvSpPr txBox="1"/>
          <p:nvPr/>
        </p:nvSpPr>
        <p:spPr>
          <a:xfrm>
            <a:off x="7725412" y="3729613"/>
            <a:ext cx="2896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DirectX 12</a:t>
            </a:r>
            <a:endParaRPr lang="ko-KR" altLang="en-US" dirty="0"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8C167CC3-E0B0-E8C2-B81E-398B687B15C9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개발 환경</a:t>
            </a:r>
            <a:endParaRPr lang="en-US" sz="2700" dirty="0"/>
          </a:p>
        </p:txBody>
      </p:sp>
      <p:pic>
        <p:nvPicPr>
          <p:cNvPr id="26" name="Image 1" descr="preencoded.png">
            <a:extLst>
              <a:ext uri="{FF2B5EF4-FFF2-40B4-BE49-F238E27FC236}">
                <a16:creationId xmlns:a16="http://schemas.microsoft.com/office/drawing/2014/main" id="{0FCAE14C-C09A-A668-7635-49F3345791E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415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48EDF-F14E-CC3C-3CEB-B9DECB3E6E52}"/>
              </a:ext>
            </a:extLst>
          </p:cNvPr>
          <p:cNvSpPr txBox="1"/>
          <p:nvPr/>
        </p:nvSpPr>
        <p:spPr>
          <a:xfrm>
            <a:off x="3736428" y="1466193"/>
            <a:ext cx="26516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중점 연구과제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각자 맡은 파트 자세하게</a:t>
            </a:r>
            <a:endParaRPr lang="en-US" altLang="ko-KR" dirty="0"/>
          </a:p>
          <a:p>
            <a:r>
              <a:rPr lang="ko-KR" altLang="en-US" dirty="0"/>
              <a:t>들은 강의들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F9984FF-373E-BC9E-0AA7-29F591034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9291CDA-F090-3D29-B871-F822F6209F2A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중점 연구과제</a:t>
            </a:r>
            <a:endParaRPr lang="en-US" sz="2700" dirty="0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D072AAF-B34D-3684-019A-0729ECA2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6" name="Image 2" descr="preencoded.png">
            <a:extLst>
              <a:ext uri="{FF2B5EF4-FFF2-40B4-BE49-F238E27FC236}">
                <a16:creationId xmlns:a16="http://schemas.microsoft.com/office/drawing/2014/main" id="{9E2ADC4C-F41F-E1D5-6C8F-7BA78F775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" y="1783342"/>
            <a:ext cx="3447289" cy="47136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C8EB4B8-A392-FCE5-637B-446C0D6605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90" y="2189966"/>
            <a:ext cx="2652801" cy="3977260"/>
          </a:xfrm>
          <a:prstGeom prst="rect">
            <a:avLst/>
          </a:prstGeom>
        </p:spPr>
      </p:pic>
      <p:pic>
        <p:nvPicPr>
          <p:cNvPr id="13" name="Image 2" descr="preencoded.png">
            <a:extLst>
              <a:ext uri="{FF2B5EF4-FFF2-40B4-BE49-F238E27FC236}">
                <a16:creationId xmlns:a16="http://schemas.microsoft.com/office/drawing/2014/main" id="{2B66EA3C-12AF-B0CA-6D8C-E409740C6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62" y="1027547"/>
            <a:ext cx="3150229" cy="6324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78D0AC-D0E8-F4B7-938B-0B8D15080BFA}"/>
              </a:ext>
            </a:extLst>
          </p:cNvPr>
          <p:cNvSpPr txBox="1"/>
          <p:nvPr/>
        </p:nvSpPr>
        <p:spPr>
          <a:xfrm>
            <a:off x="704850" y="1881691"/>
            <a:ext cx="2879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부위별 피격 데미지 계산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E7988-5323-C95F-CC6A-98EA4A6AB92F}"/>
              </a:ext>
            </a:extLst>
          </p:cNvPr>
          <p:cNvSpPr txBox="1"/>
          <p:nvPr/>
        </p:nvSpPr>
        <p:spPr>
          <a:xfrm>
            <a:off x="375262" y="1167279"/>
            <a:ext cx="3058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더 정확한 피해 계산 </a:t>
            </a:r>
            <a:r>
              <a:rPr lang="en-US" altLang="ko-KR" dirty="0"/>
              <a:t>- </a:t>
            </a:r>
            <a:r>
              <a:rPr lang="ko-KR" altLang="en-US" dirty="0"/>
              <a:t>장윤서</a:t>
            </a:r>
          </a:p>
        </p:txBody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9B6500FB-5648-C589-0D63-D1817DD6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35" y="1783342"/>
            <a:ext cx="4600940" cy="47136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5BE65A5-D3B0-803B-551B-5D437D9C3C33}"/>
              </a:ext>
            </a:extLst>
          </p:cNvPr>
          <p:cNvSpPr txBox="1"/>
          <p:nvPr/>
        </p:nvSpPr>
        <p:spPr>
          <a:xfrm>
            <a:off x="4017183" y="1881690"/>
            <a:ext cx="2990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한건우 </a:t>
            </a:r>
            <a:r>
              <a:rPr lang="en-US" altLang="ko-KR" dirty="0"/>
              <a:t>– </a:t>
            </a:r>
            <a:r>
              <a:rPr lang="ko-KR" altLang="en-US" dirty="0"/>
              <a:t>실제와 유사한 캐릭터 움직임</a:t>
            </a:r>
            <a:r>
              <a:rPr lang="en-US" altLang="ko-KR" dirty="0"/>
              <a:t>, </a:t>
            </a:r>
            <a:r>
              <a:rPr lang="ko-KR" altLang="en-US" dirty="0"/>
              <a:t>오브젝트 충돌 처리 </a:t>
            </a:r>
            <a:r>
              <a:rPr lang="en-US" altLang="ko-KR" dirty="0"/>
              <a:t>(</a:t>
            </a:r>
            <a:r>
              <a:rPr lang="ko-KR" altLang="en-US" dirty="0"/>
              <a:t>이걸로 바꾸는 것도 괜찮을 듯 상효가 한 것처럼 우리 캐릭터들 디테일 살리는 쪽으로</a:t>
            </a:r>
            <a:r>
              <a:rPr lang="en-US" altLang="ko-KR" dirty="0"/>
              <a:t>), </a:t>
            </a:r>
            <a:r>
              <a:rPr lang="ko-KR" altLang="en-US" dirty="0"/>
              <a:t>이것만 있으면 너무 쉽다고 하면 소리 관련해서 </a:t>
            </a:r>
            <a:r>
              <a:rPr lang="ko-KR" altLang="en-US" dirty="0" err="1"/>
              <a:t>언급해볼듯</a:t>
            </a:r>
            <a:r>
              <a:rPr lang="ko-KR" altLang="en-US" dirty="0"/>
              <a:t> </a:t>
            </a:r>
            <a:r>
              <a:rPr lang="en-US" altLang="ko-KR" dirty="0"/>
              <a:t>FPS</a:t>
            </a:r>
            <a:r>
              <a:rPr lang="ko-KR" altLang="en-US" dirty="0"/>
              <a:t>에서 </a:t>
            </a:r>
            <a:r>
              <a:rPr lang="ko-KR" altLang="en-US" dirty="0" err="1"/>
              <a:t>사플</a:t>
            </a:r>
            <a:r>
              <a:rPr lang="ko-KR" altLang="en-US" dirty="0"/>
              <a:t> </a:t>
            </a:r>
            <a:r>
              <a:rPr lang="ko-KR" altLang="en-US" dirty="0" err="1"/>
              <a:t>중요하니깐</a:t>
            </a:r>
            <a:endParaRPr lang="ko-KR" altLang="en-US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EE4BEFAD-D244-CD4A-54F6-4ED99D8F6B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193" y="1783342"/>
            <a:ext cx="3447289" cy="47136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CD89A-7C63-5CF5-CCF0-EC81C70D663D}"/>
              </a:ext>
            </a:extLst>
          </p:cNvPr>
          <p:cNvSpPr txBox="1"/>
          <p:nvPr/>
        </p:nvSpPr>
        <p:spPr>
          <a:xfrm>
            <a:off x="8899597" y="1881691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투사체 </a:t>
            </a:r>
            <a:r>
              <a:rPr lang="ko-KR" altLang="en-US" dirty="0" err="1"/>
              <a:t>관통력</a:t>
            </a:r>
            <a:r>
              <a:rPr lang="ko-KR" altLang="en-US" dirty="0"/>
              <a:t> 구현</a:t>
            </a:r>
          </a:p>
        </p:txBody>
      </p:sp>
    </p:spTree>
    <p:extLst>
      <p:ext uri="{BB962C8B-B14F-4D97-AF65-F5344CB8AC3E}">
        <p14:creationId xmlns:p14="http://schemas.microsoft.com/office/powerpoint/2010/main" val="7208563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8D703-45E6-A639-AAA2-6F6543C25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6F5C6C-E410-8EA7-CE53-9C0E154ED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" y="7620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F569A21-6C57-B68F-C155-3C32AA69E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1A925A50-0F7B-73E1-F4E0-6E4D40B3F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1" y="1181100"/>
            <a:ext cx="3530352" cy="4953000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0442543-887C-7A44-BCE8-FEAAFCB17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1" y="1181100"/>
            <a:ext cx="3530352" cy="10287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18F63B6A-0D98-A8D9-AB16-9C347E16A3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501" y="1181100"/>
            <a:ext cx="3606850" cy="49530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34CA561B-95E7-A2B8-2EDA-7C8023E730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2501" y="1181100"/>
            <a:ext cx="3606850" cy="1028700"/>
          </a:xfrm>
          <a:prstGeom prst="rect">
            <a:avLst/>
          </a:prstGeom>
        </p:spPr>
      </p:pic>
      <p:pic>
        <p:nvPicPr>
          <p:cNvPr id="19" name="Image 17" descr="preencoded.png">
            <a:extLst>
              <a:ext uri="{FF2B5EF4-FFF2-40B4-BE49-F238E27FC236}">
                <a16:creationId xmlns:a16="http://schemas.microsoft.com/office/drawing/2014/main" id="{AB42A233-28B4-271A-F305-4F90508DAC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4150" y="1181100"/>
            <a:ext cx="3606701" cy="4953000"/>
          </a:xfrm>
          <a:prstGeom prst="rect">
            <a:avLst/>
          </a:prstGeom>
        </p:spPr>
      </p:pic>
      <p:pic>
        <p:nvPicPr>
          <p:cNvPr id="20" name="Image 18" descr="preencoded.png">
            <a:extLst>
              <a:ext uri="{FF2B5EF4-FFF2-40B4-BE49-F238E27FC236}">
                <a16:creationId xmlns:a16="http://schemas.microsoft.com/office/drawing/2014/main" id="{5E633318-69EC-C07D-E3EF-F2DF647D75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4150" y="1181100"/>
            <a:ext cx="3606701" cy="10287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4364E6F0-A666-14DF-6696-9B2AD4AC5887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개인별 준비 현황</a:t>
            </a:r>
            <a:endParaRPr lang="en-US" sz="27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27B7FEC6-9D68-7F18-8070-4CED468A7DBD}"/>
              </a:ext>
            </a:extLst>
          </p:cNvPr>
          <p:cNvSpPr/>
          <p:nvPr/>
        </p:nvSpPr>
        <p:spPr>
          <a:xfrm>
            <a:off x="1656616" y="1543050"/>
            <a:ext cx="1076855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ui-sans-serif" pitchFamily="34" charset="0"/>
              </a:rPr>
              <a:t>한건우</a:t>
            </a:r>
            <a:endParaRPr lang="en-US" sz="2500" dirty="0"/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62EA339B-99E5-64A0-051F-23DCEBACC8ED}"/>
              </a:ext>
            </a:extLst>
          </p:cNvPr>
          <p:cNvSpPr/>
          <p:nvPr/>
        </p:nvSpPr>
        <p:spPr>
          <a:xfrm>
            <a:off x="60960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29FAD4F-8228-E98C-FE93-C9D9DED97C3A}"/>
              </a:ext>
            </a:extLst>
          </p:cNvPr>
          <p:cNvSpPr/>
          <p:nvPr/>
        </p:nvSpPr>
        <p:spPr>
          <a:xfrm>
            <a:off x="838200" y="3505200"/>
            <a:ext cx="28066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/>
              <a:t> </a:t>
            </a:r>
            <a:endParaRPr lang="en-US" sz="12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FFD3EA2-D2CC-8301-2534-A48DA6799EC0}"/>
              </a:ext>
            </a:extLst>
          </p:cNvPr>
          <p:cNvSpPr/>
          <p:nvPr/>
        </p:nvSpPr>
        <p:spPr>
          <a:xfrm>
            <a:off x="723900" y="5410200"/>
            <a:ext cx="2920901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EEFDB936-51F9-7130-7CBF-95407BC05D32}"/>
              </a:ext>
            </a:extLst>
          </p:cNvPr>
          <p:cNvSpPr/>
          <p:nvPr/>
        </p:nvSpPr>
        <p:spPr>
          <a:xfrm>
            <a:off x="4635401" y="5600700"/>
            <a:ext cx="35052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BDF8838-8E22-B497-FD28-F9B9EA84724F}"/>
              </a:ext>
            </a:extLst>
          </p:cNvPr>
          <p:cNvSpPr/>
          <p:nvPr/>
        </p:nvSpPr>
        <p:spPr>
          <a:xfrm>
            <a:off x="8432750" y="2438400"/>
            <a:ext cx="31495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E4BEF79F-E424-36E3-12ED-E4D10FCE0405}"/>
              </a:ext>
            </a:extLst>
          </p:cNvPr>
          <p:cNvSpPr/>
          <p:nvPr/>
        </p:nvSpPr>
        <p:spPr>
          <a:xfrm>
            <a:off x="8699450" y="2819400"/>
            <a:ext cx="28828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662D525B-1F73-3E86-DA89-B2DD10C1926A}"/>
              </a:ext>
            </a:extLst>
          </p:cNvPr>
          <p:cNvSpPr/>
          <p:nvPr/>
        </p:nvSpPr>
        <p:spPr>
          <a:xfrm>
            <a:off x="8661350" y="3962400"/>
            <a:ext cx="27348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2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30C4F82-C310-EF9E-5555-367AEE2E3054}"/>
              </a:ext>
            </a:extLst>
          </p:cNvPr>
          <p:cNvSpPr/>
          <p:nvPr/>
        </p:nvSpPr>
        <p:spPr>
          <a:xfrm>
            <a:off x="8547050" y="5600700"/>
            <a:ext cx="3505081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EBB00E96-3161-5774-9B45-10CF099BFE2A}"/>
              </a:ext>
            </a:extLst>
          </p:cNvPr>
          <p:cNvSpPr/>
          <p:nvPr/>
        </p:nvSpPr>
        <p:spPr>
          <a:xfrm>
            <a:off x="8661350" y="3976878"/>
            <a:ext cx="29209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altLang="ko-KR" sz="1200" dirty="0">
                <a:solidFill>
                  <a:srgbClr val="374151"/>
                </a:solidFill>
                <a:latin typeface="ui-sans-serif" pitchFamily="34" charset="0"/>
              </a:rPr>
              <a:t>.</a:t>
            </a:r>
            <a:endParaRPr lang="en-US" sz="12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69C0089C-420D-B270-28D5-504E8AB7772B}"/>
              </a:ext>
            </a:extLst>
          </p:cNvPr>
          <p:cNvSpPr/>
          <p:nvPr/>
        </p:nvSpPr>
        <p:spPr>
          <a:xfrm>
            <a:off x="4808179" y="3804666"/>
            <a:ext cx="28066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ko-KR" altLang="en-US" sz="1200" dirty="0"/>
              <a:t> </a:t>
            </a:r>
            <a:endParaRPr lang="en-US" sz="12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5A3F9D4C-7F35-90D7-EB22-C727158F7B2C}"/>
              </a:ext>
            </a:extLst>
          </p:cNvPr>
          <p:cNvSpPr/>
          <p:nvPr/>
        </p:nvSpPr>
        <p:spPr>
          <a:xfrm>
            <a:off x="5557498" y="1561348"/>
            <a:ext cx="1076855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ui-sans-serif" pitchFamily="34" charset="0"/>
              </a:rPr>
              <a:t>장윤서</a:t>
            </a:r>
            <a:endParaRPr lang="en-US" sz="2500" dirty="0"/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1730FD16-4C17-E3FD-B09B-2192292B20AD}"/>
              </a:ext>
            </a:extLst>
          </p:cNvPr>
          <p:cNvSpPr/>
          <p:nvPr/>
        </p:nvSpPr>
        <p:spPr>
          <a:xfrm>
            <a:off x="9602422" y="1538245"/>
            <a:ext cx="1076855" cy="4381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2500" b="1" dirty="0">
                <a:solidFill>
                  <a:srgbClr val="FFFFFF"/>
                </a:solidFill>
                <a:latin typeface="ui-sans-serif" pitchFamily="34" charset="0"/>
              </a:rPr>
              <a:t>이수현</a:t>
            </a:r>
            <a:endParaRPr lang="en-US" sz="25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A153F08-D94D-EFDD-74F9-E1C5A353F213}"/>
              </a:ext>
            </a:extLst>
          </p:cNvPr>
          <p:cNvSpPr txBox="1"/>
          <p:nvPr/>
        </p:nvSpPr>
        <p:spPr>
          <a:xfrm>
            <a:off x="381000" y="3486150"/>
            <a:ext cx="3530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- C, C++</a:t>
            </a:r>
            <a:r>
              <a:rPr lang="ko-KR" altLang="en-US" dirty="0">
                <a:latin typeface="+mn-ea"/>
              </a:rPr>
              <a:t>프로그래밍</a:t>
            </a:r>
            <a:r>
              <a:rPr lang="en-US" altLang="ko-KR" dirty="0">
                <a:latin typeface="+mn-ea"/>
              </a:rPr>
              <a:t>, STL, </a:t>
            </a:r>
            <a:r>
              <a:rPr lang="ko-KR" altLang="en-US" dirty="0">
                <a:latin typeface="+mn-ea"/>
              </a:rPr>
              <a:t>자료구조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게임수학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알고리즘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3D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게임프로그래밍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1, 2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인공지능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네트워크 게임 프로그래밍</a:t>
            </a:r>
          </a:p>
        </p:txBody>
      </p:sp>
      <p:sp>
        <p:nvSpPr>
          <p:cNvPr id="53" name="Text 1">
            <a:extLst>
              <a:ext uri="{FF2B5EF4-FFF2-40B4-BE49-F238E27FC236}">
                <a16:creationId xmlns:a16="http://schemas.microsoft.com/office/drawing/2014/main" id="{2E902FA4-F9A3-A82E-4BE8-1CD8FE30B77F}"/>
              </a:ext>
            </a:extLst>
          </p:cNvPr>
          <p:cNvSpPr/>
          <p:nvPr/>
        </p:nvSpPr>
        <p:spPr>
          <a:xfrm>
            <a:off x="1135604" y="2853607"/>
            <a:ext cx="21049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3000" b="1">
                <a:solidFill>
                  <a:srgbClr val="002060"/>
                </a:solidFill>
                <a:latin typeface="ui-sans-serif" pitchFamily="34" charset="0"/>
              </a:rPr>
              <a:t>클라이언트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54" name="Text 1">
            <a:extLst>
              <a:ext uri="{FF2B5EF4-FFF2-40B4-BE49-F238E27FC236}">
                <a16:creationId xmlns:a16="http://schemas.microsoft.com/office/drawing/2014/main" id="{800749E4-7071-ED9B-0268-90F9EC24196C}"/>
              </a:ext>
            </a:extLst>
          </p:cNvPr>
          <p:cNvSpPr/>
          <p:nvPr/>
        </p:nvSpPr>
        <p:spPr>
          <a:xfrm>
            <a:off x="5159028" y="2876550"/>
            <a:ext cx="2104901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3000" b="1">
                <a:solidFill>
                  <a:srgbClr val="002060"/>
                </a:solidFill>
                <a:latin typeface="ui-sans-serif" pitchFamily="34" charset="0"/>
              </a:rPr>
              <a:t>클라이언트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55" name="Text 1">
            <a:extLst>
              <a:ext uri="{FF2B5EF4-FFF2-40B4-BE49-F238E27FC236}">
                <a16:creationId xmlns:a16="http://schemas.microsoft.com/office/drawing/2014/main" id="{D3F42E20-0E7F-AFB0-67F5-24358B75E19D}"/>
              </a:ext>
            </a:extLst>
          </p:cNvPr>
          <p:cNvSpPr/>
          <p:nvPr/>
        </p:nvSpPr>
        <p:spPr>
          <a:xfrm>
            <a:off x="9618851" y="2846295"/>
            <a:ext cx="777298" cy="4000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ko-KR" altLang="en-US" sz="3000" b="1" dirty="0">
                <a:solidFill>
                  <a:srgbClr val="002060"/>
                </a:solidFill>
                <a:latin typeface="ui-sans-serif" pitchFamily="34" charset="0"/>
              </a:rPr>
              <a:t>서버</a:t>
            </a:r>
            <a:endParaRPr lang="en-US" sz="3000" dirty="0">
              <a:solidFill>
                <a:srgbClr val="00206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8B7555A-6365-D108-539A-E5AEF9A79125}"/>
              </a:ext>
            </a:extLst>
          </p:cNvPr>
          <p:cNvSpPr txBox="1"/>
          <p:nvPr/>
        </p:nvSpPr>
        <p:spPr>
          <a:xfrm>
            <a:off x="8242251" y="3429000"/>
            <a:ext cx="356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- C, C++</a:t>
            </a:r>
            <a:r>
              <a:rPr lang="ko-KR" altLang="en-US" dirty="0">
                <a:latin typeface="+mn-ea"/>
              </a:rPr>
              <a:t>프로그래밍</a:t>
            </a:r>
            <a:r>
              <a:rPr lang="en-US" altLang="ko-KR" dirty="0">
                <a:latin typeface="+mn-ea"/>
              </a:rPr>
              <a:t>, STL, </a:t>
            </a:r>
            <a:r>
              <a:rPr lang="ko-KR" altLang="en-US" dirty="0">
                <a:latin typeface="+mn-ea"/>
              </a:rPr>
              <a:t>자료구조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게임수학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알고리즘</a:t>
            </a:r>
            <a:r>
              <a:rPr lang="en-US" altLang="ko-KR" dirty="0">
                <a:latin typeface="+mn-ea"/>
              </a:rPr>
              <a:t>, 2D</a:t>
            </a:r>
            <a:r>
              <a:rPr lang="ko-KR" altLang="en-US" dirty="0">
                <a:latin typeface="+mn-ea"/>
              </a:rPr>
              <a:t>게임프로그래밍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운영체제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데이터베이스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인공지능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네트워크 게임 프로그래밍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게임서버프로그래밍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dirty="0" err="1">
                <a:highlight>
                  <a:srgbClr val="FFFF00"/>
                </a:highlight>
                <a:latin typeface="+mn-ea"/>
              </a:rPr>
              <a:t>멀티코어프로그래밍</a:t>
            </a:r>
            <a:endParaRPr lang="ko-KR" altLang="en-US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7909DB-C693-EC5D-CB44-D37998F728BC}"/>
              </a:ext>
            </a:extLst>
          </p:cNvPr>
          <p:cNvSpPr txBox="1"/>
          <p:nvPr/>
        </p:nvSpPr>
        <p:spPr>
          <a:xfrm>
            <a:off x="4330749" y="3428821"/>
            <a:ext cx="35303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</a:rPr>
              <a:t>- C, C++</a:t>
            </a:r>
            <a:r>
              <a:rPr lang="ko-KR" altLang="en-US" dirty="0">
                <a:latin typeface="+mn-ea"/>
              </a:rPr>
              <a:t>프로그래밍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게임수학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이산수학</a:t>
            </a:r>
            <a:r>
              <a:rPr lang="en-US" altLang="ko-KR" dirty="0">
                <a:latin typeface="+mn-ea"/>
              </a:rPr>
              <a:t>, 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2D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게임프로그래밍</a:t>
            </a:r>
            <a:r>
              <a:rPr lang="en-US" altLang="ko-KR" dirty="0"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00"/>
                </a:highlight>
                <a:latin typeface="+mn-ea"/>
              </a:rPr>
              <a:t>컴퓨터그래픽스</a:t>
            </a:r>
            <a:r>
              <a:rPr lang="ko-KR" altLang="en-US" dirty="0">
                <a:highlight>
                  <a:srgbClr val="FFFF00"/>
                </a:highlight>
                <a:latin typeface="+mn-ea"/>
              </a:rPr>
              <a:t> </a:t>
            </a:r>
            <a:endParaRPr lang="en-US" altLang="ko-KR" dirty="0">
              <a:highlight>
                <a:srgbClr val="FFFF00"/>
              </a:highlight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인공지능</a:t>
            </a:r>
            <a:endParaRPr lang="en-US" altLang="ko-KR" dirty="0">
              <a:latin typeface="+mn-ea"/>
            </a:endParaRPr>
          </a:p>
          <a:p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네트워크 게임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365981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997F7E7-9F73-268D-4A9C-70AD1AFF8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7CAFFAC-4879-D3CE-893C-FB64FFA11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51" y="1499859"/>
            <a:ext cx="11601450" cy="486727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CC98A578-FB0D-73F3-2DDC-258C2DD31643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ko-KR" altLang="en-US" sz="2700" b="1" dirty="0">
                <a:solidFill>
                  <a:srgbClr val="1F2937"/>
                </a:solidFill>
                <a:latin typeface="ui-sans-serif" pitchFamily="34" charset="0"/>
              </a:rPr>
              <a:t>일정</a:t>
            </a:r>
            <a:endParaRPr lang="en-US" sz="27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E68C1D9-1A7F-25B4-9765-0E786435E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838200"/>
            <a:ext cx="914400" cy="381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4A1761-03AA-1E56-914D-E266C91DDEC3}"/>
              </a:ext>
            </a:extLst>
          </p:cNvPr>
          <p:cNvSpPr txBox="1"/>
          <p:nvPr/>
        </p:nvSpPr>
        <p:spPr>
          <a:xfrm>
            <a:off x="4305300" y="762000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이거 예쁘게 </a:t>
            </a:r>
            <a:r>
              <a:rPr lang="ko-KR" altLang="en-US" dirty="0" err="1"/>
              <a:t>만들어야함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183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781</TotalTime>
  <Words>950</Words>
  <Application>Microsoft Office PowerPoint</Application>
  <PresentationFormat>와이드스크린</PresentationFormat>
  <Paragraphs>176</Paragraphs>
  <Slides>15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ui-sans-serif</vt:lpstr>
      <vt:lpstr>나눔스퀘어 ExtraBold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이수현(2019182027)</cp:lastModifiedBy>
  <cp:revision>31</cp:revision>
  <dcterms:created xsi:type="dcterms:W3CDTF">2025-11-12T03:30:23Z</dcterms:created>
  <dcterms:modified xsi:type="dcterms:W3CDTF">2025-12-19T09:25:21Z</dcterms:modified>
</cp:coreProperties>
</file>