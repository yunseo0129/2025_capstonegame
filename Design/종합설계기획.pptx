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1" r:id="rId6"/>
    <p:sldId id="262" r:id="rId7"/>
    <p:sldId id="267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6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2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image" Target="../media/image6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8.png"/><Relationship Id="rId18" Type="http://schemas.openxmlformats.org/officeDocument/2006/relationships/image" Target="../media/image62.png"/><Relationship Id="rId26" Type="http://schemas.openxmlformats.org/officeDocument/2006/relationships/image" Target="../media/image70.png"/><Relationship Id="rId3" Type="http://schemas.openxmlformats.org/officeDocument/2006/relationships/image" Target="../media/image5.png"/><Relationship Id="rId21" Type="http://schemas.openxmlformats.org/officeDocument/2006/relationships/image" Target="../media/image65.png"/><Relationship Id="rId7" Type="http://schemas.openxmlformats.org/officeDocument/2006/relationships/image" Target="../media/image17.png"/><Relationship Id="rId12" Type="http://schemas.openxmlformats.org/officeDocument/2006/relationships/image" Target="../media/image57.png"/><Relationship Id="rId17" Type="http://schemas.openxmlformats.org/officeDocument/2006/relationships/image" Target="../media/image61.png"/><Relationship Id="rId25" Type="http://schemas.openxmlformats.org/officeDocument/2006/relationships/image" Target="../media/image69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29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45.png"/><Relationship Id="rId24" Type="http://schemas.openxmlformats.org/officeDocument/2006/relationships/image" Target="../media/image68.png"/><Relationship Id="rId5" Type="http://schemas.openxmlformats.org/officeDocument/2006/relationships/image" Target="../media/image53.png"/><Relationship Id="rId15" Type="http://schemas.openxmlformats.org/officeDocument/2006/relationships/image" Target="../media/image42.png"/><Relationship Id="rId23" Type="http://schemas.openxmlformats.org/officeDocument/2006/relationships/image" Target="../media/image67.png"/><Relationship Id="rId28" Type="http://schemas.openxmlformats.org/officeDocument/2006/relationships/image" Target="../media/image72.png"/><Relationship Id="rId10" Type="http://schemas.openxmlformats.org/officeDocument/2006/relationships/image" Target="../media/image56.png"/><Relationship Id="rId19" Type="http://schemas.openxmlformats.org/officeDocument/2006/relationships/image" Target="../media/image63.png"/><Relationship Id="rId4" Type="http://schemas.openxmlformats.org/officeDocument/2006/relationships/image" Target="../media/image6.png"/><Relationship Id="rId9" Type="http://schemas.openxmlformats.org/officeDocument/2006/relationships/image" Target="../media/image55.png"/><Relationship Id="rId14" Type="http://schemas.openxmlformats.org/officeDocument/2006/relationships/image" Target="../media/image59.png"/><Relationship Id="rId22" Type="http://schemas.openxmlformats.org/officeDocument/2006/relationships/image" Target="../media/image66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18" Type="http://schemas.openxmlformats.org/officeDocument/2006/relationships/image" Target="../media/image88.png"/><Relationship Id="rId26" Type="http://schemas.openxmlformats.org/officeDocument/2006/relationships/image" Target="../media/image96.png"/><Relationship Id="rId3" Type="http://schemas.openxmlformats.org/officeDocument/2006/relationships/image" Target="../media/image5.png"/><Relationship Id="rId21" Type="http://schemas.openxmlformats.org/officeDocument/2006/relationships/image" Target="../media/image91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17" Type="http://schemas.openxmlformats.org/officeDocument/2006/relationships/image" Target="../media/image87.png"/><Relationship Id="rId25" Type="http://schemas.openxmlformats.org/officeDocument/2006/relationships/image" Target="../media/image95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6.png"/><Relationship Id="rId20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24" Type="http://schemas.openxmlformats.org/officeDocument/2006/relationships/image" Target="../media/image94.png"/><Relationship Id="rId5" Type="http://schemas.openxmlformats.org/officeDocument/2006/relationships/image" Target="../media/image75.png"/><Relationship Id="rId15" Type="http://schemas.openxmlformats.org/officeDocument/2006/relationships/image" Target="../media/image85.png"/><Relationship Id="rId23" Type="http://schemas.openxmlformats.org/officeDocument/2006/relationships/image" Target="../media/image93.png"/><Relationship Id="rId10" Type="http://schemas.openxmlformats.org/officeDocument/2006/relationships/image" Target="../media/image80.png"/><Relationship Id="rId19" Type="http://schemas.openxmlformats.org/officeDocument/2006/relationships/image" Target="../media/image89.png"/><Relationship Id="rId4" Type="http://schemas.openxmlformats.org/officeDocument/2006/relationships/image" Target="../media/image6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Relationship Id="rId22" Type="http://schemas.openxmlformats.org/officeDocument/2006/relationships/image" Target="../media/image9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105.png"/><Relationship Id="rId18" Type="http://schemas.openxmlformats.org/officeDocument/2006/relationships/image" Target="../media/image110.png"/><Relationship Id="rId3" Type="http://schemas.openxmlformats.org/officeDocument/2006/relationships/image" Target="../media/image97.png"/><Relationship Id="rId21" Type="http://schemas.openxmlformats.org/officeDocument/2006/relationships/image" Target="../media/image113.png"/><Relationship Id="rId7" Type="http://schemas.openxmlformats.org/officeDocument/2006/relationships/image" Target="../media/image17.png"/><Relationship Id="rId12" Type="http://schemas.openxmlformats.org/officeDocument/2006/relationships/image" Target="../media/image104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08.png"/><Relationship Id="rId20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11" Type="http://schemas.openxmlformats.org/officeDocument/2006/relationships/image" Target="../media/image103.png"/><Relationship Id="rId5" Type="http://schemas.openxmlformats.org/officeDocument/2006/relationships/image" Target="../media/image98.png"/><Relationship Id="rId15" Type="http://schemas.openxmlformats.org/officeDocument/2006/relationships/image" Target="../media/image107.png"/><Relationship Id="rId10" Type="http://schemas.openxmlformats.org/officeDocument/2006/relationships/image" Target="../media/image102.png"/><Relationship Id="rId19" Type="http://schemas.openxmlformats.org/officeDocument/2006/relationships/image" Target="../media/image111.png"/><Relationship Id="rId4" Type="http://schemas.openxmlformats.org/officeDocument/2006/relationships/image" Target="../media/image6.png"/><Relationship Id="rId9" Type="http://schemas.openxmlformats.org/officeDocument/2006/relationships/image" Target="../media/image101.png"/><Relationship Id="rId14" Type="http://schemas.openxmlformats.org/officeDocument/2006/relationships/image" Target="../media/image10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714500"/>
            <a:ext cx="5334000" cy="4305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714500"/>
            <a:ext cx="5334000" cy="109258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3320856"/>
            <a:ext cx="5334000" cy="1092588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4870644"/>
            <a:ext cx="5334000" cy="1092588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 5대5 FPS 게임 프로젝트</a:t>
            </a:r>
            <a:endParaRPr lang="en-US" sz="1500" dirty="0"/>
          </a:p>
        </p:txBody>
      </p:sp>
      <p:sp>
        <p:nvSpPr>
          <p:cNvPr id="26" name="Text 12"/>
          <p:cNvSpPr/>
          <p:nvPr/>
        </p:nvSpPr>
        <p:spPr>
          <a:xfrm>
            <a:off x="10822781" y="6477000"/>
            <a:ext cx="9115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 / 9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569E26-B26A-F096-0D64-D26A5094E100}"/>
              </a:ext>
            </a:extLst>
          </p:cNvPr>
          <p:cNvSpPr txBox="1"/>
          <p:nvPr/>
        </p:nvSpPr>
        <p:spPr>
          <a:xfrm>
            <a:off x="2757268" y="280708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</a:t>
            </a:r>
            <a:r>
              <a:rPr lang="ko-KR" altLang="en-US"/>
              <a:t>이름 및 대표 사진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E02CDF-7D5E-D866-418D-6FCAC08BED77}"/>
              </a:ext>
            </a:extLst>
          </p:cNvPr>
          <p:cNvSpPr txBox="1"/>
          <p:nvPr/>
        </p:nvSpPr>
        <p:spPr>
          <a:xfrm>
            <a:off x="6441646" y="2090164"/>
            <a:ext cx="3449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각자 이름 및 맡은 파트 간략하게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방식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 / 9</a:t>
            </a: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0893" y="2726101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mefront (video game) - Wikipedia">
            <a:extLst>
              <a:ext uri="{FF2B5EF4-FFF2-40B4-BE49-F238E27FC236}">
                <a16:creationId xmlns:a16="http://schemas.microsoft.com/office/drawing/2014/main" id="{4BBDFDF9-8A57-94CB-B8F8-B75F47B85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0542" y="2726101"/>
            <a:ext cx="2079887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5689208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5699876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3311471" y="5502209"/>
            <a:ext cx="1481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북한의 미국침공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6626248" y="5492234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759591" cy="5600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1104901"/>
            <a:ext cx="7357840" cy="48791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2608" y="1280160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635" y="1257300"/>
            <a:ext cx="200025" cy="228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6060246"/>
            <a:ext cx="7289409" cy="645354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6907" y="1981200"/>
            <a:ext cx="6308773" cy="3849272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973017" y="1219200"/>
            <a:ext cx="2980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주요 이벤트 타임라인</a:t>
            </a:r>
            <a:endParaRPr lang="en-US" sz="1800" dirty="0"/>
          </a:p>
        </p:txBody>
      </p:sp>
      <p:sp>
        <p:nvSpPr>
          <p:cNvPr id="26" name="Text 14"/>
          <p:cNvSpPr/>
          <p:nvPr/>
        </p:nvSpPr>
        <p:spPr>
          <a:xfrm>
            <a:off x="607635" y="1714500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1월</a:t>
            </a:r>
            <a:endParaRPr lang="en-US" sz="1350" dirty="0">
              <a:latin typeface="+mn-ea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607635" y="19812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북한 당대회</a:t>
            </a:r>
            <a:endParaRPr lang="en-US" sz="1200" dirty="0">
              <a:latin typeface="+mn-ea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11468844" y="69723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 / 9</a:t>
            </a:r>
            <a:endParaRPr lang="en-US" sz="1200" dirty="0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8A817A70-899B-C94A-6D9B-196B2FE14EB9}"/>
              </a:ext>
            </a:extLst>
          </p:cNvPr>
          <p:cNvSpPr/>
          <p:nvPr/>
        </p:nvSpPr>
        <p:spPr>
          <a:xfrm>
            <a:off x="598065" y="2562225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2</a:t>
            </a:r>
            <a:r>
              <a:rPr lang="ko-KR" alt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월</a:t>
            </a:r>
            <a:endParaRPr lang="en-US" sz="1350" dirty="0">
              <a:latin typeface="+mn-ea"/>
            </a:endParaRPr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0A0F76C4-1B52-39A6-CC0D-809F8BC5DB80}"/>
              </a:ext>
            </a:extLst>
          </p:cNvPr>
          <p:cNvSpPr/>
          <p:nvPr/>
        </p:nvSpPr>
        <p:spPr>
          <a:xfrm>
            <a:off x="598065" y="2828925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동계 올림픽</a:t>
            </a:r>
            <a:endParaRPr lang="en-US" sz="1200" dirty="0">
              <a:latin typeface="+mn-ea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07635" y="342167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07635" y="36883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200" dirty="0">
              <a:latin typeface="+mn-ea"/>
            </a:endParaRPr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1304C930-4F2A-035A-60C7-FCD02ADC4251}"/>
              </a:ext>
            </a:extLst>
          </p:cNvPr>
          <p:cNvSpPr/>
          <p:nvPr/>
        </p:nvSpPr>
        <p:spPr>
          <a:xfrm>
            <a:off x="598065" y="427452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6~7월</a:t>
            </a:r>
            <a:endParaRPr lang="en-US" sz="1350" dirty="0">
              <a:latin typeface="+mn-ea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0B744ACC-791C-C63F-802B-8B33E065A6F2}"/>
              </a:ext>
            </a:extLst>
          </p:cNvPr>
          <p:cNvSpPr/>
          <p:nvPr/>
        </p:nvSpPr>
        <p:spPr>
          <a:xfrm>
            <a:off x="598065" y="45412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월드컵</a:t>
            </a:r>
            <a:endParaRPr lang="en-US" sz="1200" dirty="0">
              <a:latin typeface="+mn-ea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0CEAED08-B041-232A-930D-02D30E023119}"/>
              </a:ext>
            </a:extLst>
          </p:cNvPr>
          <p:cNvSpPr/>
          <p:nvPr/>
        </p:nvSpPr>
        <p:spPr>
          <a:xfrm>
            <a:off x="608146" y="514467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9~10월</a:t>
            </a:r>
            <a:endParaRPr lang="en-US" sz="1350" dirty="0">
              <a:latin typeface="+mn-ea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3B3EB3A4-C600-0BB1-5841-D8685951791B}"/>
              </a:ext>
            </a:extLst>
          </p:cNvPr>
          <p:cNvSpPr/>
          <p:nvPr/>
        </p:nvSpPr>
        <p:spPr>
          <a:xfrm>
            <a:off x="608146" y="54113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아시안 게임</a:t>
            </a:r>
            <a:endParaRPr lang="en-US" sz="12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608146" y="5984044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08146" y="625074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2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전쟁에 대한 긴장감 고조</a:t>
            </a: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6302E855-E59E-B998-0819-B8F9B2BB362E}"/>
              </a:ext>
            </a:extLst>
          </p:cNvPr>
          <p:cNvSpPr/>
          <p:nvPr/>
        </p:nvSpPr>
        <p:spPr>
          <a:xfrm>
            <a:off x="59806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활약한 선수 및 종목에 대한 관심 증가</a:t>
            </a: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BB4FC00E-4C50-4DD0-3FD5-EDD88678E3DA}"/>
              </a:ext>
            </a:extLst>
          </p:cNvPr>
          <p:cNvSpPr/>
          <p:nvPr/>
        </p:nvSpPr>
        <p:spPr>
          <a:xfrm>
            <a:off x="607635" y="3911843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가짜 뉴스 증가</a:t>
            </a:r>
            <a:endParaRPr lang="en-US" sz="1200" dirty="0">
              <a:latin typeface="+mn-ea"/>
            </a:endParaRPr>
          </a:p>
        </p:txBody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5BAD8CE9-CBDF-D55B-32E0-7908EE8E8D9C}"/>
              </a:ext>
            </a:extLst>
          </p:cNvPr>
          <p:cNvSpPr/>
          <p:nvPr/>
        </p:nvSpPr>
        <p:spPr>
          <a:xfrm>
            <a:off x="598065" y="47625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축구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및 선수에 대한 관심 증가</a:t>
            </a:r>
            <a:endParaRPr lang="en-US" sz="1200" dirty="0">
              <a:latin typeface="+mn-ea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E3A3B866-6576-E44F-1265-20A17613A4AE}"/>
              </a:ext>
            </a:extLst>
          </p:cNvPr>
          <p:cNvSpPr/>
          <p:nvPr/>
        </p:nvSpPr>
        <p:spPr>
          <a:xfrm>
            <a:off x="607635" y="56461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활약한 선수 및 종목에 대한 관심 증가</a:t>
            </a:r>
            <a:endParaRPr lang="en-US" altLang="ko-KR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25A26E3D-7661-DC90-8F0C-C8667550AA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5716" y="6307897"/>
            <a:ext cx="228600" cy="228600"/>
          </a:xfrm>
          <a:prstGeom prst="rect">
            <a:avLst/>
          </a:prstGeom>
        </p:spPr>
      </p:pic>
      <p:sp>
        <p:nvSpPr>
          <p:cNvPr id="73" name="Text 1">
            <a:extLst>
              <a:ext uri="{FF2B5EF4-FFF2-40B4-BE49-F238E27FC236}">
                <a16:creationId xmlns:a16="http://schemas.microsoft.com/office/drawing/2014/main" id="{156D56A8-EB85-0AC0-3C6F-952791EA3DE4}"/>
              </a:ext>
            </a:extLst>
          </p:cNvPr>
          <p:cNvSpPr/>
          <p:nvPr/>
        </p:nvSpPr>
        <p:spPr>
          <a:xfrm>
            <a:off x="5028616" y="6269797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핵심 키워드</a:t>
            </a:r>
            <a:endParaRPr lang="en-US" sz="1800" dirty="0"/>
          </a:p>
        </p:txBody>
      </p:sp>
      <p:sp>
        <p:nvSpPr>
          <p:cNvPr id="77" name="Text 1">
            <a:extLst>
              <a:ext uri="{FF2B5EF4-FFF2-40B4-BE49-F238E27FC236}">
                <a16:creationId xmlns:a16="http://schemas.microsoft.com/office/drawing/2014/main" id="{07F6D7BB-48C2-1BA0-F1A5-20C3F56256AD}"/>
              </a:ext>
            </a:extLst>
          </p:cNvPr>
          <p:cNvSpPr/>
          <p:nvPr/>
        </p:nvSpPr>
        <p:spPr>
          <a:xfrm>
            <a:off x="7743374" y="6263935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전쟁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미국 중국</a:t>
            </a:r>
            <a:endParaRPr lang="en-US" sz="1800" dirty="0"/>
          </a:p>
        </p:txBody>
      </p:sp>
      <p:sp>
        <p:nvSpPr>
          <p:cNvPr id="78" name="Text 1">
            <a:extLst>
              <a:ext uri="{FF2B5EF4-FFF2-40B4-BE49-F238E27FC236}">
                <a16:creationId xmlns:a16="http://schemas.microsoft.com/office/drawing/2014/main" id="{42DEE404-9C1E-A08D-1DC9-50A0DCC624F4}"/>
              </a:ext>
            </a:extLst>
          </p:cNvPr>
          <p:cNvSpPr/>
          <p:nvPr/>
        </p:nvSpPr>
        <p:spPr>
          <a:xfrm>
            <a:off x="5756836" y="2430268"/>
            <a:ext cx="3840480" cy="271440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당대회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전국 동시지방선거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미국중간선거를 분석하여 키워드를 </a:t>
            </a:r>
            <a:r>
              <a:rPr lang="ko-KR" altLang="en-US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뽑아낼때의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근거 정리</a:t>
            </a: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endParaRPr lang="en-US" altLang="ko-KR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혐오 시위 등 현상</a:t>
            </a:r>
            <a:endParaRPr lang="en-US" altLang="ko-KR" sz="18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</a:rPr>
              <a:t>구글 트렌드의 검색어 통계 현황</a:t>
            </a:r>
            <a:endParaRPr lang="en-US" altLang="ko-KR" b="1" dirty="0">
              <a:solidFill>
                <a:srgbClr val="1F2937"/>
              </a:solidFill>
              <a:latin typeface="ui-sans-serif" pitchFamily="34" charset="0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</a:rPr>
              <a:t>등등의 키워드가 저렇게 나온 이유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657600" cy="1943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371600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736481"/>
            <a:ext cx="3200400" cy="112101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3127131"/>
            <a:ext cx="3657600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650" y="3393831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736731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1833" y="4062340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4845" y="1103435"/>
            <a:ext cx="7543800" cy="232556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3445" y="1370135"/>
            <a:ext cx="142875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03445" y="1713035"/>
            <a:ext cx="3543300" cy="1828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26680" y="1433880"/>
            <a:ext cx="3855720" cy="1751134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6053" y="6104793"/>
            <a:ext cx="114300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장르 선택 근거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009650" y="1333500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800100" y="1926981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800100" y="2218006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 네이티브 세대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0100" y="2446606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33450" y="3355731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2024년 한국콘텐츠진흥원 실태조사 결과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4960620" y="1332035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7879080" y="1586280"/>
            <a:ext cx="3509138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374151"/>
                </a:solidFill>
                <a:latin typeface="ui-sans-serif" pitchFamily="34" charset="0"/>
              </a:rPr>
              <a:t>배틀그라운드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7879080" y="1891080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533400" y="621616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결론: Z세대가 즐겨하는 장르이면서 시장 점유율 also 높은 FPS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장르를</a:t>
            </a: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선택</a:t>
            </a:r>
            <a:r>
              <a:rPr lang="ko-KR" alt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하였다</a:t>
            </a:r>
            <a:endParaRPr lang="en-US" sz="1350" dirty="0"/>
          </a:p>
        </p:txBody>
      </p:sp>
      <p:sp>
        <p:nvSpPr>
          <p:cNvPr id="30" name="Text 14"/>
          <p:cNvSpPr/>
          <p:nvPr/>
        </p:nvSpPr>
        <p:spPr>
          <a:xfrm>
            <a:off x="11468844" y="66675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 / 9</a:t>
            </a:r>
            <a:endParaRPr lang="en-US" sz="12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1210264" y="4107180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D31FF53C-966D-A7C6-E431-5471CCBFF302}"/>
              </a:ext>
            </a:extLst>
          </p:cNvPr>
          <p:cNvSpPr/>
          <p:nvPr/>
        </p:nvSpPr>
        <p:spPr>
          <a:xfrm>
            <a:off x="7894357" y="2155729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>
                <a:solidFill>
                  <a:srgbClr val="4B5563"/>
                </a:solidFill>
                <a:latin typeface="ui-sans-serif" pitchFamily="34" charset="0"/>
              </a:rPr>
              <a:t>오버워치</a:t>
            </a:r>
            <a:endParaRPr lang="en-US" sz="1200" dirty="0"/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84164D5-ACD8-C63F-B4F6-6BEAD814770B}"/>
              </a:ext>
            </a:extLst>
          </p:cNvPr>
          <p:cNvSpPr/>
          <p:nvPr/>
        </p:nvSpPr>
        <p:spPr>
          <a:xfrm>
            <a:off x="7879080" y="2434818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</a:rPr>
              <a:t>서든어택</a:t>
            </a:r>
            <a:endParaRPr lang="en-US" altLang="ko-KR" sz="1200" dirty="0">
              <a:solidFill>
                <a:srgbClr val="4B5563"/>
              </a:solidFill>
              <a:latin typeface="ui-sans-serif" pitchFamily="34" charset="0"/>
            </a:endParaRPr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4" name="Image 9" descr="preencoded.png">
            <a:extLst>
              <a:ext uri="{FF2B5EF4-FFF2-40B4-BE49-F238E27FC236}">
                <a16:creationId xmlns:a16="http://schemas.microsoft.com/office/drawing/2014/main" id="{C6BF33F0-7AB4-F6BA-F7A4-282858BC668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91206"/>
            <a:ext cx="7543800" cy="2325565"/>
          </a:xfrm>
          <a:prstGeom prst="rect">
            <a:avLst/>
          </a:prstGeom>
        </p:spPr>
      </p:pic>
      <p:sp>
        <p:nvSpPr>
          <p:cNvPr id="35" name="Text 10">
            <a:extLst>
              <a:ext uri="{FF2B5EF4-FFF2-40B4-BE49-F238E27FC236}">
                <a16:creationId xmlns:a16="http://schemas.microsoft.com/office/drawing/2014/main" id="{66FD7D1B-F0E9-2A5B-EF7F-227F5493DC9A}"/>
              </a:ext>
            </a:extLst>
          </p:cNvPr>
          <p:cNvSpPr/>
          <p:nvPr/>
        </p:nvSpPr>
        <p:spPr>
          <a:xfrm>
            <a:off x="4799433" y="3905250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그중 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발로란트에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대한 설명</a:t>
            </a:r>
            <a:endParaRPr lang="en-US" sz="1500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5D4DFC77-FB4F-866E-BE1E-FB909590FD5D}"/>
              </a:ext>
            </a:extLst>
          </p:cNvPr>
          <p:cNvSpPr/>
          <p:nvPr/>
        </p:nvSpPr>
        <p:spPr>
          <a:xfrm>
            <a:off x="4951833" y="4562182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특히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세대의 선호도가 높다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(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피시방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점유율 변화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 이유에 대해 서술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(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짧은 라운드 방식의 게임진행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등등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  <a:b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</a:b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2792849" cy="194016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335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714500"/>
            <a:ext cx="762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019300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324100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62890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3750" y="1108417"/>
            <a:ext cx="2800350" cy="193665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4250" y="1337017"/>
            <a:ext cx="190500" cy="190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1706733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022817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327617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0" y="2660992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20" y="3116434"/>
            <a:ext cx="5765780" cy="3360566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8820" y="3345034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354" y="592118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38629" y="1108416"/>
            <a:ext cx="5600700" cy="5368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01071" y="1562085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분석 및 벤치마킹</a:t>
            </a:r>
            <a:endParaRPr lang="en-US" sz="2700" dirty="0"/>
          </a:p>
        </p:txBody>
      </p:sp>
      <p:sp>
        <p:nvSpPr>
          <p:cNvPr id="29" name="Text 1"/>
          <p:cNvSpPr/>
          <p:nvPr/>
        </p:nvSpPr>
        <p:spPr>
          <a:xfrm>
            <a:off x="838200" y="12954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성공 요소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723900" y="1676400"/>
            <a:ext cx="18618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2011년에 출시한 게임</a:t>
            </a:r>
            <a:endParaRPr lang="en-US" sz="1200" dirty="0"/>
          </a:p>
        </p:txBody>
      </p:sp>
      <p:sp>
        <p:nvSpPr>
          <p:cNvPr id="31" name="Text 3"/>
          <p:cNvSpPr/>
          <p:nvPr/>
        </p:nvSpPr>
        <p:spPr>
          <a:xfrm>
            <a:off x="723900" y="1981200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북한이 미국 본토를 침공하는 설정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723900" y="2286000"/>
            <a:ext cx="2227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출시 첫주에 100만 장 판매</a:t>
            </a:r>
            <a:endParaRPr lang="en-US" sz="1200" dirty="0"/>
          </a:p>
        </p:txBody>
      </p:sp>
      <p:sp>
        <p:nvSpPr>
          <p:cNvPr id="33" name="Text 5"/>
          <p:cNvSpPr/>
          <p:nvPr/>
        </p:nvSpPr>
        <p:spPr>
          <a:xfrm>
            <a:off x="723900" y="2590800"/>
            <a:ext cx="272944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멀티플레이 BP시스템이 호평받음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3790950" y="1298917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한계점</a:t>
            </a:r>
            <a:endParaRPr lang="en-US" sz="1500" dirty="0"/>
          </a:p>
        </p:txBody>
      </p:sp>
      <p:sp>
        <p:nvSpPr>
          <p:cNvPr id="35" name="Text 7"/>
          <p:cNvSpPr/>
          <p:nvPr/>
        </p:nvSpPr>
        <p:spPr>
          <a:xfrm>
            <a:off x="3676650" y="1679917"/>
            <a:ext cx="29176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싱글플레이에서의 짧은 플레이 시간</a:t>
            </a:r>
            <a:endParaRPr lang="en-US" sz="1200" dirty="0"/>
          </a:p>
        </p:txBody>
      </p:sp>
      <p:sp>
        <p:nvSpPr>
          <p:cNvPr id="36" name="Text 8"/>
          <p:cNvSpPr/>
          <p:nvPr/>
        </p:nvSpPr>
        <p:spPr>
          <a:xfrm>
            <a:off x="3676650" y="1984717"/>
            <a:ext cx="97262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부족한 연출</a:t>
            </a:r>
            <a:endParaRPr lang="en-US" sz="1200" dirty="0"/>
          </a:p>
        </p:txBody>
      </p:sp>
      <p:sp>
        <p:nvSpPr>
          <p:cNvPr id="37" name="Text 9"/>
          <p:cNvSpPr/>
          <p:nvPr/>
        </p:nvSpPr>
        <p:spPr>
          <a:xfrm>
            <a:off x="3676650" y="2289517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답답한 조작감</a:t>
            </a:r>
            <a:endParaRPr lang="en-US" sz="1200" dirty="0"/>
          </a:p>
        </p:txBody>
      </p:sp>
      <p:sp>
        <p:nvSpPr>
          <p:cNvPr id="38" name="Text 10"/>
          <p:cNvSpPr/>
          <p:nvPr/>
        </p:nvSpPr>
        <p:spPr>
          <a:xfrm>
            <a:off x="3676650" y="2594317"/>
            <a:ext cx="78974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잦은 버그</a:t>
            </a:r>
            <a:endParaRPr lang="en-US" sz="1200" dirty="0"/>
          </a:p>
        </p:txBody>
      </p:sp>
      <p:sp>
        <p:nvSpPr>
          <p:cNvPr id="39" name="Text 11"/>
          <p:cNvSpPr/>
          <p:nvPr/>
        </p:nvSpPr>
        <p:spPr>
          <a:xfrm>
            <a:off x="825520" y="3306934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820340" y="5928214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200" dirty="0"/>
          </a:p>
        </p:txBody>
      </p:sp>
      <p:sp>
        <p:nvSpPr>
          <p:cNvPr id="44" name="Text 16"/>
          <p:cNvSpPr/>
          <p:nvPr/>
        </p:nvSpPr>
        <p:spPr>
          <a:xfrm>
            <a:off x="6767771" y="152398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시스템 통합 전략</a:t>
            </a:r>
            <a:endParaRPr lang="en-US" sz="1500" dirty="0"/>
          </a:p>
        </p:txBody>
      </p:sp>
      <p:sp>
        <p:nvSpPr>
          <p:cNvPr id="49" name="Text 21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 / 9</a:t>
            </a:r>
            <a:endParaRPr lang="en-US" sz="1200" dirty="0"/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CB01A007-8D9A-969B-E8B2-17D6492C0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60" y="3799304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A665F88D-CF28-C5AA-B894-98ECBCB602C4}"/>
              </a:ext>
            </a:extLst>
          </p:cNvPr>
          <p:cNvSpPr/>
          <p:nvPr/>
        </p:nvSpPr>
        <p:spPr>
          <a:xfrm>
            <a:off x="3008769" y="4424934"/>
            <a:ext cx="426601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E75A9A7F-0710-C816-3F69-F179664D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8815" y="3799245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6422F241-1A40-08D2-FA37-FEEC86B84FF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90950" y="5972792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E331C07D-F116-38D4-C012-DCBE14C38D3E}"/>
              </a:ext>
            </a:extLst>
          </p:cNvPr>
          <p:cNvSpPr/>
          <p:nvPr/>
        </p:nvSpPr>
        <p:spPr>
          <a:xfrm>
            <a:off x="3902452" y="5922237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200" dirty="0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4DD166B6-EBA2-0F49-8D4B-A02DAF6B726C}"/>
              </a:ext>
            </a:extLst>
          </p:cNvPr>
          <p:cNvSpPr/>
          <p:nvPr/>
        </p:nvSpPr>
        <p:spPr>
          <a:xfrm>
            <a:off x="7247500" y="2213317"/>
            <a:ext cx="2917686" cy="406087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Homefront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의 스토리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, bp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시스템 등을 가져오고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진행방식을 접목시켜 짧은 플레이시간을 개선하고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발로란트처럼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빠른 움직임의 게임으로 답답한 조작감을 개선시킨 게임을 제작하겠다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.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또한 멀티플레이의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BP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시스템을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경제시스템과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베일드엑스퍼트라는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게임의 경제시스템을 접목 시켜 다양한 전략을 만들 수 있는 게임으로 만들겠다는 내용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38450"/>
            <a:ext cx="5562600" cy="15049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28950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133725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648075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952875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1809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1295400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963" y="1400175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1914525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219325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524125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0" y="3143250"/>
            <a:ext cx="5562600" cy="15525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900" y="3333750"/>
            <a:ext cx="476250" cy="4762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67488" y="3438525"/>
            <a:ext cx="21907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3952875"/>
            <a:ext cx="762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4207412"/>
            <a:ext cx="762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73423" y="444553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60674" y="5486400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56806" y="5667375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09256" y="5486400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852988" y="5667375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05438" y="5486400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5667375"/>
            <a:ext cx="476250" cy="190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001619" y="5486400"/>
            <a:ext cx="1172914" cy="3810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03134" y="5667375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955584" y="5486400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29188" y="6276975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81638" y="6096000"/>
            <a:ext cx="967532" cy="3810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25369" y="6276975"/>
            <a:ext cx="476250" cy="1905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77819" y="6096000"/>
            <a:ext cx="1172914" cy="3810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26934" y="6276975"/>
            <a:ext cx="476250" cy="1905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79384" y="6096000"/>
            <a:ext cx="1175593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 방식</a:t>
            </a:r>
            <a:endParaRPr lang="en-US" sz="2700" dirty="0"/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팀 설정</a:t>
            </a:r>
            <a:endParaRPr lang="en-US" sz="1500" dirty="0"/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저항군(미국), 점령군(북한) 두 팀으로 진행</a:t>
            </a:r>
            <a:endParaRPr lang="en-US" sz="1200" dirty="0"/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저항군이 선공권을 가진다</a:t>
            </a:r>
            <a:endParaRPr lang="en-US" sz="1200" dirty="0"/>
          </a:p>
        </p:txBody>
      </p:sp>
      <p:sp>
        <p:nvSpPr>
          <p:cNvPr id="46" name="Text 4"/>
          <p:cNvSpPr/>
          <p:nvPr/>
        </p:nvSpPr>
        <p:spPr>
          <a:xfrm>
            <a:off x="1162050" y="3133725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및 수비</a:t>
            </a:r>
            <a:endParaRPr lang="en-US" sz="1500" dirty="0"/>
          </a:p>
        </p:txBody>
      </p:sp>
      <p:sp>
        <p:nvSpPr>
          <p:cNvPr id="47" name="Text 5"/>
          <p:cNvSpPr/>
          <p:nvPr/>
        </p:nvSpPr>
        <p:spPr>
          <a:xfrm>
            <a:off x="1143000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공격팀은 은신처 내부에 폭탄을 터트려 인원 사살</a:t>
            </a:r>
            <a:endParaRPr lang="en-US" sz="1200" dirty="0"/>
          </a:p>
        </p:txBody>
      </p:sp>
      <p:sp>
        <p:nvSpPr>
          <p:cNvPr id="48" name="Text 6"/>
          <p:cNvSpPr/>
          <p:nvPr/>
        </p:nvSpPr>
        <p:spPr>
          <a:xfrm>
            <a:off x="1143000" y="39243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수비팀은 공격팀을 저지한다</a:t>
            </a:r>
            <a:endParaRPr lang="en-US" sz="1200" dirty="0"/>
          </a:p>
        </p:txBody>
      </p:sp>
      <p:sp>
        <p:nvSpPr>
          <p:cNvPr id="49" name="Text 7"/>
          <p:cNvSpPr/>
          <p:nvPr/>
        </p:nvSpPr>
        <p:spPr>
          <a:xfrm>
            <a:off x="7029450" y="1400175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시스템</a:t>
            </a:r>
            <a:endParaRPr lang="en-US" sz="1500" dirty="0"/>
          </a:p>
        </p:txBody>
      </p:sp>
      <p:sp>
        <p:nvSpPr>
          <p:cNvPr id="50" name="Text 8"/>
          <p:cNvSpPr/>
          <p:nvPr/>
        </p:nvSpPr>
        <p:spPr>
          <a:xfrm>
            <a:off x="7010400" y="18859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한 경기는 여러 번의 짧은 라운드로 진행</a:t>
            </a:r>
            <a:endParaRPr lang="en-US" sz="1200" dirty="0"/>
          </a:p>
        </p:txBody>
      </p:sp>
      <p:sp>
        <p:nvSpPr>
          <p:cNvPr id="51" name="Text 9"/>
          <p:cNvSpPr/>
          <p:nvPr/>
        </p:nvSpPr>
        <p:spPr>
          <a:xfrm>
            <a:off x="7010400" y="21907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13라운드를 먼저 승리한 팀이 경기에서 승리</a:t>
            </a:r>
            <a:endParaRPr lang="en-US" sz="1200" dirty="0"/>
          </a:p>
        </p:txBody>
      </p:sp>
      <p:sp>
        <p:nvSpPr>
          <p:cNvPr id="52" name="Text 10"/>
          <p:cNvSpPr/>
          <p:nvPr/>
        </p:nvSpPr>
        <p:spPr>
          <a:xfrm>
            <a:off x="7010400" y="2495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매 라운드마다 일정량의 돈을 얻는다</a:t>
            </a:r>
            <a:endParaRPr lang="en-US" sz="1200" dirty="0"/>
          </a:p>
        </p:txBody>
      </p:sp>
      <p:sp>
        <p:nvSpPr>
          <p:cNvPr id="53" name="Text 11"/>
          <p:cNvSpPr/>
          <p:nvPr/>
        </p:nvSpPr>
        <p:spPr>
          <a:xfrm>
            <a:off x="7029450" y="3438525"/>
            <a:ext cx="17595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변화 메커니즘</a:t>
            </a:r>
            <a:endParaRPr lang="en-US" sz="1500" dirty="0"/>
          </a:p>
        </p:txBody>
      </p:sp>
      <p:sp>
        <p:nvSpPr>
          <p:cNvPr id="54" name="Text 12"/>
          <p:cNvSpPr/>
          <p:nvPr/>
        </p:nvSpPr>
        <p:spPr>
          <a:xfrm>
            <a:off x="7010400" y="39243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공격을 성공하면 폭탄으로 인해 맵이 일부 변경</a:t>
            </a:r>
            <a:endParaRPr lang="en-US" sz="1200" dirty="0"/>
          </a:p>
        </p:txBody>
      </p:sp>
      <p:sp>
        <p:nvSpPr>
          <p:cNvPr id="56" name="Text 14"/>
          <p:cNvSpPr/>
          <p:nvPr/>
        </p:nvSpPr>
        <p:spPr>
          <a:xfrm>
            <a:off x="7010400" y="4167187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공격과 수비가 매 라운드 변경된다</a:t>
            </a:r>
            <a:endParaRPr lang="en-US" sz="1200" dirty="0"/>
          </a:p>
        </p:txBody>
      </p:sp>
      <p:sp>
        <p:nvSpPr>
          <p:cNvPr id="57" name="Text 15"/>
          <p:cNvSpPr/>
          <p:nvPr/>
        </p:nvSpPr>
        <p:spPr>
          <a:xfrm>
            <a:off x="7029450" y="4400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공격에 성공한 나라가 은신처를 점령</a:t>
            </a:r>
            <a:endParaRPr lang="en-US" sz="1200" dirty="0"/>
          </a:p>
        </p:txBody>
      </p:sp>
      <p:sp>
        <p:nvSpPr>
          <p:cNvPr id="58" name="Text 16"/>
          <p:cNvSpPr/>
          <p:nvPr/>
        </p:nvSpPr>
        <p:spPr>
          <a:xfrm>
            <a:off x="2213074" y="5581650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시작</a:t>
            </a:r>
            <a:endParaRPr lang="en-US" sz="1200" dirty="0"/>
          </a:p>
        </p:txBody>
      </p:sp>
      <p:sp>
        <p:nvSpPr>
          <p:cNvPr id="59" name="Text 17"/>
          <p:cNvSpPr/>
          <p:nvPr/>
        </p:nvSpPr>
        <p:spPr>
          <a:xfrm>
            <a:off x="3961656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</a:t>
            </a:r>
            <a:endParaRPr lang="en-US" sz="1200" dirty="0"/>
          </a:p>
        </p:txBody>
      </p:sp>
      <p:sp>
        <p:nvSpPr>
          <p:cNvPr id="60" name="Text 18"/>
          <p:cNvSpPr/>
          <p:nvPr/>
        </p:nvSpPr>
        <p:spPr>
          <a:xfrm>
            <a:off x="5557838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성공</a:t>
            </a:r>
            <a:endParaRPr lang="en-US" sz="1200" dirty="0"/>
          </a:p>
        </p:txBody>
      </p:sp>
      <p:sp>
        <p:nvSpPr>
          <p:cNvPr id="61" name="Text 19"/>
          <p:cNvSpPr/>
          <p:nvPr/>
        </p:nvSpPr>
        <p:spPr>
          <a:xfrm>
            <a:off x="7154019" y="5581650"/>
            <a:ext cx="122461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</a:t>
            </a:r>
            <a:r>
              <a:rPr lang="ko-KR" alt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일부</a:t>
            </a: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변경</a:t>
            </a:r>
            <a:endParaRPr lang="en-US" sz="1200" dirty="0"/>
          </a:p>
        </p:txBody>
      </p:sp>
      <p:sp>
        <p:nvSpPr>
          <p:cNvPr id="62" name="Text 20"/>
          <p:cNvSpPr/>
          <p:nvPr/>
        </p:nvSpPr>
        <p:spPr>
          <a:xfrm>
            <a:off x="9107984" y="55816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5" name="Text 23"/>
          <p:cNvSpPr/>
          <p:nvPr/>
        </p:nvSpPr>
        <p:spPr>
          <a:xfrm>
            <a:off x="5634038" y="61912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실패</a:t>
            </a:r>
            <a:endParaRPr lang="en-US" sz="1200" dirty="0"/>
          </a:p>
        </p:txBody>
      </p:sp>
      <p:sp>
        <p:nvSpPr>
          <p:cNvPr id="66" name="Text 24"/>
          <p:cNvSpPr/>
          <p:nvPr/>
        </p:nvSpPr>
        <p:spPr>
          <a:xfrm>
            <a:off x="7230219" y="6191250"/>
            <a:ext cx="104173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일부 변경</a:t>
            </a:r>
            <a:endParaRPr lang="en-US" sz="1200" dirty="0"/>
          </a:p>
        </p:txBody>
      </p:sp>
      <p:sp>
        <p:nvSpPr>
          <p:cNvPr id="67" name="Text 25"/>
          <p:cNvSpPr/>
          <p:nvPr/>
        </p:nvSpPr>
        <p:spPr>
          <a:xfrm>
            <a:off x="9031784" y="61912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8" name="Text 26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 / 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C34800-DD3A-B4AC-FD31-23A0767F58E1}"/>
              </a:ext>
            </a:extLst>
          </p:cNvPr>
          <p:cNvSpPr txBox="1"/>
          <p:nvPr/>
        </p:nvSpPr>
        <p:spPr>
          <a:xfrm>
            <a:off x="3735977" y="1793966"/>
            <a:ext cx="29706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맵 환경 구상</a:t>
            </a:r>
            <a:endParaRPr lang="en-US" altLang="ko-KR" dirty="0"/>
          </a:p>
          <a:p>
            <a:r>
              <a:rPr lang="ko-KR" altLang="en-US" dirty="0"/>
              <a:t>정확한 수치</a:t>
            </a:r>
            <a:endParaRPr lang="en-US" altLang="ko-KR" dirty="0"/>
          </a:p>
          <a:p>
            <a:r>
              <a:rPr lang="ko-KR" altLang="en-US" dirty="0"/>
              <a:t>포인트 </a:t>
            </a:r>
            <a:r>
              <a:rPr lang="en-US" altLang="ko-KR" dirty="0"/>
              <a:t>(</a:t>
            </a:r>
            <a:r>
              <a:rPr lang="ko-KR" altLang="en-US" dirty="0"/>
              <a:t>폭탄설치구역 등등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81100"/>
            <a:ext cx="3606701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181100"/>
            <a:ext cx="3606701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90" y="1333500"/>
            <a:ext cx="571500" cy="571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6685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85750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0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5433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5295900"/>
            <a:ext cx="31495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9952" y="13335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7114" y="1466850"/>
            <a:ext cx="257175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21101" y="32004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1101" y="35433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21101" y="5486400"/>
            <a:ext cx="314965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88327" y="13335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2750" y="2857500"/>
            <a:ext cx="1905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32750" y="34290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32750" y="40005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2750" y="5486400"/>
            <a:ext cx="3149501" cy="4191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 캐릭터 시스템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533400" y="1543050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A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특정 위치 포격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857250" y="2819400"/>
            <a:ext cx="34577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맵을 연 뒤 특정 위치에 폭탄을 떨어트린다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838200" y="3162300"/>
            <a:ext cx="176218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 기능을 가진다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06132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 후 정확한 타격 가능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4444901" y="1543050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B</a:t>
            </a:r>
            <a:endParaRPr lang="en-US" sz="1800" dirty="0"/>
          </a:p>
        </p:txBody>
      </p:sp>
      <p:sp>
        <p:nvSpPr>
          <p:cNvPr id="34" name="Text 8"/>
          <p:cNvSpPr/>
          <p:nvPr/>
        </p:nvSpPr>
        <p:spPr>
          <a:xfrm>
            <a:off x="4521101" y="2438400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벽 파괴</a:t>
            </a:r>
            <a:endParaRPr lang="en-US" sz="1500" dirty="0"/>
          </a:p>
        </p:txBody>
      </p:sp>
      <p:sp>
        <p:nvSpPr>
          <p:cNvPr id="35" name="Text 9"/>
          <p:cNvSpPr/>
          <p:nvPr/>
        </p:nvSpPr>
        <p:spPr>
          <a:xfrm>
            <a:off x="4597301" y="2819400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배그 점착폭탄 기능으로 벽을 파괴</a:t>
            </a:r>
            <a:endParaRPr lang="en-US" sz="1200" dirty="0"/>
          </a:p>
        </p:txBody>
      </p:sp>
      <p:sp>
        <p:nvSpPr>
          <p:cNvPr id="36" name="Text 10"/>
          <p:cNvSpPr/>
          <p:nvPr/>
        </p:nvSpPr>
        <p:spPr>
          <a:xfrm>
            <a:off x="4749701" y="3162300"/>
            <a:ext cx="20032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게임이 끝날 때까지 유지</a:t>
            </a:r>
            <a:endParaRPr lang="en-US" sz="1200" dirty="0"/>
          </a:p>
        </p:txBody>
      </p:sp>
      <p:sp>
        <p:nvSpPr>
          <p:cNvPr id="37" name="Text 11"/>
          <p:cNvSpPr/>
          <p:nvPr/>
        </p:nvSpPr>
        <p:spPr>
          <a:xfrm>
            <a:off x="4749701" y="3505200"/>
            <a:ext cx="29210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공격에 성공하면 다시 막힐 수 있음 (ex: 돌덩이가 새로 생김)</a:t>
            </a:r>
            <a:endParaRPr lang="en-US" sz="12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8356550" y="1543050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캐릭터 C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</a:t>
            </a: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 라운드에 한 개 또는 두 개의 무소음드론을 조종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8661350" y="3390900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정찰만 가능하며 적을 발견하면 맵에 위치표시</a:t>
            </a: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드론끼리 마주치면 서로 박살난다</a:t>
            </a: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5" name="Text 19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 / 9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1104900"/>
            <a:ext cx="3810000" cy="1855291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0550" y="2171700"/>
            <a:ext cx="1868686" cy="270421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0550" y="2480221"/>
            <a:ext cx="1653034" cy="27042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08169" y="2998291"/>
            <a:ext cx="5715000" cy="1546771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98669" y="3188791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51069" y="3293566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98669" y="4042320"/>
            <a:ext cx="1821061" cy="270421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2554" y="4023270"/>
            <a:ext cx="2002036" cy="270421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82986" y="4598491"/>
            <a:ext cx="8572500" cy="1546771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73486" y="4788991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02074" y="4893766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73486" y="5632995"/>
            <a:ext cx="1835051" cy="270421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5687" y="5665291"/>
            <a:ext cx="1341686" cy="270421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9431" y="6184366"/>
            <a:ext cx="11430000" cy="533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08170" y="6365341"/>
            <a:ext cx="114300" cy="1524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4972050" y="1381125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펀딩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4381500" y="1847850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모든 팀원이 투자하여 팀원 모두가 얻는 능력</a:t>
            </a:r>
            <a:endParaRPr lang="en-US" sz="1200" dirty="0"/>
          </a:p>
        </p:txBody>
      </p:sp>
      <p:sp>
        <p:nvSpPr>
          <p:cNvPr id="24" name="Text 3"/>
          <p:cNvSpPr/>
          <p:nvPr/>
        </p:nvSpPr>
        <p:spPr>
          <a:xfrm>
            <a:off x="4476750" y="2171700"/>
            <a:ext cx="224242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경제: 라운드 종료 시 돈 증가</a:t>
            </a:r>
            <a:endParaRPr lang="en-US" sz="1020" dirty="0"/>
          </a:p>
        </p:txBody>
      </p:sp>
      <p:sp>
        <p:nvSpPr>
          <p:cNvPr id="25" name="Text 4"/>
          <p:cNvSpPr/>
          <p:nvPr/>
        </p:nvSpPr>
        <p:spPr>
          <a:xfrm>
            <a:off x="4476750" y="2480221"/>
            <a:ext cx="1983641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회복: 자가회복 능력 향상</a:t>
            </a:r>
            <a:endParaRPr lang="en-US" sz="1020" dirty="0"/>
          </a:p>
        </p:txBody>
      </p:sp>
      <p:sp>
        <p:nvSpPr>
          <p:cNvPr id="26" name="Text 5"/>
          <p:cNvSpPr/>
          <p:nvPr/>
        </p:nvSpPr>
        <p:spPr>
          <a:xfrm>
            <a:off x="4089219" y="3274516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랩톤</a:t>
            </a:r>
            <a:endParaRPr lang="en-US" sz="1800" dirty="0"/>
          </a:p>
        </p:txBody>
      </p:sp>
      <p:sp>
        <p:nvSpPr>
          <p:cNvPr id="27" name="Text 6"/>
          <p:cNvSpPr/>
          <p:nvPr/>
        </p:nvSpPr>
        <p:spPr>
          <a:xfrm>
            <a:off x="3498669" y="3741241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투자하여 자기자신만 얻는 능력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3593919" y="4065091"/>
            <a:ext cx="218527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고유 능력 강화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 err="1">
                <a:solidFill>
                  <a:srgbClr val="FFFFFF"/>
                </a:solidFill>
                <a:latin typeface="ui-sans-serif" pitchFamily="34" charset="0"/>
              </a:rPr>
              <a:t>쿨타임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횟수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29" name="Text 8"/>
          <p:cNvSpPr/>
          <p:nvPr/>
        </p:nvSpPr>
        <p:spPr>
          <a:xfrm>
            <a:off x="5453080" y="4065091"/>
            <a:ext cx="240244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능력 강화: 공격력, 방어력</a:t>
            </a:r>
            <a:endParaRPr lang="en-US" sz="1020" dirty="0"/>
          </a:p>
        </p:txBody>
      </p:sp>
      <p:sp>
        <p:nvSpPr>
          <p:cNvPr id="30" name="Text 9"/>
          <p:cNvSpPr/>
          <p:nvPr/>
        </p:nvSpPr>
        <p:spPr>
          <a:xfrm>
            <a:off x="2764036" y="4874716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상점</a:t>
            </a:r>
            <a:endParaRPr lang="en-US" sz="1800" dirty="0"/>
          </a:p>
        </p:txBody>
      </p:sp>
      <p:sp>
        <p:nvSpPr>
          <p:cNvPr id="31" name="Text 10"/>
          <p:cNvSpPr/>
          <p:nvPr/>
        </p:nvSpPr>
        <p:spPr>
          <a:xfrm>
            <a:off x="2173486" y="5341441"/>
            <a:ext cx="819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 여부와 관계없이 모든 플레이어가 사용할 수 있는 아이템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2268736" y="5665291"/>
            <a:ext cx="2202061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선물O: 총, 방탄복, 회복키트</a:t>
            </a:r>
            <a:endParaRPr lang="en-US" sz="1020" dirty="0"/>
          </a:p>
        </p:txBody>
      </p:sp>
      <p:sp>
        <p:nvSpPr>
          <p:cNvPr id="33" name="Text 12"/>
          <p:cNvSpPr/>
          <p:nvPr/>
        </p:nvSpPr>
        <p:spPr>
          <a:xfrm>
            <a:off x="4221208" y="5704395"/>
            <a:ext cx="1610023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선물X: </a:t>
            </a:r>
            <a:r>
              <a:rPr 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</a:t>
            </a:r>
            <a:endParaRPr lang="en-US" sz="1020" dirty="0"/>
          </a:p>
        </p:txBody>
      </p:sp>
      <p:sp>
        <p:nvSpPr>
          <p:cNvPr id="34" name="Text 13"/>
          <p:cNvSpPr/>
          <p:nvPr/>
        </p:nvSpPr>
        <p:spPr>
          <a:xfrm>
            <a:off x="-510689" y="6336766"/>
            <a:ext cx="13350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재화 시스템은 개인 전력 향상과 팀 cooperation를 모두 고려하여 균형 잡힌 게임 플레이를 유도합니다.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11468844" y="6968133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/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989DE-4FDE-E451-071B-FDF4E668BD59}"/>
              </a:ext>
            </a:extLst>
          </p:cNvPr>
          <p:cNvSpPr txBox="1"/>
          <p:nvPr/>
        </p:nvSpPr>
        <p:spPr>
          <a:xfrm>
            <a:off x="599090" y="85133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일정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631</Words>
  <Application>Microsoft Office PowerPoint</Application>
  <PresentationFormat>와이드스크린</PresentationFormat>
  <Paragraphs>152</Paragraphs>
  <Slides>11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8</cp:revision>
  <dcterms:created xsi:type="dcterms:W3CDTF">2025-11-12T03:30:23Z</dcterms:created>
  <dcterms:modified xsi:type="dcterms:W3CDTF">2025-11-12T10:36:49Z</dcterms:modified>
</cp:coreProperties>
</file>