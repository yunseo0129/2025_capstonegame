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71" r:id="rId4"/>
    <p:sldId id="259" r:id="rId5"/>
    <p:sldId id="261" r:id="rId6"/>
    <p:sldId id="272" r:id="rId7"/>
    <p:sldId id="257" r:id="rId8"/>
    <p:sldId id="262" r:id="rId9"/>
    <p:sldId id="267" r:id="rId10"/>
    <p:sldId id="263" r:id="rId11"/>
    <p:sldId id="264" r:id="rId12"/>
    <p:sldId id="269" r:id="rId13"/>
    <p:sldId id="265" r:id="rId14"/>
    <p:sldId id="273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7FF"/>
    <a:srgbClr val="E3C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92" autoAdjust="0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126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7562-C4A9-4FD7-220F-5260CD65F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E3F81-6ABC-BFA0-CD77-0DB7EBB3D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1EE218-4BE4-2AA2-72FA-16731862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56056-37CA-39A8-5859-230E1D563B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8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E79F6-267C-1309-995E-B7B6EEFD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C60B3-5FB3-AAE8-062B-A6789DC7B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01FE85-7918-F93C-532F-9AE5F9A10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C86A6-63DE-EDF8-49A1-E86141939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146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6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3.png"/><Relationship Id="rId5" Type="http://schemas.openxmlformats.org/officeDocument/2006/relationships/image" Target="../media/image25.png"/><Relationship Id="rId10" Type="http://schemas.openxmlformats.org/officeDocument/2006/relationships/image" Target="../media/image32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6.png"/><Relationship Id="rId3" Type="http://schemas.openxmlformats.org/officeDocument/2006/relationships/image" Target="../media/image24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6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24.png"/><Relationship Id="rId21" Type="http://schemas.openxmlformats.org/officeDocument/2006/relationships/image" Target="../media/image61.png"/><Relationship Id="rId7" Type="http://schemas.openxmlformats.org/officeDocument/2006/relationships/image" Target="../media/image44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6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24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4" Type="http://schemas.openxmlformats.org/officeDocument/2006/relationships/image" Target="../media/image6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8.png"/><Relationship Id="rId7" Type="http://schemas.openxmlformats.org/officeDocument/2006/relationships/image" Target="../media/image44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4.png"/><Relationship Id="rId5" Type="http://schemas.openxmlformats.org/officeDocument/2006/relationships/image" Target="../media/image79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6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90.png"/><Relationship Id="rId7" Type="http://schemas.microsoft.com/office/2007/relationships/hdphoto" Target="../media/hdphoto3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6.png"/><Relationship Id="rId4" Type="http://schemas.microsoft.com/office/2007/relationships/hdphoto" Target="../media/hdphoto2.wdp"/><Relationship Id="rId9" Type="http://schemas.openxmlformats.org/officeDocument/2006/relationships/image" Target="../media/image9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4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4.pn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962912"/>
            <a:ext cx="10972799" cy="361648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</a:t>
            </a: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3대3 FPS 게임 프로젝트</a:t>
            </a:r>
            <a:endParaRPr lang="en-US" sz="1500" dirty="0"/>
          </a:p>
        </p:txBody>
      </p:sp>
      <p:pic>
        <p:nvPicPr>
          <p:cNvPr id="6" name="그림 5" descr="클립아트, 만화 영화, 그래픽, 할로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E9C8F5-4A84-EAD5-436D-B3560A496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0480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04900"/>
            <a:ext cx="2666999" cy="2048022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12" y="1282921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589" y="1584962"/>
            <a:ext cx="3757554" cy="187424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환경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853881" y="12573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주요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이벤트</a:t>
            </a:r>
            <a:endParaRPr lang="en-US" sz="18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98065" y="1711814"/>
            <a:ext cx="2170535" cy="133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91009" y="174454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74265" y="203716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4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70829" y="244873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86355" y="275375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4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0ED58-9495-274A-8044-F536F9310109}"/>
              </a:ext>
            </a:extLst>
          </p:cNvPr>
          <p:cNvSpPr txBox="1"/>
          <p:nvPr/>
        </p:nvSpPr>
        <p:spPr>
          <a:xfrm>
            <a:off x="3660505" y="1750237"/>
            <a:ext cx="2981370" cy="157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정부 체계 변화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선거로 인한 정부 체계 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주변 국가와의 관계 악화 우려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예</a:t>
            </a:r>
            <a:r>
              <a:rPr lang="en-US" altLang="ko-KR" sz="1600" dirty="0"/>
              <a:t>: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관계</a:t>
            </a:r>
            <a:endParaRPr lang="ko-KR" altLang="en-US" b="1" dirty="0"/>
          </a:p>
        </p:txBody>
      </p:sp>
      <p:pic>
        <p:nvPicPr>
          <p:cNvPr id="20" name="Image 9" descr="preencoded.png">
            <a:extLst>
              <a:ext uri="{FF2B5EF4-FFF2-40B4-BE49-F238E27FC236}">
                <a16:creationId xmlns:a16="http://schemas.microsoft.com/office/drawing/2014/main" id="{E4123D87-7D3E-8874-7589-ABE49AF2D4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4022" y="1592193"/>
            <a:ext cx="3899913" cy="1874245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D3C287E9-2AAC-1867-2CF3-30EE0694A5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257" y="3274522"/>
            <a:ext cx="2666999" cy="3050078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73693F2F-93E3-2CCD-E869-7736B75B8D17}"/>
              </a:ext>
            </a:extLst>
          </p:cNvPr>
          <p:cNvSpPr/>
          <p:nvPr/>
        </p:nvSpPr>
        <p:spPr>
          <a:xfrm>
            <a:off x="853881" y="3428553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2025년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이슈</a:t>
            </a:r>
            <a:endParaRPr lang="en-US" sz="1800" dirty="0"/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85384717-FA8C-9BA7-271E-77755358B1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346" y="3446905"/>
            <a:ext cx="200025" cy="22860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20DF19-E15C-6705-2C8F-3B0C9FF0E410}"/>
              </a:ext>
            </a:extLst>
          </p:cNvPr>
          <p:cNvSpPr/>
          <p:nvPr/>
        </p:nvSpPr>
        <p:spPr>
          <a:xfrm>
            <a:off x="598065" y="3844999"/>
            <a:ext cx="2170535" cy="754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7FA98AC-E215-1962-9CD0-14A9B45C2627}"/>
              </a:ext>
            </a:extLst>
          </p:cNvPr>
          <p:cNvSpPr/>
          <p:nvPr/>
        </p:nvSpPr>
        <p:spPr>
          <a:xfrm>
            <a:off x="598065" y="4685109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15AAB827-E4EB-4B8B-B17E-B18EE6E26DEC}"/>
              </a:ext>
            </a:extLst>
          </p:cNvPr>
          <p:cNvSpPr/>
          <p:nvPr/>
        </p:nvSpPr>
        <p:spPr>
          <a:xfrm>
            <a:off x="686355" y="3980140"/>
            <a:ext cx="1993345" cy="96371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다카이치 총리 취임 이후</a:t>
            </a:r>
            <a:endParaRPr lang="en-US" altLang="ko-KR" sz="1400" dirty="0">
              <a:solidFill>
                <a:srgbClr val="4B5563"/>
              </a:solidFill>
              <a:latin typeface="+mn-ea"/>
            </a:endParaRPr>
          </a:p>
          <a:p>
            <a:pPr>
              <a:lnSpc>
                <a:spcPts val="1800"/>
              </a:lnSpc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중국</a:t>
            </a:r>
            <a:r>
              <a:rPr lang="en-US" altLang="ko-KR" sz="14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일본 갈등</a:t>
            </a:r>
            <a:endParaRPr lang="en-US" sz="1400" dirty="0">
              <a:latin typeface="+mn-ea"/>
            </a:endParaRPr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347DA861-62A3-37A3-0567-17279F737807}"/>
              </a:ext>
            </a:extLst>
          </p:cNvPr>
          <p:cNvSpPr/>
          <p:nvPr/>
        </p:nvSpPr>
        <p:spPr>
          <a:xfrm>
            <a:off x="657358" y="4781343"/>
            <a:ext cx="1993345" cy="4908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캄보디아 대규모 범죄 조직</a:t>
            </a:r>
            <a:endParaRPr lang="en-US" sz="1400" dirty="0">
              <a:latin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767682-4B6C-7DC6-A9C3-7C07BA8026BF}"/>
              </a:ext>
            </a:extLst>
          </p:cNvPr>
          <p:cNvSpPr/>
          <p:nvPr/>
        </p:nvSpPr>
        <p:spPr>
          <a:xfrm>
            <a:off x="608146" y="5393770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E2C7F4E0-079D-59B8-6ADB-90AE44132C24}"/>
              </a:ext>
            </a:extLst>
          </p:cNvPr>
          <p:cNvSpPr/>
          <p:nvPr/>
        </p:nvSpPr>
        <p:spPr>
          <a:xfrm>
            <a:off x="641324" y="5386471"/>
            <a:ext cx="1993345" cy="6077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400" dirty="0">
              <a:solidFill>
                <a:srgbClr val="4B5563"/>
              </a:solidFill>
              <a:latin typeface="+mn-ea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latin typeface="+mn-ea"/>
              </a:rPr>
              <a:t>태국의 캄보디아 침공</a:t>
            </a:r>
            <a:endParaRPr lang="en-US" sz="1400" dirty="0"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1B4F55-3B56-BE1C-E995-FCA0D346B456}"/>
              </a:ext>
            </a:extLst>
          </p:cNvPr>
          <p:cNvSpPr txBox="1"/>
          <p:nvPr/>
        </p:nvSpPr>
        <p:spPr>
          <a:xfrm>
            <a:off x="7880986" y="1758760"/>
            <a:ext cx="2981370" cy="12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국제 안보 위협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캄보디아 내 대규모 범죄 조직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태국의 캄보디아 침공</a:t>
            </a:r>
            <a:endParaRPr lang="ko-KR" altLang="en-US" b="1" dirty="0"/>
          </a:p>
        </p:txBody>
      </p:sp>
      <p:pic>
        <p:nvPicPr>
          <p:cNvPr id="26" name="Image 9" descr="preencoded.png">
            <a:extLst>
              <a:ext uri="{FF2B5EF4-FFF2-40B4-BE49-F238E27FC236}">
                <a16:creationId xmlns:a16="http://schemas.microsoft.com/office/drawing/2014/main" id="{BF0D3217-7A30-A395-BF12-056951F764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4547" y="4335047"/>
            <a:ext cx="4314706" cy="187424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8006FB-DD95-88E6-C41E-FA04A944BDB1}"/>
              </a:ext>
            </a:extLst>
          </p:cNvPr>
          <p:cNvSpPr txBox="1"/>
          <p:nvPr/>
        </p:nvSpPr>
        <p:spPr>
          <a:xfrm>
            <a:off x="5564590" y="4456290"/>
            <a:ext cx="3754619" cy="161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</a:t>
            </a:r>
            <a:r>
              <a:rPr lang="ko-KR" altLang="en-US" b="1" dirty="0"/>
              <a:t>전쟁</a:t>
            </a:r>
            <a:br>
              <a:rPr lang="en-US" altLang="ko-KR" b="1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안보 위협 요소 증가</a:t>
            </a:r>
            <a:br>
              <a:rPr lang="en-US" altLang="ko-KR" sz="1600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정세 불안정성 증가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글로벌 안보 이슈 부각</a:t>
            </a:r>
            <a:endParaRPr lang="ko-KR" altLang="en-US" b="1" dirty="0"/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307BF28C-F7F6-0093-9A6B-11F56CF8B516}"/>
              </a:ext>
            </a:extLst>
          </p:cNvPr>
          <p:cNvSpPr/>
          <p:nvPr/>
        </p:nvSpPr>
        <p:spPr>
          <a:xfrm rot="2586534">
            <a:off x="5736755" y="3704630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E1C795BF-733F-E16F-4D31-E81A513918DF}"/>
              </a:ext>
            </a:extLst>
          </p:cNvPr>
          <p:cNvSpPr/>
          <p:nvPr/>
        </p:nvSpPr>
        <p:spPr>
          <a:xfrm rot="8117035">
            <a:off x="8370600" y="3721414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29138A3-FE17-D557-2F5B-C2C441079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7298C41-1014-EC69-8B73-F690F9CB12B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68779D68-502A-8AFD-6C40-2B7E2EA35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8DBE31D1-302D-6A29-3A54-C387D0C0EA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149746"/>
            <a:ext cx="2666999" cy="168648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3134A47-9393-6D3F-682C-E90AD88A7144}"/>
              </a:ext>
            </a:extLst>
          </p:cNvPr>
          <p:cNvSpPr/>
          <p:nvPr/>
        </p:nvSpPr>
        <p:spPr>
          <a:xfrm>
            <a:off x="541311" y="1690688"/>
            <a:ext cx="2227288" cy="8447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CAC25-1686-E60B-7A8C-B38C13B4ADC3}"/>
              </a:ext>
            </a:extLst>
          </p:cNvPr>
          <p:cNvSpPr txBox="1"/>
          <p:nvPr/>
        </p:nvSpPr>
        <p:spPr>
          <a:xfrm>
            <a:off x="638495" y="175969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Feel-conomy</a:t>
            </a:r>
            <a:endParaRPr lang="ko-KR" altLang="en-US" b="1" dirty="0"/>
          </a:p>
        </p:txBody>
      </p:sp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CBFB7EA-0CE8-D1E9-2E23-90DF7582A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5" y="1304187"/>
            <a:ext cx="200025" cy="22860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CCC1BBA7-5194-9462-38F6-FA3FCA63D72E}"/>
              </a:ext>
            </a:extLst>
          </p:cNvPr>
          <p:cNvSpPr/>
          <p:nvPr/>
        </p:nvSpPr>
        <p:spPr>
          <a:xfrm>
            <a:off x="818844" y="1293737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소비 트렌드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C78E4-7BEF-01C1-CB7C-5423D9BEE057}"/>
              </a:ext>
            </a:extLst>
          </p:cNvPr>
          <p:cNvSpPr txBox="1"/>
          <p:nvPr/>
        </p:nvSpPr>
        <p:spPr>
          <a:xfrm>
            <a:off x="524466" y="2152357"/>
            <a:ext cx="22542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내 기분이 곧 소비의 기준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</p:txBody>
      </p:sp>
      <p:pic>
        <p:nvPicPr>
          <p:cNvPr id="12" name="Image 4" descr="preencoded.png">
            <a:extLst>
              <a:ext uri="{FF2B5EF4-FFF2-40B4-BE49-F238E27FC236}">
                <a16:creationId xmlns:a16="http://schemas.microsoft.com/office/drawing/2014/main" id="{9876D4A4-AA81-0C19-501C-205F378CE6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C7720E43-DF0D-1585-B6EA-0682BC6AD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6B041212-9608-CF09-AC54-1566980A32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1230" y="1584962"/>
            <a:ext cx="3828177" cy="25229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12F304E-91EA-2EDD-9083-000E417FCAB3}"/>
              </a:ext>
            </a:extLst>
          </p:cNvPr>
          <p:cNvSpPr txBox="1"/>
          <p:nvPr/>
        </p:nvSpPr>
        <p:spPr>
          <a:xfrm>
            <a:off x="3429000" y="1750237"/>
            <a:ext cx="3720407" cy="2357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Feel-conomy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트렌드 코리아가 선정한 </a:t>
            </a:r>
            <a:r>
              <a:rPr lang="en-US" altLang="ko-KR" sz="1600" dirty="0"/>
              <a:t>2026</a:t>
            </a:r>
            <a:r>
              <a:rPr lang="ko-KR" altLang="en-US" sz="1600" dirty="0"/>
              <a:t>년 주요 소비 트렌드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기능이 아닌 자신의 기분을 위한 소비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감성적 만족감을 주는 제품 선호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재미와 공감을 통한 소비 결정</a:t>
            </a:r>
            <a:endParaRPr lang="ko-KR" altLang="en-US" b="1" dirty="0"/>
          </a:p>
        </p:txBody>
      </p:sp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EB5C0F89-1741-7008-215D-92A99FB922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4022" y="1592193"/>
            <a:ext cx="3899913" cy="252297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93FF04-EC5D-8912-F467-B8F6422744D9}"/>
              </a:ext>
            </a:extLst>
          </p:cNvPr>
          <p:cNvSpPr txBox="1"/>
          <p:nvPr/>
        </p:nvSpPr>
        <p:spPr>
          <a:xfrm>
            <a:off x="7880985" y="1758760"/>
            <a:ext cx="3769703" cy="1988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B</a:t>
            </a:r>
            <a:r>
              <a:rPr lang="ko-KR" altLang="en-US" b="1" dirty="0"/>
              <a:t>급 감성의 효과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소비자의 경계심을 허무는 효과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긍정적인 감정 유발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특유의 재미와 친근함으로 접근성 향상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자발적 공유를 유도하는 마케팅 효과</a:t>
            </a:r>
            <a:endParaRPr lang="ko-KR" altLang="en-US" b="1" dirty="0"/>
          </a:p>
        </p:txBody>
      </p:sp>
      <p:pic>
        <p:nvPicPr>
          <p:cNvPr id="18" name="Image 9" descr="preencoded.png">
            <a:extLst>
              <a:ext uri="{FF2B5EF4-FFF2-40B4-BE49-F238E27FC236}">
                <a16:creationId xmlns:a16="http://schemas.microsoft.com/office/drawing/2014/main" id="{6003F112-64F3-C4F3-44F0-11A8163FF5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8801" y="4944649"/>
            <a:ext cx="3720407" cy="12646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7A1C678-63D0-2913-0F0A-BD807E523D02}"/>
              </a:ext>
            </a:extLst>
          </p:cNvPr>
          <p:cNvSpPr txBox="1"/>
          <p:nvPr/>
        </p:nvSpPr>
        <p:spPr>
          <a:xfrm>
            <a:off x="5564590" y="5129553"/>
            <a:ext cx="3754619" cy="1249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B</a:t>
            </a:r>
            <a:r>
              <a:rPr lang="ko-KR" altLang="en-US" b="1" dirty="0"/>
              <a:t>급 감성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성공사례 증가</a:t>
            </a:r>
            <a:br>
              <a:rPr lang="en-US" altLang="ko-KR" sz="1600" dirty="0"/>
            </a:br>
            <a:endParaRPr lang="ko-KR" altLang="en-US" b="1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CD1B578-F6D8-F55D-3ADF-F85DF1051BA8}"/>
              </a:ext>
            </a:extLst>
          </p:cNvPr>
          <p:cNvSpPr/>
          <p:nvPr/>
        </p:nvSpPr>
        <p:spPr>
          <a:xfrm rot="2586534">
            <a:off x="5989882" y="4415557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E8F0679B-9FFD-C5BF-6882-A40BF8F2B55A}"/>
              </a:ext>
            </a:extLst>
          </p:cNvPr>
          <p:cNvSpPr/>
          <p:nvPr/>
        </p:nvSpPr>
        <p:spPr>
          <a:xfrm rot="8117035">
            <a:off x="8167400" y="4418339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Image 2" descr="preencoded.png">
            <a:extLst>
              <a:ext uri="{FF2B5EF4-FFF2-40B4-BE49-F238E27FC236}">
                <a16:creationId xmlns:a16="http://schemas.microsoft.com/office/drawing/2014/main" id="{FCF70875-571B-C73C-31BB-726AF389A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257" y="3025068"/>
            <a:ext cx="2666999" cy="3299532"/>
          </a:xfrm>
          <a:prstGeom prst="rect">
            <a:avLst/>
          </a:prstGeom>
        </p:spPr>
      </p:pic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35F907E6-AD4C-CA85-A1BF-29695FAB5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346" y="3154969"/>
            <a:ext cx="200025" cy="2286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6130039C-12FE-1413-9E07-847F2A816442}"/>
              </a:ext>
            </a:extLst>
          </p:cNvPr>
          <p:cNvSpPr/>
          <p:nvPr/>
        </p:nvSpPr>
        <p:spPr>
          <a:xfrm>
            <a:off x="587364" y="3474432"/>
            <a:ext cx="2251845" cy="27348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922E19FD-35D4-5CF8-74C2-D889F6D7C5CC}"/>
              </a:ext>
            </a:extLst>
          </p:cNvPr>
          <p:cNvSpPr/>
          <p:nvPr/>
        </p:nvSpPr>
        <p:spPr>
          <a:xfrm>
            <a:off x="718940" y="4027234"/>
            <a:ext cx="2120269" cy="21820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광고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돌고래유괴단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스튜디오좋</a:t>
            </a:r>
            <a:endParaRPr lang="en-US" altLang="ko-KR" sz="16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게임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en-US" altLang="ko-KR" sz="1600" dirty="0" err="1">
                <a:latin typeface="+mn-ea"/>
              </a:rPr>
              <a:t>wasd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Escape from </a:t>
            </a:r>
            <a:r>
              <a:rPr lang="en-US" altLang="ko-KR" sz="1600" dirty="0" err="1">
                <a:latin typeface="+mn-ea"/>
              </a:rPr>
              <a:t>Duckov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PEAK</a:t>
            </a: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609B1B6C-8404-7A8F-D25C-DD701EF370B4}"/>
              </a:ext>
            </a:extLst>
          </p:cNvPr>
          <p:cNvSpPr/>
          <p:nvPr/>
        </p:nvSpPr>
        <p:spPr>
          <a:xfrm>
            <a:off x="818844" y="3121931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마케팅 트렌드</a:t>
            </a:r>
            <a:endParaRPr lang="en-US" sz="1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744-DE62-EF8D-674A-A6A82B16FE58}"/>
              </a:ext>
            </a:extLst>
          </p:cNvPr>
          <p:cNvSpPr txBox="1"/>
          <p:nvPr/>
        </p:nvSpPr>
        <p:spPr>
          <a:xfrm>
            <a:off x="657358" y="361424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r>
              <a:rPr lang="ko-KR" altLang="en-US" b="1" dirty="0"/>
              <a:t>급 감성</a:t>
            </a:r>
          </a:p>
        </p:txBody>
      </p:sp>
    </p:spTree>
    <p:extLst>
      <p:ext uri="{BB962C8B-B14F-4D97-AF65-F5344CB8AC3E}">
        <p14:creationId xmlns:p14="http://schemas.microsoft.com/office/powerpoint/2010/main" val="263611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053" y="1786841"/>
            <a:ext cx="3657600" cy="279302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53" y="2053542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653" y="2418423"/>
            <a:ext cx="3200400" cy="149317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0700" y="1788308"/>
            <a:ext cx="3436305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2153" y="2016469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4503" y="2359369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34453" y="2704173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258" y="1785377"/>
            <a:ext cx="3292507" cy="27930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62353" y="2052077"/>
            <a:ext cx="163286" cy="217714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2353" y="2394977"/>
            <a:ext cx="3122012" cy="20900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15403" y="5209981"/>
            <a:ext cx="9743147" cy="921897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994703" y="2015442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785153" y="2608923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799453" y="2950802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400" dirty="0"/>
          </a:p>
        </p:txBody>
      </p:sp>
      <p:sp>
        <p:nvSpPr>
          <p:cNvPr id="21" name="Text 5"/>
          <p:cNvSpPr/>
          <p:nvPr/>
        </p:nvSpPr>
        <p:spPr>
          <a:xfrm>
            <a:off x="785153" y="32152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400" dirty="0"/>
          </a:p>
        </p:txBody>
      </p:sp>
      <p:sp>
        <p:nvSpPr>
          <p:cNvPr id="23" name="Text 7"/>
          <p:cNvSpPr/>
          <p:nvPr/>
        </p:nvSpPr>
        <p:spPr>
          <a:xfrm>
            <a:off x="5026953" y="1978369"/>
            <a:ext cx="294005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9119528" y="2013976"/>
            <a:ext cx="2334369" cy="3047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2546154" y="5506839"/>
            <a:ext cx="7399997" cy="4162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결론: Z세대가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즐겨하는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장르이면서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시장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점유율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도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높은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FPS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장르를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선택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하였다</a:t>
            </a:r>
            <a:endParaRPr lang="en-US" sz="1600" dirty="0">
              <a:latin typeface="+mn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5185251" y="2756049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E9B8FBA-832E-CEFC-3BA2-91A2C786757F}"/>
              </a:ext>
            </a:extLst>
          </p:cNvPr>
          <p:cNvSpPr/>
          <p:nvPr/>
        </p:nvSpPr>
        <p:spPr>
          <a:xfrm>
            <a:off x="785153" y="34819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장기 고객 가능성이 높음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97" y="1769615"/>
            <a:ext cx="2161615" cy="374454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991041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742" y="513763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363579"/>
            <a:ext cx="9152105" cy="4150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0112" y="1686241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</a:t>
            </a:r>
            <a:r>
              <a:rPr lang="ko-KR" altLang="en-US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발로란트</a:t>
            </a:r>
            <a:endParaRPr lang="en-US" sz="2700" dirty="0">
              <a:latin typeface="+mn-ea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743867" y="1952941"/>
            <a:ext cx="13897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691841" y="5099530"/>
            <a:ext cx="17365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VALORANT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3269555" y="1686241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9333EA"/>
                </a:solidFill>
                <a:latin typeface="ui-sans-serif" pitchFamily="34" charset="0"/>
              </a:rPr>
              <a:t>발로란트</a:t>
            </a:r>
            <a:r>
              <a:rPr lang="ko-KR" altLang="en-US" sz="1500" b="1" dirty="0">
                <a:solidFill>
                  <a:srgbClr val="9333EA"/>
                </a:solidFill>
                <a:latin typeface="ui-sans-serif" pitchFamily="34" charset="0"/>
              </a:rPr>
              <a:t> 분석</a:t>
            </a:r>
            <a:endParaRPr lang="en-US" sz="1500" dirty="0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4" name="Picture 2" descr="VALORANT | Xbox">
            <a:extLst>
              <a:ext uri="{FF2B5EF4-FFF2-40B4-BE49-F238E27FC236}">
                <a16:creationId xmlns:a16="http://schemas.microsoft.com/office/drawing/2014/main" id="{6F46199A-818F-D6E8-6AE6-53A61B6EC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26" y="2352359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17FD930C-F06E-C1F1-A388-D3EEAAD85B5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2574" y="2213948"/>
            <a:ext cx="2599187" cy="23099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A0EB7F1-431C-9614-6AAD-0B88B897C5B8}"/>
              </a:ext>
            </a:extLst>
          </p:cNvPr>
          <p:cNvSpPr txBox="1"/>
          <p:nvPr/>
        </p:nvSpPr>
        <p:spPr>
          <a:xfrm>
            <a:off x="3265248" y="2370817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발로란트란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74D1AA-3441-6055-6CEC-A79851F079F1}"/>
              </a:ext>
            </a:extLst>
          </p:cNvPr>
          <p:cNvSpPr txBox="1"/>
          <p:nvPr/>
        </p:nvSpPr>
        <p:spPr>
          <a:xfrm>
            <a:off x="3269555" y="2740149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라이엇</a:t>
            </a:r>
            <a:r>
              <a:rPr lang="ko-KR" altLang="en-US" sz="1600" dirty="0"/>
              <a:t> 게임즈 개발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- 5</a:t>
            </a:r>
            <a:r>
              <a:rPr lang="ko-KR" altLang="en-US" sz="1600" dirty="0"/>
              <a:t>대</a:t>
            </a:r>
            <a:r>
              <a:rPr lang="en-US" altLang="ko-KR" sz="1600" dirty="0"/>
              <a:t>5 </a:t>
            </a:r>
            <a:r>
              <a:rPr lang="ko-KR" altLang="en-US" sz="1600" dirty="0"/>
              <a:t>전술 슈팅 게임</a:t>
            </a:r>
          </a:p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캐릭터별 고유 능력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 기반 게임 방식</a:t>
            </a:r>
          </a:p>
        </p:txBody>
      </p:sp>
      <p:sp>
        <p:nvSpPr>
          <p:cNvPr id="18" name="AutoShape 8" descr="Escape from Duckov - 나무위키">
            <a:extLst>
              <a:ext uri="{FF2B5EF4-FFF2-40B4-BE49-F238E27FC236}">
                <a16:creationId xmlns:a16="http://schemas.microsoft.com/office/drawing/2014/main" id="{2598E00F-DE54-3A7F-2948-694423EE80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72C78477-EDEA-1B5F-2CE1-CFA010307907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62827" y="2178955"/>
            <a:ext cx="2941115" cy="23563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7EC03AB-A079-F726-1CF9-28E55D33F223}"/>
              </a:ext>
            </a:extLst>
          </p:cNvPr>
          <p:cNvSpPr txBox="1"/>
          <p:nvPr/>
        </p:nvSpPr>
        <p:spPr>
          <a:xfrm>
            <a:off x="6050202" y="24401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인기요인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DFE100-24E0-6CB2-5E1C-5514A2428760}"/>
              </a:ext>
            </a:extLst>
          </p:cNvPr>
          <p:cNvSpPr txBox="1"/>
          <p:nvPr/>
        </p:nvSpPr>
        <p:spPr>
          <a:xfrm>
            <a:off x="6050202" y="2786882"/>
            <a:ext cx="2895344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숏폼시대에</a:t>
            </a:r>
            <a:r>
              <a:rPr lang="ko-KR" altLang="en-US" sz="1600" dirty="0"/>
              <a:t> 맞는 짧은 라운드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피지컬 요소 중심 정통 </a:t>
            </a:r>
            <a:r>
              <a:rPr lang="en-US" altLang="ko-KR" sz="1600" dirty="0"/>
              <a:t>FPS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라운드마다 달라지는 전략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능력의 다양성</a:t>
            </a:r>
          </a:p>
        </p:txBody>
      </p:sp>
      <p:sp>
        <p:nvSpPr>
          <p:cNvPr id="25" name="AutoShape 8" descr="Escape from Duckov - 나무위키">
            <a:extLst>
              <a:ext uri="{FF2B5EF4-FFF2-40B4-BE49-F238E27FC236}">
                <a16:creationId xmlns:a16="http://schemas.microsoft.com/office/drawing/2014/main" id="{3D92EA02-0630-E1B0-1E8A-286261257C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6" name="Image 4" descr="preencoded.png">
            <a:extLst>
              <a:ext uri="{FF2B5EF4-FFF2-40B4-BE49-F238E27FC236}">
                <a16:creationId xmlns:a16="http://schemas.microsoft.com/office/drawing/2014/main" id="{44D93851-32E5-1BAC-16A4-8989E777F09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8349" y="2178955"/>
            <a:ext cx="2552817" cy="235630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5309F04-B12D-7BEB-BAF7-59C0DB8F74EB}"/>
              </a:ext>
            </a:extLst>
          </p:cNvPr>
          <p:cNvSpPr txBox="1"/>
          <p:nvPr/>
        </p:nvSpPr>
        <p:spPr>
          <a:xfrm>
            <a:off x="9180266" y="2411751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핵심 요소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E229E-8A3A-6995-3900-7667CB3C7958}"/>
              </a:ext>
            </a:extLst>
          </p:cNvPr>
          <p:cNvSpPr txBox="1"/>
          <p:nvPr/>
        </p:nvSpPr>
        <p:spPr>
          <a:xfrm>
            <a:off x="9184573" y="2781083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경제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짧은 라운드 형식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팀플레이 중심 게임성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</a:t>
            </a:r>
            <a:r>
              <a:rPr lang="ko-KR" altLang="en-US" sz="1600" dirty="0" err="1"/>
              <a:t>밸런싱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523A-0768-1042-D501-D36CA5FB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C039970-2782-ADE0-AECC-E3B46919F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06E9353-E083-A63A-6C7D-C83E386AD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80262AC3-4ECD-4108-E540-279C1EAF0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85" y="1068766"/>
            <a:ext cx="2161615" cy="5482885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B60F86D4-9C67-A442-37E3-22D54D9A1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294495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94BE43BE-4250-6419-3237-397627DB16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511" y="3653652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>
            <a:extLst>
              <a:ext uri="{FF2B5EF4-FFF2-40B4-BE49-F238E27FC236}">
                <a16:creationId xmlns:a16="http://schemas.microsoft.com/office/drawing/2014/main" id="{C2662EF9-DA78-0A35-FE70-9453673A1A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484996"/>
            <a:ext cx="9152105" cy="4029826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2DCBD090-DF2D-E068-3C9A-C6C5F0044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1047" y="1885013"/>
            <a:ext cx="190500" cy="19050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19F51A3F-B4A2-CE5F-26B1-83AB67326721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Escape from </a:t>
            </a:r>
            <a:r>
              <a:rPr lang="en-US" altLang="ko-KR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Duckov</a:t>
            </a:r>
            <a:endParaRPr lang="ko-KR" altLang="en-US" sz="2700" b="1" dirty="0">
              <a:solidFill>
                <a:srgbClr val="1F2937"/>
              </a:solidFill>
              <a:latin typeface="+mn-ea"/>
              <a:cs typeface="ui-sans-serif" pitchFamily="34" charset="-120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C9FCEACD-8BA0-5E8E-84E2-21FB41A2812A}"/>
              </a:ext>
            </a:extLst>
          </p:cNvPr>
          <p:cNvSpPr/>
          <p:nvPr/>
        </p:nvSpPr>
        <p:spPr>
          <a:xfrm>
            <a:off x="743867" y="125639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413ECBB2-8543-5FCB-D62A-B6B4EDE1FE9E}"/>
              </a:ext>
            </a:extLst>
          </p:cNvPr>
          <p:cNvSpPr/>
          <p:nvPr/>
        </p:nvSpPr>
        <p:spPr>
          <a:xfrm>
            <a:off x="625610" y="3615552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BAF209C-4451-0F65-4844-1968D701EDDE}"/>
              </a:ext>
            </a:extLst>
          </p:cNvPr>
          <p:cNvSpPr/>
          <p:nvPr/>
        </p:nvSpPr>
        <p:spPr>
          <a:xfrm>
            <a:off x="3353717" y="1838522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9333EA"/>
                </a:solidFill>
                <a:latin typeface="+mn-ea"/>
              </a:rPr>
              <a:t>Escape from </a:t>
            </a:r>
            <a:r>
              <a:rPr lang="en-US" sz="1600" b="1" dirty="0" err="1">
                <a:solidFill>
                  <a:srgbClr val="9333EA"/>
                </a:solidFill>
                <a:latin typeface="+mn-ea"/>
              </a:rPr>
              <a:t>Duckov</a:t>
            </a:r>
            <a:r>
              <a:rPr lang="en-US" sz="1600" b="1" dirty="0">
                <a:solidFill>
                  <a:srgbClr val="9333EA"/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rgbClr val="9333EA"/>
                </a:solidFill>
                <a:latin typeface="+mn-ea"/>
              </a:rPr>
              <a:t>분석</a:t>
            </a:r>
            <a:endParaRPr lang="en-US" sz="1600" dirty="0">
              <a:latin typeface="+mn-ea"/>
            </a:endParaRPr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0AD980F3-194A-B5CA-4C8D-F0F6453B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68" y="1637116"/>
            <a:ext cx="1867456" cy="1952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505F7FD5-6C79-0421-C27A-4F3445923867}"/>
              </a:ext>
            </a:extLst>
          </p:cNvPr>
          <p:cNvSpPr/>
          <p:nvPr/>
        </p:nvSpPr>
        <p:spPr>
          <a:xfrm rot="5400000">
            <a:off x="1212316" y="3742158"/>
            <a:ext cx="228602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47C32BF6-F4EC-4847-95E4-4D93DBC565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DB4E371D-BAB8-25BA-8714-8267430D9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11" y="4149721"/>
            <a:ext cx="1863804" cy="20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97287A70-3545-E137-F3B1-6951BB6E4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67" y="6274191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495C2189-4D18-E1A5-1C41-C887C52401E3}"/>
              </a:ext>
            </a:extLst>
          </p:cNvPr>
          <p:cNvSpPr/>
          <p:nvPr/>
        </p:nvSpPr>
        <p:spPr>
          <a:xfrm>
            <a:off x="610644" y="6246851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6" name="AutoShape 8" descr="Escape from Duckov - 나무위키">
            <a:extLst>
              <a:ext uri="{FF2B5EF4-FFF2-40B4-BE49-F238E27FC236}">
                <a16:creationId xmlns:a16="http://schemas.microsoft.com/office/drawing/2014/main" id="{03D93E21-6E2B-15B1-7A53-E67988391A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sp>
        <p:nvSpPr>
          <p:cNvPr id="10" name="AutoShape 8" descr="Escape from Duckov - 나무위키">
            <a:extLst>
              <a:ext uri="{FF2B5EF4-FFF2-40B4-BE49-F238E27FC236}">
                <a16:creationId xmlns:a16="http://schemas.microsoft.com/office/drawing/2014/main" id="{11E4C4BE-8EE7-E0A2-EFA9-674CF12A88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1" name="Image 4" descr="preencoded.png">
            <a:extLst>
              <a:ext uri="{FF2B5EF4-FFF2-40B4-BE49-F238E27FC236}">
                <a16:creationId xmlns:a16="http://schemas.microsoft.com/office/drawing/2014/main" id="{CC2331FA-F28B-73A0-DB17-FE45E45DCAB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53652" y="2322717"/>
            <a:ext cx="3602904" cy="27013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6E0CBB-18C6-A09E-E157-A4F6A7A958AA}"/>
              </a:ext>
            </a:extLst>
          </p:cNvPr>
          <p:cNvSpPr txBox="1"/>
          <p:nvPr/>
        </p:nvSpPr>
        <p:spPr>
          <a:xfrm>
            <a:off x="3141026" y="2583956"/>
            <a:ext cx="317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Tarkov</a:t>
            </a:r>
            <a:endParaRPr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394AE-47DE-0A27-0952-181E6F92E956}"/>
              </a:ext>
            </a:extLst>
          </p:cNvPr>
          <p:cNvSpPr txBox="1"/>
          <p:nvPr/>
        </p:nvSpPr>
        <p:spPr>
          <a:xfrm>
            <a:off x="3141026" y="2930643"/>
            <a:ext cx="351553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하드코어 생존 </a:t>
            </a:r>
            <a:r>
              <a:rPr lang="en-US" altLang="ko-KR" sz="1600" dirty="0"/>
              <a:t>FPS </a:t>
            </a:r>
            <a:r>
              <a:rPr lang="ko-KR" altLang="en-US" sz="1600" dirty="0"/>
              <a:t>게임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현실적인 전투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 err="1"/>
              <a:t>파밍</a:t>
            </a:r>
            <a:r>
              <a:rPr lang="en-US" altLang="ko-KR" sz="1600" dirty="0"/>
              <a:t>, </a:t>
            </a:r>
            <a:r>
              <a:rPr lang="ko-KR" altLang="en-US" sz="1600" dirty="0"/>
              <a:t>탈출</a:t>
            </a:r>
            <a:r>
              <a:rPr lang="en-US" altLang="ko-KR" sz="1600" dirty="0"/>
              <a:t>, </a:t>
            </a:r>
            <a:r>
              <a:rPr lang="ko-KR" altLang="en-US" sz="1600" dirty="0"/>
              <a:t>성장 중심 게임플레이</a:t>
            </a:r>
            <a:br>
              <a:rPr lang="en-US" altLang="ko-KR" sz="1600" dirty="0"/>
            </a:br>
            <a:r>
              <a:rPr lang="en-US" altLang="ko-KR" sz="1600" dirty="0"/>
              <a:t>- PVP </a:t>
            </a:r>
            <a:r>
              <a:rPr lang="ko-KR" altLang="en-US" sz="1600" dirty="0"/>
              <a:t>중심의 전투 시스템</a:t>
            </a:r>
          </a:p>
        </p:txBody>
      </p:sp>
      <p:sp>
        <p:nvSpPr>
          <p:cNvPr id="14" name="AutoShape 8" descr="Escape from Duckov - 나무위키">
            <a:extLst>
              <a:ext uri="{FF2B5EF4-FFF2-40B4-BE49-F238E27FC236}">
                <a16:creationId xmlns:a16="http://schemas.microsoft.com/office/drawing/2014/main" id="{77605E79-2421-7EE0-49F4-28871F849A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FEBD3AED-5382-D3D6-46B8-1204051B74D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03857" y="2322716"/>
            <a:ext cx="3798632" cy="26994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967EEB3-1377-3D7C-3553-54AFE874EE39}"/>
              </a:ext>
            </a:extLst>
          </p:cNvPr>
          <p:cNvSpPr txBox="1"/>
          <p:nvPr/>
        </p:nvSpPr>
        <p:spPr>
          <a:xfrm>
            <a:off x="7945774" y="2555513"/>
            <a:ext cx="33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</a:t>
            </a:r>
            <a:r>
              <a:rPr lang="en-US" altLang="ko-KR" b="1" dirty="0" err="1"/>
              <a:t>Duckov</a:t>
            </a:r>
            <a:endParaRPr lang="ko-KR" alt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3D8FC-7DA9-C78C-6C42-02A50EE0D25F}"/>
              </a:ext>
            </a:extLst>
          </p:cNvPr>
          <p:cNvSpPr txBox="1"/>
          <p:nvPr/>
        </p:nvSpPr>
        <p:spPr>
          <a:xfrm>
            <a:off x="7950081" y="2924845"/>
            <a:ext cx="3392365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하드코어한</a:t>
            </a:r>
            <a:r>
              <a:rPr lang="ko-KR" altLang="en-US" sz="1600" dirty="0"/>
              <a:t> 핵심 재미 요소 유지</a:t>
            </a:r>
            <a:br>
              <a:rPr lang="en-US" altLang="ko-KR" sz="1600" dirty="0"/>
            </a:br>
            <a:r>
              <a:rPr lang="en-US" altLang="ko-KR" sz="1600" dirty="0"/>
              <a:t>- PVP -&gt; PVE </a:t>
            </a:r>
            <a:r>
              <a:rPr lang="ko-KR" altLang="en-US" sz="1600" dirty="0"/>
              <a:t>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오리 캐릭터의 귀여운 컨셉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복잡한 시스템을 등급별로 단순화</a:t>
            </a:r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51317B25-75B1-C27A-00C1-338C9FD105CB}"/>
              </a:ext>
            </a:extLst>
          </p:cNvPr>
          <p:cNvSpPr/>
          <p:nvPr/>
        </p:nvSpPr>
        <p:spPr>
          <a:xfrm>
            <a:off x="7020962" y="3385541"/>
            <a:ext cx="440294" cy="484632"/>
          </a:xfrm>
          <a:prstGeom prst="rightArrow">
            <a:avLst/>
          </a:prstGeom>
          <a:solidFill>
            <a:srgbClr val="F6E7FF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313" y="2752725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4070171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4066963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1588129" y="5502209"/>
            <a:ext cx="260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ko-KR" altLang="en-US" sz="1400" dirty="0"/>
              <a:t>급 감성 </a:t>
            </a:r>
            <a:r>
              <a:rPr lang="en-US" altLang="ko-KR" sz="1400" dirty="0"/>
              <a:t>(</a:t>
            </a:r>
            <a:r>
              <a:rPr lang="ko-KR" altLang="en-US" sz="1400" dirty="0"/>
              <a:t>하찮은 캐릭터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5022458" y="5522373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41D483-B19F-107F-B024-A5EEE04F5B6C}"/>
              </a:ext>
            </a:extLst>
          </p:cNvPr>
          <p:cNvSpPr/>
          <p:nvPr/>
        </p:nvSpPr>
        <p:spPr>
          <a:xfrm>
            <a:off x="7520012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58AF181-8DD1-501F-DD47-8924C12950DC}"/>
              </a:ext>
            </a:extLst>
          </p:cNvPr>
          <p:cNvSpPr/>
          <p:nvPr/>
        </p:nvSpPr>
        <p:spPr>
          <a:xfrm rot="16200000">
            <a:off x="7516804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88B1C-DA24-0021-3AB5-90E6BBB19B5C}"/>
              </a:ext>
            </a:extLst>
          </p:cNvPr>
          <p:cNvSpPr txBox="1"/>
          <p:nvPr/>
        </p:nvSpPr>
        <p:spPr>
          <a:xfrm>
            <a:off x="8906039" y="555015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경제 시스템</a:t>
            </a:r>
          </a:p>
        </p:txBody>
      </p:sp>
      <p:pic>
        <p:nvPicPr>
          <p:cNvPr id="28" name="그림 27" descr="클립아트, 그림, 스케치, 라인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96A340-6546-9060-4148-60706128224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12086" y="3162120"/>
            <a:ext cx="1733560" cy="2030569"/>
          </a:xfrm>
          <a:prstGeom prst="rect">
            <a:avLst/>
          </a:prstGeom>
        </p:spPr>
      </p:pic>
      <p:pic>
        <p:nvPicPr>
          <p:cNvPr id="32" name="그림 31" descr="텍스트, 스크린샷, 책, 아니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935081-CC15-C4A3-C0FF-555C9307787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00009" y="2775508"/>
            <a:ext cx="1764346" cy="257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0136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762248"/>
            <a:ext cx="5562600" cy="1778503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2952749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057524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571874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838573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3435852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2833" y="153720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91896" y="1641977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384927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689727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99452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38345" y="5410199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45103" y="5576886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7381" y="5410199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0440135">
            <a:off x="5091113" y="5453062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3562" y="4784724"/>
            <a:ext cx="1440576" cy="842137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66014" y="5257573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750061" y="5086123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265084">
            <a:off x="5093356" y="5781673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33289" y="5696645"/>
            <a:ext cx="1454381" cy="7493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게임 진행 방식</a:t>
            </a:r>
            <a:endParaRPr lang="en-US" sz="2700" dirty="0">
              <a:latin typeface="+mn-ea"/>
            </a:endParaRPr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팀 설정</a:t>
            </a:r>
            <a:endParaRPr lang="en-US" sz="1500" dirty="0">
              <a:latin typeface="+mn-ea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수비팀으로 나뉜다</a:t>
            </a:r>
            <a:endParaRPr lang="en-US" sz="1400" dirty="0">
              <a:latin typeface="+mn-ea"/>
            </a:endParaRPr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latin typeface="+mn-ea"/>
              </a:rPr>
              <a:t>공격팀과 수비팀은 랜덤으로 정해진다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6" name="Text 4"/>
          <p:cNvSpPr/>
          <p:nvPr/>
        </p:nvSpPr>
        <p:spPr>
          <a:xfrm>
            <a:off x="1162050" y="3057524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공격 및 수비</a:t>
            </a:r>
            <a:endParaRPr lang="en-US" sz="1500" dirty="0">
              <a:latin typeface="+mn-ea"/>
            </a:endParaRPr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공격팀은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지정된 구역에 폭탄을 설치한다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348383" y="3805236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수비팀은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저지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하며 설치된 폭탄을 제거한다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9" name="Text 7"/>
          <p:cNvSpPr/>
          <p:nvPr/>
        </p:nvSpPr>
        <p:spPr>
          <a:xfrm>
            <a:off x="7063383" y="1641977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라운드 시스템</a:t>
            </a:r>
            <a:endParaRPr lang="en-US" sz="1500" dirty="0">
              <a:latin typeface="+mn-ea"/>
            </a:endParaRPr>
          </a:p>
        </p:txBody>
      </p:sp>
      <p:sp>
        <p:nvSpPr>
          <p:cNvPr id="50" name="Text 8"/>
          <p:cNvSpPr/>
          <p:nvPr/>
        </p:nvSpPr>
        <p:spPr>
          <a:xfrm>
            <a:off x="6858000" y="23563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한 경기는 여러 번의 짧은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라운드로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진행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된다</a:t>
            </a:r>
            <a:endParaRPr lang="en-US" sz="1400" dirty="0">
              <a:latin typeface="+mn-ea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858000" y="2661152"/>
            <a:ext cx="4483100" cy="2374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10라운드를 먼저 승리한 팀이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경기에서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승리</a:t>
            </a: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한다</a:t>
            </a:r>
            <a:endParaRPr lang="en-US" sz="1400" dirty="0"/>
          </a:p>
        </p:txBody>
      </p:sp>
      <p:sp>
        <p:nvSpPr>
          <p:cNvPr id="52" name="Text 10"/>
          <p:cNvSpPr/>
          <p:nvPr/>
        </p:nvSpPr>
        <p:spPr>
          <a:xfrm>
            <a:off x="6858000" y="29659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라운드마다 일정량의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돈을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얻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는다</a:t>
            </a:r>
            <a:endParaRPr lang="en-US" sz="1400" dirty="0">
              <a:latin typeface="+mn-ea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2390745" y="55054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4199781" y="5505449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게임 진행</a:t>
            </a:r>
            <a:endParaRPr lang="en-US" sz="1200" dirty="0">
              <a:latin typeface="+mn-ea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778617" y="4842124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+mn-ea"/>
                <a:cs typeface="ui-sans-serif" pitchFamily="34" charset="-120"/>
              </a:rPr>
              <a:t>공격 성공</a:t>
            </a:r>
            <a:endParaRPr lang="en-US" sz="1200" dirty="0">
              <a:latin typeface="+mn-ea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7854255" y="5175024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공/수비 변경</a:t>
            </a:r>
            <a:endParaRPr lang="en-US" sz="1200" dirty="0">
              <a:latin typeface="+mn-ea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5756227" y="5777998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+mn-ea"/>
                <a:cs typeface="ui-sans-serif" pitchFamily="34" charset="-120"/>
              </a:rPr>
              <a:t>공격 실패</a:t>
            </a:r>
            <a:endParaRPr lang="en-US" sz="1200" dirty="0">
              <a:latin typeface="+mn-ea"/>
            </a:endParaRPr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14798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06717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400" dirty="0">
                <a:latin typeface="+mn-ea"/>
              </a:rPr>
              <a:t>공격팀이 공격 성공 시 </a:t>
            </a:r>
            <a:r>
              <a:rPr lang="ko-KR" altLang="en-US" sz="1400" dirty="0" err="1">
                <a:latin typeface="+mn-ea"/>
              </a:rPr>
              <a:t>공수교대한다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26" name="Image 17" descr="preencoded.png">
            <a:extLst>
              <a:ext uri="{FF2B5EF4-FFF2-40B4-BE49-F238E27FC236}">
                <a16:creationId xmlns:a16="http://schemas.microsoft.com/office/drawing/2014/main" id="{CB9B04F9-5509-0661-0601-06C740D667B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323139"/>
            <a:ext cx="76200" cy="152400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4566EDB6-0AC7-5629-771D-C0DE4FE8340A}"/>
              </a:ext>
            </a:extLst>
          </p:cNvPr>
          <p:cNvSpPr/>
          <p:nvPr/>
        </p:nvSpPr>
        <p:spPr>
          <a:xfrm>
            <a:off x="6849219" y="329456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라운드마다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경기 시간이 늘어난다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41" name="Image 17" descr="preencoded.png">
            <a:extLst>
              <a:ext uri="{FF2B5EF4-FFF2-40B4-BE49-F238E27FC236}">
                <a16:creationId xmlns:a16="http://schemas.microsoft.com/office/drawing/2014/main" id="{AE508E75-2C89-F7E4-9CFE-7ABB9D1FC4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629025"/>
            <a:ext cx="762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DBA784ED-EBD8-9470-314A-2FDD66E0E0F8}"/>
              </a:ext>
            </a:extLst>
          </p:cNvPr>
          <p:cNvSpPr/>
          <p:nvPr/>
        </p:nvSpPr>
        <p:spPr>
          <a:xfrm>
            <a:off x="6849219" y="36004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 시작 전 재화를 사용하는 시간이 주어진다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5E858E0-A1FF-FE3A-2ECF-78C10E440858}"/>
              </a:ext>
            </a:extLst>
          </p:cNvPr>
          <p:cNvSpPr/>
          <p:nvPr/>
        </p:nvSpPr>
        <p:spPr>
          <a:xfrm>
            <a:off x="5778617" y="5068887"/>
            <a:ext cx="1331442" cy="4431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latin typeface="+mn-ea"/>
              </a:rPr>
              <a:t>폭탄 폭발</a:t>
            </a:r>
            <a:br>
              <a:rPr lang="en-US" altLang="ko-KR" sz="1200" dirty="0">
                <a:latin typeface="+mn-ea"/>
              </a:rPr>
            </a:br>
            <a:r>
              <a:rPr lang="ko-KR" altLang="en-US" sz="1200" dirty="0" err="1">
                <a:latin typeface="+mn-ea"/>
              </a:rPr>
              <a:t>수비팀</a:t>
            </a:r>
            <a:r>
              <a:rPr lang="ko-KR" altLang="en-US" sz="1200" dirty="0">
                <a:latin typeface="+mn-ea"/>
              </a:rPr>
              <a:t> 전원 사망</a:t>
            </a:r>
            <a:endParaRPr lang="en-US" sz="1200" dirty="0">
              <a:latin typeface="+mn-ea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90EDC988-72ED-F57E-3241-30FB39B4FC78}"/>
              </a:ext>
            </a:extLst>
          </p:cNvPr>
          <p:cNvSpPr/>
          <p:nvPr/>
        </p:nvSpPr>
        <p:spPr>
          <a:xfrm>
            <a:off x="5756227" y="6015701"/>
            <a:ext cx="1331443" cy="41877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>
                <a:latin typeface="+mn-ea"/>
              </a:rPr>
              <a:t>공격팀</a:t>
            </a:r>
            <a:r>
              <a:rPr lang="ko-KR" altLang="en-US" sz="1200" dirty="0">
                <a:latin typeface="+mn-ea"/>
              </a:rPr>
              <a:t> 전원 사망</a:t>
            </a:r>
            <a:endParaRPr lang="en-US" sz="1200" dirty="0">
              <a:latin typeface="+mn-ea"/>
            </a:endParaRPr>
          </a:p>
        </p:txBody>
      </p:sp>
      <p:pic>
        <p:nvPicPr>
          <p:cNvPr id="22" name="Image 30" descr="preencoded.png">
            <a:extLst>
              <a:ext uri="{FF2B5EF4-FFF2-40B4-BE49-F238E27FC236}">
                <a16:creationId xmlns:a16="http://schemas.microsoft.com/office/drawing/2014/main" id="{CC4625E9-17A2-7769-91A9-18EE4087286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1294980">
            <a:off x="9072938" y="5391745"/>
            <a:ext cx="476250" cy="19050"/>
          </a:xfrm>
          <a:prstGeom prst="rect">
            <a:avLst/>
          </a:prstGeom>
        </p:spPr>
      </p:pic>
      <p:pic>
        <p:nvPicPr>
          <p:cNvPr id="23" name="Image 25" descr="preencoded.png">
            <a:extLst>
              <a:ext uri="{FF2B5EF4-FFF2-40B4-BE49-F238E27FC236}">
                <a16:creationId xmlns:a16="http://schemas.microsoft.com/office/drawing/2014/main" id="{C8F86B91-0845-3B4E-17B3-02826E12BA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2355" y="5416799"/>
            <a:ext cx="1119932" cy="381000"/>
          </a:xfrm>
          <a:prstGeom prst="rect">
            <a:avLst/>
          </a:prstGeom>
        </p:spPr>
      </p:pic>
      <p:sp>
        <p:nvSpPr>
          <p:cNvPr id="25" name="Text 16">
            <a:extLst>
              <a:ext uri="{FF2B5EF4-FFF2-40B4-BE49-F238E27FC236}">
                <a16:creationId xmlns:a16="http://schemas.microsoft.com/office/drawing/2014/main" id="{95005288-BCAF-95DB-49B1-04A07A08219C}"/>
              </a:ext>
            </a:extLst>
          </p:cNvPr>
          <p:cNvSpPr/>
          <p:nvPr/>
        </p:nvSpPr>
        <p:spPr>
          <a:xfrm>
            <a:off x="9864755" y="55120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pic>
        <p:nvPicPr>
          <p:cNvPr id="33" name="Image 30" descr="preencoded.png">
            <a:extLst>
              <a:ext uri="{FF2B5EF4-FFF2-40B4-BE49-F238E27FC236}">
                <a16:creationId xmlns:a16="http://schemas.microsoft.com/office/drawing/2014/main" id="{091D22C7-765F-CA1D-032F-C5D6A84FD3F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1195635" flipV="1">
            <a:off x="7474897" y="5912983"/>
            <a:ext cx="1682033" cy="457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89" y="1333499"/>
            <a:ext cx="727637" cy="72763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28750"/>
            <a:ext cx="407906" cy="54387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79951" y="1333499"/>
            <a:ext cx="771637" cy="77163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7114" y="1466849"/>
            <a:ext cx="443545" cy="525683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88327" y="1333500"/>
            <a:ext cx="771636" cy="771636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1079711" y="1529149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닭</a:t>
            </a:r>
            <a:endParaRPr lang="en-US" sz="18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5041024" y="1528387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돼지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9002017" y="1525813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생선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A80C62-B195-C9A2-9BAA-3FD94203AE30}"/>
              </a:ext>
            </a:extLst>
          </p:cNvPr>
          <p:cNvSpPr txBox="1"/>
          <p:nvPr/>
        </p:nvSpPr>
        <p:spPr>
          <a:xfrm>
            <a:off x="4315004" y="2715428"/>
            <a:ext cx="35052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짧은 돌진을 함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상대에게 </a:t>
            </a:r>
            <a:r>
              <a:rPr lang="ko-KR" altLang="en-US" b="0" i="0" dirty="0" err="1">
                <a:effectLst/>
                <a:latin typeface="gg sans"/>
              </a:rPr>
              <a:t>타격시</a:t>
            </a:r>
            <a:r>
              <a:rPr lang="ko-KR" altLang="en-US" b="0" i="0" dirty="0">
                <a:effectLst/>
                <a:latin typeface="gg sans"/>
              </a:rPr>
              <a:t> 약간의 </a:t>
            </a:r>
            <a:r>
              <a:rPr lang="ko-KR" altLang="en-US" b="0" i="0" dirty="0" err="1">
                <a:effectLst/>
                <a:latin typeface="gg sans"/>
              </a:rPr>
              <a:t>넉백</a:t>
            </a:r>
            <a:r>
              <a:rPr lang="en-US" altLang="ko-KR" b="0" i="0" dirty="0">
                <a:effectLst/>
                <a:latin typeface="gg sans"/>
              </a:rPr>
              <a:t>,</a:t>
            </a:r>
            <a:r>
              <a:rPr lang="ko-KR" altLang="en-US" b="0" i="0" dirty="0">
                <a:effectLst/>
                <a:latin typeface="gg sans"/>
              </a:rPr>
              <a:t> 짧은 기절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부술 수 있는 벽을 한번에 부숨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31B3E7-B55B-7186-F0F4-07F71D4FC2FE}"/>
              </a:ext>
            </a:extLst>
          </p:cNvPr>
          <p:cNvSpPr txBox="1"/>
          <p:nvPr/>
        </p:nvSpPr>
        <p:spPr>
          <a:xfrm>
            <a:off x="4521101" y="2320040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배치기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12F15D-004A-BF7D-FBB0-F5D081122685}"/>
              </a:ext>
            </a:extLst>
          </p:cNvPr>
          <p:cNvSpPr txBox="1"/>
          <p:nvPr/>
        </p:nvSpPr>
        <p:spPr>
          <a:xfrm>
            <a:off x="4503380" y="3941813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만유인력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E25718-5711-3060-A573-AB241938788C}"/>
              </a:ext>
            </a:extLst>
          </p:cNvPr>
          <p:cNvSpPr txBox="1"/>
          <p:nvPr/>
        </p:nvSpPr>
        <p:spPr>
          <a:xfrm>
            <a:off x="4330927" y="4429035"/>
            <a:ext cx="346680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자신을 중심으로 상대를 끌어당김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스킬 유지 시간동안 넓은 범위의 적들을 </a:t>
            </a:r>
            <a:r>
              <a:rPr lang="ko-KR" altLang="en-US" dirty="0">
                <a:latin typeface="gg sans"/>
              </a:rPr>
              <a:t>수차례 동일한 간격으로 </a:t>
            </a:r>
            <a:r>
              <a:rPr lang="ko-KR" altLang="en-US" b="0" i="0" dirty="0" err="1">
                <a:effectLst/>
                <a:latin typeface="gg sans"/>
              </a:rPr>
              <a:t>자신쪽으로</a:t>
            </a:r>
            <a:r>
              <a:rPr lang="ko-KR" altLang="en-US" b="0" i="0" dirty="0">
                <a:effectLst/>
                <a:latin typeface="gg sans"/>
              </a:rPr>
              <a:t> </a:t>
            </a:r>
            <a:r>
              <a:rPr lang="ko-KR" altLang="en-US" b="0" i="0" dirty="0" err="1">
                <a:effectLst/>
                <a:latin typeface="gg sans"/>
              </a:rPr>
              <a:t>넉백시킴</a:t>
            </a:r>
            <a:r>
              <a:rPr lang="ko-KR" altLang="en-US" b="0" i="0" dirty="0">
                <a:effectLst/>
                <a:latin typeface="gg sans"/>
              </a:rPr>
              <a:t> 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58219-7ECD-59E7-4CBB-0BDC5905FB4B}"/>
              </a:ext>
            </a:extLst>
          </p:cNvPr>
          <p:cNvSpPr txBox="1"/>
          <p:nvPr/>
        </p:nvSpPr>
        <p:spPr>
          <a:xfrm>
            <a:off x="8362799" y="2331747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갈매기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DD2010-45C4-42BC-B3FE-32B2AF1D5B79}"/>
              </a:ext>
            </a:extLst>
          </p:cNvPr>
          <p:cNvSpPr txBox="1"/>
          <p:nvPr/>
        </p:nvSpPr>
        <p:spPr>
          <a:xfrm>
            <a:off x="8204149" y="2765075"/>
            <a:ext cx="3606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정찰용 갈매기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피격 </a:t>
            </a:r>
            <a:r>
              <a:rPr lang="ko-KR" altLang="en-US" b="0" i="0" dirty="0" err="1">
                <a:effectLst/>
                <a:latin typeface="gg sans"/>
              </a:rPr>
              <a:t>누적시</a:t>
            </a:r>
            <a:r>
              <a:rPr lang="ko-KR" altLang="en-US" b="0" i="0" dirty="0">
                <a:effectLst/>
                <a:latin typeface="gg sans"/>
              </a:rPr>
              <a:t> 파괴됨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773F08-75F9-2C91-CDDA-1A757A18F7EB}"/>
              </a:ext>
            </a:extLst>
          </p:cNvPr>
          <p:cNvSpPr txBox="1"/>
          <p:nvPr/>
        </p:nvSpPr>
        <p:spPr>
          <a:xfrm>
            <a:off x="8392526" y="3915757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파도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02FE37-9D9B-2A50-8455-0D0CEADA05A7}"/>
              </a:ext>
            </a:extLst>
          </p:cNvPr>
          <p:cNvSpPr txBox="1"/>
          <p:nvPr/>
        </p:nvSpPr>
        <p:spPr>
          <a:xfrm>
            <a:off x="8178879" y="4428708"/>
            <a:ext cx="36067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넓은 지정범위에 파도를 일으킴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 err="1">
                <a:effectLst/>
                <a:latin typeface="gg sans"/>
              </a:rPr>
              <a:t>발동시</a:t>
            </a:r>
            <a:r>
              <a:rPr lang="ko-KR" altLang="en-US" b="0" i="0" dirty="0">
                <a:effectLst/>
                <a:latin typeface="gg sans"/>
              </a:rPr>
              <a:t> 진탕 </a:t>
            </a:r>
            <a:r>
              <a:rPr lang="en-US" altLang="ko-KR" b="0" i="0" dirty="0">
                <a:effectLst/>
                <a:latin typeface="gg sans"/>
              </a:rPr>
              <a:t>+ </a:t>
            </a:r>
            <a:r>
              <a:rPr lang="ko-KR" altLang="en-US" b="0" i="0" dirty="0">
                <a:effectLst/>
                <a:latin typeface="gg sans"/>
              </a:rPr>
              <a:t>남은 장판에 장시간 미끄러짐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41EC7-B8CA-E6F9-80B2-A4099A25A22A}"/>
              </a:ext>
            </a:extLst>
          </p:cNvPr>
          <p:cNvSpPr txBox="1"/>
          <p:nvPr/>
        </p:nvSpPr>
        <p:spPr>
          <a:xfrm>
            <a:off x="463449" y="2331747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알 폭탄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EC97C8-E901-7921-9223-27797B5B884A}"/>
              </a:ext>
            </a:extLst>
          </p:cNvPr>
          <p:cNvSpPr txBox="1"/>
          <p:nvPr/>
        </p:nvSpPr>
        <p:spPr>
          <a:xfrm>
            <a:off x="407713" y="2765074"/>
            <a:ext cx="3526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총으로 알을 발사함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유탄</a:t>
            </a:r>
            <a:r>
              <a:rPr lang="en-US" altLang="ko-KR" b="0" i="0" dirty="0">
                <a:effectLst/>
                <a:latin typeface="gg sans"/>
              </a:rPr>
              <a:t>) </a:t>
            </a: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다중히트 데미지 남겨진 장판엔 슬로우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4B8A62-CC16-4C8A-9B57-BB235B4CD065}"/>
              </a:ext>
            </a:extLst>
          </p:cNvPr>
          <p:cNvSpPr txBox="1"/>
          <p:nvPr/>
        </p:nvSpPr>
        <p:spPr>
          <a:xfrm>
            <a:off x="463449" y="3981751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부활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F0471F-E537-8C7B-D74B-D23F24FE95B3}"/>
              </a:ext>
            </a:extLst>
          </p:cNvPr>
          <p:cNvSpPr txBox="1"/>
          <p:nvPr/>
        </p:nvSpPr>
        <p:spPr>
          <a:xfrm>
            <a:off x="381000" y="4421205"/>
            <a:ext cx="35303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알을 설치하면 죽은 뒤 알에서 부화 가능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알은 파괴 가능</a:t>
            </a:r>
            <a:endParaRPr lang="ko-KR" altLang="en-US" dirty="0"/>
          </a:p>
        </p:txBody>
      </p:sp>
      <p:pic>
        <p:nvPicPr>
          <p:cNvPr id="73" name="그래픽 72" descr="망원경 단색으로 채워진">
            <a:extLst>
              <a:ext uri="{FF2B5EF4-FFF2-40B4-BE49-F238E27FC236}">
                <a16:creationId xmlns:a16="http://schemas.microsoft.com/office/drawing/2014/main" id="{6D5A5111-A533-1858-4464-AEA2ED4E45B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68438" y="1428750"/>
            <a:ext cx="611413" cy="6114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273" y="1142998"/>
            <a:ext cx="3600000" cy="518217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149" y="1428749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592" y="152663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250696"/>
            <a:ext cx="3499798" cy="511966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626" y="1142998"/>
            <a:ext cx="3600000" cy="5182179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03114" y="1414925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5514" y="1519700"/>
            <a:ext cx="17145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60851" y="1132112"/>
            <a:ext cx="3600000" cy="5182179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85485" y="1424299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4073" y="1529074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0705" y="3250696"/>
            <a:ext cx="3400292" cy="2577517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6" name="Text 5"/>
          <p:cNvSpPr/>
          <p:nvPr/>
        </p:nvSpPr>
        <p:spPr>
          <a:xfrm>
            <a:off x="5003998" y="1572639"/>
            <a:ext cx="822177" cy="3135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 err="1">
                <a:latin typeface="+mn-ea"/>
                <a:cs typeface="ui-sans-serif" pitchFamily="34" charset="-120"/>
              </a:rPr>
              <a:t>랩톤</a:t>
            </a:r>
            <a:endParaRPr lang="en-US" sz="2800" dirty="0">
              <a:latin typeface="+mn-ea"/>
            </a:endParaRPr>
          </a:p>
        </p:txBody>
      </p:sp>
      <p:sp>
        <p:nvSpPr>
          <p:cNvPr id="30" name="Text 9"/>
          <p:cNvSpPr/>
          <p:nvPr/>
        </p:nvSpPr>
        <p:spPr>
          <a:xfrm>
            <a:off x="8886369" y="1541171"/>
            <a:ext cx="73820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>
                <a:latin typeface="+mn-ea"/>
                <a:cs typeface="ui-sans-serif" pitchFamily="34" charset="-120"/>
              </a:rPr>
              <a:t>상점</a:t>
            </a:r>
            <a:endParaRPr lang="en-US" sz="28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BB512-283A-4D85-26F4-6EC59F274D26}"/>
              </a:ext>
            </a:extLst>
          </p:cNvPr>
          <p:cNvSpPr txBox="1"/>
          <p:nvPr/>
        </p:nvSpPr>
        <p:spPr>
          <a:xfrm>
            <a:off x="370273" y="237410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팀원 전체 자금 투자 </a:t>
            </a:r>
            <a:r>
              <a:rPr lang="en-US" altLang="ko-KR" dirty="0"/>
              <a:t>        </a:t>
            </a:r>
            <a:r>
              <a:rPr lang="ko-KR" altLang="en-US" dirty="0"/>
              <a:t>추가능력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91F43-370D-DB56-8EA1-E8941EAB2F12}"/>
              </a:ext>
            </a:extLst>
          </p:cNvPr>
          <p:cNvSpPr txBox="1"/>
          <p:nvPr/>
        </p:nvSpPr>
        <p:spPr>
          <a:xfrm>
            <a:off x="978382" y="1433021"/>
            <a:ext cx="9029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/>
              <a:t>펀딩</a:t>
            </a:r>
            <a:endParaRPr lang="ko-KR" altLang="en-US" sz="2800" b="1" dirty="0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DFCA6628-8FDF-4186-9F82-E2EDCAF00D6F}"/>
              </a:ext>
            </a:extLst>
          </p:cNvPr>
          <p:cNvSpPr/>
          <p:nvPr/>
        </p:nvSpPr>
        <p:spPr>
          <a:xfrm>
            <a:off x="2517938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37F90F-5596-BBF3-4A22-B7A8423251D0}"/>
              </a:ext>
            </a:extLst>
          </p:cNvPr>
          <p:cNvSpPr txBox="1"/>
          <p:nvPr/>
        </p:nvSpPr>
        <p:spPr>
          <a:xfrm>
            <a:off x="566415" y="3329326"/>
            <a:ext cx="32077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공격력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총기 </a:t>
            </a:r>
            <a:r>
              <a:rPr lang="ko-KR" altLang="en-US" sz="1500" dirty="0" err="1">
                <a:latin typeface="+mn-ea"/>
              </a:rPr>
              <a:t>피해량</a:t>
            </a:r>
            <a:r>
              <a:rPr lang="ko-KR" altLang="en-US" sz="1500" dirty="0">
                <a:latin typeface="+mn-ea"/>
              </a:rPr>
              <a:t>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9DF66E85-5AA4-E453-A112-09F5AD0F3F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939213"/>
            <a:ext cx="3499798" cy="5119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7A77DFD-E17C-86ED-CB72-AB7CA401FB30}"/>
              </a:ext>
            </a:extLst>
          </p:cNvPr>
          <p:cNvSpPr txBox="1"/>
          <p:nvPr/>
        </p:nvSpPr>
        <p:spPr>
          <a:xfrm>
            <a:off x="431149" y="4017843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방어력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받는 데미지 감소율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45" name="Image 6" descr="preencoded.png">
            <a:extLst>
              <a:ext uri="{FF2B5EF4-FFF2-40B4-BE49-F238E27FC236}">
                <a16:creationId xmlns:a16="http://schemas.microsoft.com/office/drawing/2014/main" id="{05298464-4D0B-DF96-6EE7-B5BA61C5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4627730"/>
            <a:ext cx="3499798" cy="51196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0DE6E8D-1615-8091-1ADF-18F4FB850A47}"/>
              </a:ext>
            </a:extLst>
          </p:cNvPr>
          <p:cNvSpPr txBox="1"/>
          <p:nvPr/>
        </p:nvSpPr>
        <p:spPr>
          <a:xfrm>
            <a:off x="431149" y="4706360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장전속도 증가</a:t>
            </a:r>
          </a:p>
        </p:txBody>
      </p:sp>
      <p:pic>
        <p:nvPicPr>
          <p:cNvPr id="47" name="Image 6" descr="preencoded.png">
            <a:extLst>
              <a:ext uri="{FF2B5EF4-FFF2-40B4-BE49-F238E27FC236}">
                <a16:creationId xmlns:a16="http://schemas.microsoft.com/office/drawing/2014/main" id="{161DCD38-DA31-0589-5EB3-A0DEB604C4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5316247"/>
            <a:ext cx="3499798" cy="51196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A225156-CA01-C685-82AE-E109D64F0065}"/>
              </a:ext>
            </a:extLst>
          </p:cNvPr>
          <p:cNvSpPr txBox="1"/>
          <p:nvPr/>
        </p:nvSpPr>
        <p:spPr>
          <a:xfrm>
            <a:off x="431149" y="5394877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이동 속도 증가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B90EFD-53EF-3051-A29F-33A5F6C48569}"/>
              </a:ext>
            </a:extLst>
          </p:cNvPr>
          <p:cNvSpPr txBox="1"/>
          <p:nvPr/>
        </p:nvSpPr>
        <p:spPr>
          <a:xfrm>
            <a:off x="4259375" y="2358996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개인 자금 투자 </a:t>
            </a:r>
            <a:r>
              <a:rPr lang="en-US" altLang="ko-KR" dirty="0"/>
              <a:t>         </a:t>
            </a:r>
            <a:r>
              <a:rPr lang="ko-KR" altLang="en-US" dirty="0"/>
              <a:t>추가능력</a:t>
            </a:r>
          </a:p>
        </p:txBody>
      </p:sp>
      <p:sp>
        <p:nvSpPr>
          <p:cNvPr id="50" name="화살표: 오른쪽 49">
            <a:extLst>
              <a:ext uri="{FF2B5EF4-FFF2-40B4-BE49-F238E27FC236}">
                <a16:creationId xmlns:a16="http://schemas.microsoft.com/office/drawing/2014/main" id="{5D31F6DD-9792-8221-6339-F73BC4BB6D48}"/>
              </a:ext>
            </a:extLst>
          </p:cNvPr>
          <p:cNvSpPr/>
          <p:nvPr/>
        </p:nvSpPr>
        <p:spPr>
          <a:xfrm>
            <a:off x="5923300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Image 10" descr="preencoded.png">
            <a:extLst>
              <a:ext uri="{FF2B5EF4-FFF2-40B4-BE49-F238E27FC236}">
                <a16:creationId xmlns:a16="http://schemas.microsoft.com/office/drawing/2014/main" id="{170807BB-FEDE-D97D-BF0D-B189853F17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5209771"/>
            <a:ext cx="3509700" cy="101654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9ECC98-F310-2C60-D106-2A666054A51F}"/>
              </a:ext>
            </a:extLst>
          </p:cNvPr>
          <p:cNvSpPr txBox="1"/>
          <p:nvPr/>
        </p:nvSpPr>
        <p:spPr>
          <a:xfrm>
            <a:off x="4259375" y="5260082"/>
            <a:ext cx="3509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전투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굴렁쇠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적 </a:t>
            </a:r>
            <a:r>
              <a:rPr lang="ko-KR" altLang="en-US" sz="1500" dirty="0" err="1">
                <a:latin typeface="+mn-ea"/>
              </a:rPr>
              <a:t>처치시</a:t>
            </a:r>
            <a:r>
              <a:rPr lang="ko-KR" altLang="en-US" sz="1500" dirty="0">
                <a:latin typeface="+mn-ea"/>
              </a:rPr>
              <a:t> 일정 시간 이동속도 증가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견고한 자세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피격 시 받는 경직 효과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정조준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샷 정확도 향상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56" name="Image 10" descr="preencoded.png">
            <a:extLst>
              <a:ext uri="{FF2B5EF4-FFF2-40B4-BE49-F238E27FC236}">
                <a16:creationId xmlns:a16="http://schemas.microsoft.com/office/drawing/2014/main" id="{A0169841-4458-7DED-95AF-0D4B2577F73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4116404"/>
            <a:ext cx="3509700" cy="101654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3F81085-97C5-700F-BACE-7E71F3E13299}"/>
              </a:ext>
            </a:extLst>
          </p:cNvPr>
          <p:cNvSpPr txBox="1"/>
          <p:nvPr/>
        </p:nvSpPr>
        <p:spPr>
          <a:xfrm>
            <a:off x="4297776" y="4351545"/>
            <a:ext cx="35097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경제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알뜰한 시작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라운드 시작 시 추가 재화 획득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총기 할인</a:t>
            </a:r>
          </a:p>
        </p:txBody>
      </p:sp>
      <p:pic>
        <p:nvPicPr>
          <p:cNvPr id="58" name="Image 10" descr="preencoded.png">
            <a:extLst>
              <a:ext uri="{FF2B5EF4-FFF2-40B4-BE49-F238E27FC236}">
                <a16:creationId xmlns:a16="http://schemas.microsoft.com/office/drawing/2014/main" id="{3DD5E38C-164E-3374-0613-F8F7DD013E0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3000998"/>
            <a:ext cx="3509700" cy="101654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134ED65-EAB5-E63D-18BD-BB474D5B6469}"/>
              </a:ext>
            </a:extLst>
          </p:cNvPr>
          <p:cNvSpPr txBox="1"/>
          <p:nvPr/>
        </p:nvSpPr>
        <p:spPr>
          <a:xfrm>
            <a:off x="4168450" y="3109378"/>
            <a:ext cx="35097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생존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자연 치유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폭발 방호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폭발로 부터 받는 피해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강철 피부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 err="1">
                <a:latin typeface="+mn-ea"/>
              </a:rPr>
              <a:t>방어구</a:t>
            </a:r>
            <a:r>
              <a:rPr lang="ko-KR" altLang="en-US" sz="1500" dirty="0">
                <a:latin typeface="+mn-ea"/>
              </a:rPr>
              <a:t> 내구도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FD029-506D-833B-4039-7395FF69BC35}"/>
              </a:ext>
            </a:extLst>
          </p:cNvPr>
          <p:cNvSpPr txBox="1"/>
          <p:nvPr/>
        </p:nvSpPr>
        <p:spPr>
          <a:xfrm>
            <a:off x="8167600" y="2310095"/>
            <a:ext cx="3593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타 게임의 상점 시스템 사용</a:t>
            </a:r>
            <a:endParaRPr lang="en-US" altLang="ko-KR" dirty="0"/>
          </a:p>
          <a:p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 err="1"/>
              <a:t>발로란트</a:t>
            </a:r>
            <a:r>
              <a:rPr lang="en-US" altLang="ko-KR" dirty="0"/>
              <a:t>, </a:t>
            </a:r>
            <a:r>
              <a:rPr lang="ko-KR" altLang="en-US" dirty="0"/>
              <a:t>카스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21CC21-E6D2-2B29-82B3-EC2F777F7C08}"/>
              </a:ext>
            </a:extLst>
          </p:cNvPr>
          <p:cNvSpPr txBox="1"/>
          <p:nvPr/>
        </p:nvSpPr>
        <p:spPr>
          <a:xfrm>
            <a:off x="8285485" y="3833176"/>
            <a:ext cx="330644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총기류 </a:t>
            </a:r>
            <a:r>
              <a:rPr lang="en-US" altLang="ko-KR" sz="1500" dirty="0">
                <a:latin typeface="+mn-ea"/>
              </a:rPr>
              <a:t>: AR,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DMR,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SMG,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MG</a:t>
            </a: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방탄복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수류탄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화염병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 err="1">
                <a:latin typeface="+mn-ea"/>
              </a:rPr>
              <a:t>섬광탄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연막탄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해체키트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특수장비류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방패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총알막이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음파폭탄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일정 범위에 있는 적 식별 가능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 err="1">
                <a:latin typeface="+mn-ea"/>
              </a:rPr>
              <a:t>드론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 err="1">
                <a:latin typeface="+mn-ea"/>
              </a:rPr>
              <a:t>회복류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붕대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회복키트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드링크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C1BFB58-2719-AA9F-CBAB-DF6B1CFD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1430071-44C8-0AEA-1EF0-CA299FC0AE5C}"/>
              </a:ext>
            </a:extLst>
          </p:cNvPr>
          <p:cNvSpPr/>
          <p:nvPr/>
        </p:nvSpPr>
        <p:spPr>
          <a:xfrm>
            <a:off x="20101" y="2106310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6848B2B-A47D-91B3-05F2-7F063A620D43}"/>
              </a:ext>
            </a:extLst>
          </p:cNvPr>
          <p:cNvSpPr/>
          <p:nvPr/>
        </p:nvSpPr>
        <p:spPr>
          <a:xfrm>
            <a:off x="20101" y="3448869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A8E9721-EBDF-44F9-62EE-32C2ABFD4E06}"/>
              </a:ext>
            </a:extLst>
          </p:cNvPr>
          <p:cNvSpPr/>
          <p:nvPr/>
        </p:nvSpPr>
        <p:spPr>
          <a:xfrm>
            <a:off x="6134861" y="3435324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9DE3189-A0EB-847B-313F-810469AC9C0F}"/>
              </a:ext>
            </a:extLst>
          </p:cNvPr>
          <p:cNvSpPr/>
          <p:nvPr/>
        </p:nvSpPr>
        <p:spPr>
          <a:xfrm>
            <a:off x="6134861" y="2113737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004DE9-267E-5F21-E68C-B34F59EDF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3324" y1="27007" x2="63324" y2="28175"/>
                        <a14:foregroundMark x1="30907" y1="32701" x2="30769" y2="39124"/>
                        <a14:foregroundMark x1="34890" y1="67445" x2="34890" y2="684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8072" y="2263218"/>
            <a:ext cx="820069" cy="7716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C42B20B7-B30E-54B3-5511-36A029837571}"/>
              </a:ext>
            </a:extLst>
          </p:cNvPr>
          <p:cNvSpPr txBox="1"/>
          <p:nvPr/>
        </p:nvSpPr>
        <p:spPr>
          <a:xfrm>
            <a:off x="2509958" y="2471795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Microsoft Windows 11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9" name="Picture 2" descr="microsoft visual studio2019 icon에 대한 이미지 검색결과">
            <a:extLst>
              <a:ext uri="{FF2B5EF4-FFF2-40B4-BE49-F238E27FC236}">
                <a16:creationId xmlns:a16="http://schemas.microsoft.com/office/drawing/2014/main" id="{AC64E882-565C-698C-A488-C0309EEA2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147" y="3629941"/>
            <a:ext cx="723304" cy="723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11">
            <a:extLst>
              <a:ext uri="{FF2B5EF4-FFF2-40B4-BE49-F238E27FC236}">
                <a16:creationId xmlns:a16="http://schemas.microsoft.com/office/drawing/2014/main" id="{19DD4166-0ECC-09F6-F7FD-6B14F8619CCA}"/>
              </a:ext>
            </a:extLst>
          </p:cNvPr>
          <p:cNvSpPr txBox="1"/>
          <p:nvPr/>
        </p:nvSpPr>
        <p:spPr>
          <a:xfrm>
            <a:off x="2509958" y="3806927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Visual Studio 2022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B80D03B-12C6-8EBF-C606-940F8F580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4986" y1="33824" x2="44986" y2="33824"/>
                        <a14:foregroundMark x1="50678" y1="36029" x2="50678" y2="36029"/>
                        <a14:foregroundMark x1="50949" y1="52941" x2="50949" y2="52941"/>
                        <a14:foregroundMark x1="55285" y1="47794" x2="55285" y2="47794"/>
                        <a14:foregroundMark x1="65854" y1="48529" x2="65854" y2="48529"/>
                        <a14:foregroundMark x1="72087" y1="54412" x2="72087" y2="54412"/>
                        <a14:foregroundMark x1="82385" y1="47794" x2="82385" y2="477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66299" y="2263218"/>
            <a:ext cx="2048140" cy="754870"/>
          </a:xfrm>
          <a:prstGeom prst="rect">
            <a:avLst/>
          </a:prstGeom>
        </p:spPr>
      </p:pic>
      <p:pic>
        <p:nvPicPr>
          <p:cNvPr id="17" name="그래픽 20">
            <a:extLst>
              <a:ext uri="{FF2B5EF4-FFF2-40B4-BE49-F238E27FC236}">
                <a16:creationId xmlns:a16="http://schemas.microsoft.com/office/drawing/2014/main" id="{24260225-6F4A-3428-48F2-EDEBB7A8342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299" y="3475314"/>
            <a:ext cx="2132118" cy="877931"/>
          </a:xfrm>
          <a:prstGeom prst="rect">
            <a:avLst/>
          </a:prstGeom>
        </p:spPr>
      </p:pic>
      <p:sp>
        <p:nvSpPr>
          <p:cNvPr id="12" name="TextBox 21">
            <a:extLst>
              <a:ext uri="{FF2B5EF4-FFF2-40B4-BE49-F238E27FC236}">
                <a16:creationId xmlns:a16="http://schemas.microsoft.com/office/drawing/2014/main" id="{0322B2EA-F77A-988B-6CF3-AB528AA69449}"/>
              </a:ext>
            </a:extLst>
          </p:cNvPr>
          <p:cNvSpPr txBox="1"/>
          <p:nvPr/>
        </p:nvSpPr>
        <p:spPr>
          <a:xfrm>
            <a:off x="7905651" y="2464366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Git hub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5FFB9446-91D8-F3DB-9421-C977BE1D8B32}"/>
              </a:ext>
            </a:extLst>
          </p:cNvPr>
          <p:cNvSpPr txBox="1"/>
          <p:nvPr/>
        </p:nvSpPr>
        <p:spPr>
          <a:xfrm>
            <a:off x="7725412" y="3729613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DirectX 12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8C167CC3-E0B0-E8C2-B81E-398B687B15C9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개발 환경</a:t>
            </a:r>
            <a:endParaRPr lang="en-US" sz="2700" dirty="0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0FCAE14C-C09A-A668-7635-49F3345791E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1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349372"/>
            <a:ext cx="2652801" cy="3817854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361166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838200" y="1881691"/>
            <a:ext cx="2651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960833" y="1167279"/>
            <a:ext cx="2409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더 정확한 피해 계산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6" y="1783342"/>
            <a:ext cx="4010050" cy="4713638"/>
          </a:xfrm>
          <a:prstGeom prst="rect">
            <a:avLst/>
          </a:prstGeom>
        </p:spPr>
      </p:pic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09" y="1783342"/>
            <a:ext cx="3904573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235423" y="1900408"/>
            <a:ext cx="3642041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게임 </a:t>
            </a:r>
            <a:r>
              <a:rPr lang="ko-KR" altLang="en-US" dirty="0" err="1">
                <a:latin typeface="+mn-ea"/>
              </a:rPr>
              <a:t>매칭시</a:t>
            </a:r>
            <a:r>
              <a:rPr lang="ko-KR" altLang="en-US" dirty="0">
                <a:latin typeface="+mn-ea"/>
              </a:rPr>
              <a:t> 한 세션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>
                <a:latin typeface="+mn-ea"/>
              </a:rPr>
              <a:t>6</a:t>
            </a:r>
            <a:r>
              <a:rPr lang="ko-KR" altLang="en-US" dirty="0">
                <a:latin typeface="+mn-ea"/>
              </a:rPr>
              <a:t>명의 데이터 처리</a:t>
            </a:r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게임 내 </a:t>
            </a:r>
            <a:r>
              <a:rPr lang="ko-KR" altLang="en-US" dirty="0" err="1">
                <a:latin typeface="+mn-ea"/>
              </a:rPr>
              <a:t>보이스챗으로</a:t>
            </a:r>
            <a:r>
              <a:rPr lang="ko-KR" altLang="en-US" dirty="0">
                <a:latin typeface="+mn-ea"/>
              </a:rPr>
              <a:t> 팀원들과 소통 가능</a:t>
            </a:r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데드레코닝으로</a:t>
            </a:r>
            <a:r>
              <a:rPr lang="ko-KR" altLang="en-US" dirty="0">
                <a:latin typeface="+mn-ea"/>
              </a:rPr>
              <a:t> 지연시간 감소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자연스러운 움직임 구현</a:t>
            </a:r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  <a:p>
            <a:pPr marL="342900" indent="-342900">
              <a:buFontTx/>
              <a:buChar char="-"/>
            </a:pPr>
            <a:endParaRPr lang="ko-KR" altLang="en-US" sz="2200" dirty="0">
              <a:latin typeface="+mn-ea"/>
            </a:endParaRPr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BDCD8384-66FC-A022-76C1-8EE6F9CF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6682" y="1007237"/>
            <a:ext cx="3936104" cy="632430"/>
          </a:xfrm>
          <a:prstGeom prst="rect">
            <a:avLst/>
          </a:prstGeom>
        </p:spPr>
      </p:pic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0E2CE24-EE53-C84A-30E7-112312358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793" y="1014989"/>
            <a:ext cx="3904573" cy="6324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20EDA43-AE30-C1DF-A131-3709D68FFF81}"/>
              </a:ext>
            </a:extLst>
          </p:cNvPr>
          <p:cNvSpPr txBox="1"/>
          <p:nvPr/>
        </p:nvSpPr>
        <p:spPr>
          <a:xfrm>
            <a:off x="8193040" y="977261"/>
            <a:ext cx="3883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IOCP </a:t>
            </a:r>
            <a:r>
              <a:rPr lang="ko-KR" altLang="en-US" sz="2000" dirty="0"/>
              <a:t>구조로 서버구조 설계</a:t>
            </a:r>
            <a:r>
              <a:rPr lang="en-US" altLang="ko-KR" sz="2000" dirty="0"/>
              <a:t>,    </a:t>
            </a:r>
            <a:r>
              <a:rPr lang="ko-KR" altLang="en-US" sz="2000" dirty="0" err="1"/>
              <a:t>데드</a:t>
            </a:r>
            <a:r>
              <a:rPr lang="ko-KR" altLang="en-US" sz="2000" dirty="0"/>
              <a:t> </a:t>
            </a:r>
            <a:r>
              <a:rPr lang="ko-KR" altLang="en-US" sz="2000" dirty="0" err="1"/>
              <a:t>레코닝</a:t>
            </a:r>
            <a:r>
              <a:rPr lang="ko-KR" altLang="en-US" sz="2000" dirty="0"/>
              <a:t> 구현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BEDBE9-17EE-688C-97B5-3703477BF518}"/>
              </a:ext>
            </a:extLst>
          </p:cNvPr>
          <p:cNvSpPr txBox="1"/>
          <p:nvPr/>
        </p:nvSpPr>
        <p:spPr>
          <a:xfrm>
            <a:off x="4102389" y="1129147"/>
            <a:ext cx="3621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실제와 유사한 오브젝트 구현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77212A-BB2F-8726-6415-C3D91FC5B475}"/>
              </a:ext>
            </a:extLst>
          </p:cNvPr>
          <p:cNvSpPr txBox="1"/>
          <p:nvPr/>
        </p:nvSpPr>
        <p:spPr>
          <a:xfrm>
            <a:off x="4104328" y="1985986"/>
            <a:ext cx="372081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Normal mapping, Parallax mapping</a:t>
            </a:r>
            <a:r>
              <a:rPr lang="ko-KR" altLang="en-US" dirty="0"/>
              <a:t>을 사용해 오브젝트의 디테일한 입체감 구현</a:t>
            </a:r>
            <a:r>
              <a:rPr lang="en-US" altLang="ko-KR" dirty="0"/>
              <a:t> 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- Compute</a:t>
            </a:r>
            <a:r>
              <a:rPr lang="ko-KR" altLang="en-US" dirty="0"/>
              <a:t> </a:t>
            </a:r>
            <a:r>
              <a:rPr lang="en-US" altLang="ko-KR" dirty="0"/>
              <a:t>Shader</a:t>
            </a:r>
            <a:r>
              <a:rPr lang="ko-KR" altLang="en-US" dirty="0"/>
              <a:t>를 사용해 충돌한 오브젝트의 움직임을 빠르게 계산하고 자세하게 구현</a:t>
            </a:r>
            <a:br>
              <a:rPr lang="en-US" altLang="ko-KR" dirty="0"/>
            </a:br>
            <a:r>
              <a:rPr lang="en-US" altLang="ko-KR" dirty="0"/>
              <a:t>Ex) </a:t>
            </a:r>
            <a:r>
              <a:rPr lang="ko-KR" altLang="en-US" dirty="0"/>
              <a:t>폭발에 의해 날아가는 오브젝트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- Shadow Mapping</a:t>
            </a:r>
            <a:r>
              <a:rPr lang="ko-KR" altLang="en-US" dirty="0"/>
              <a:t>을 사용해  각 오브젝트 및 캐릭터의 그림자를 구현하고 </a:t>
            </a:r>
            <a:r>
              <a:rPr lang="en-US" altLang="ko-KR" dirty="0"/>
              <a:t>PCF</a:t>
            </a:r>
            <a:r>
              <a:rPr lang="ko-KR" altLang="en-US" dirty="0"/>
              <a:t>를 통해 </a:t>
            </a:r>
            <a:r>
              <a:rPr lang="en-US" altLang="ko-KR" dirty="0"/>
              <a:t>Shadow Acne </a:t>
            </a:r>
            <a:r>
              <a:rPr lang="ko-KR" altLang="en-US" dirty="0"/>
              <a:t>및 계단현상 문제를 최소화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D703-45E6-A639-AAA2-6F6543C25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6F5C6C-E410-8EA7-CE53-9C0E154ED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" y="762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F569A21-6C57-B68F-C155-3C32AA69E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1A925A50-0F7B-73E1-F4E0-6E4D40B3F2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0442543-887C-7A44-BCE8-FEAAFCB17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8F63B6A-0D98-A8D9-AB16-9C347E16A3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34CA561B-95E7-A2B8-2EDA-7C8023E730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AB42A233-28B4-271A-F305-4F90508DAC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>
            <a:extLst>
              <a:ext uri="{FF2B5EF4-FFF2-40B4-BE49-F238E27FC236}">
                <a16:creationId xmlns:a16="http://schemas.microsoft.com/office/drawing/2014/main" id="{5E633318-69EC-C07D-E3EF-F2DF647D75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sp>
        <p:nvSpPr>
          <p:cNvPr id="26" name="Text 0">
            <a:extLst>
              <a:ext uri="{FF2B5EF4-FFF2-40B4-BE49-F238E27FC236}">
                <a16:creationId xmlns:a16="http://schemas.microsoft.com/office/drawing/2014/main" id="{4364E6F0-A666-14DF-6696-9B2AD4AC5887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개인별 준비 현황</a:t>
            </a:r>
            <a:endParaRPr lang="en-US" sz="270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27B7FEC6-9D68-7F18-8070-4CED468A7DBD}"/>
              </a:ext>
            </a:extLst>
          </p:cNvPr>
          <p:cNvSpPr/>
          <p:nvPr/>
        </p:nvSpPr>
        <p:spPr>
          <a:xfrm>
            <a:off x="1656616" y="1543050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한건우</a:t>
            </a:r>
            <a:endParaRPr lang="en-US" sz="25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62EA339B-99E5-64A0-051F-23DCEBACC8ED}"/>
              </a:ext>
            </a:extLst>
          </p:cNvPr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C29FAD4F-8228-E98C-FE93-C9D9DED97C3A}"/>
              </a:ext>
            </a:extLst>
          </p:cNvPr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FFD3EA2-D2CC-8301-2534-A48DA6799EC0}"/>
              </a:ext>
            </a:extLst>
          </p:cNvPr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EEFDB936-51F9-7130-7CBF-95407BC05D32}"/>
              </a:ext>
            </a:extLst>
          </p:cNvPr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BDF8838-8E22-B497-FD28-F9B9EA84724F}"/>
              </a:ext>
            </a:extLst>
          </p:cNvPr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E4BEF79F-E424-36E3-12ED-E4D10FCE0405}"/>
              </a:ext>
            </a:extLst>
          </p:cNvPr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62D525B-1F73-3E86-DA89-B2DD10C1926A}"/>
              </a:ext>
            </a:extLst>
          </p:cNvPr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C30C4F82-C310-EF9E-5555-367AEE2E3054}"/>
              </a:ext>
            </a:extLst>
          </p:cNvPr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EBB00E96-3161-5774-9B45-10CF099BFE2A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9C0089C-420D-B270-28D5-504E8AB7772B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5A3F9D4C-7F35-90D7-EB22-C727158F7B2C}"/>
              </a:ext>
            </a:extLst>
          </p:cNvPr>
          <p:cNvSpPr/>
          <p:nvPr/>
        </p:nvSpPr>
        <p:spPr>
          <a:xfrm>
            <a:off x="5557498" y="1561348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장윤서</a:t>
            </a:r>
            <a:endParaRPr lang="en-US" sz="2500" dirty="0"/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1730FD16-4C17-E3FD-B09B-2192292B20AD}"/>
              </a:ext>
            </a:extLst>
          </p:cNvPr>
          <p:cNvSpPr/>
          <p:nvPr/>
        </p:nvSpPr>
        <p:spPr>
          <a:xfrm>
            <a:off x="9602422" y="1538245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이수현</a:t>
            </a:r>
            <a:endParaRPr lang="en-US" sz="25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153F08-D94D-EFDD-74F9-E1C5A353F213}"/>
              </a:ext>
            </a:extLst>
          </p:cNvPr>
          <p:cNvSpPr txBox="1"/>
          <p:nvPr/>
        </p:nvSpPr>
        <p:spPr>
          <a:xfrm>
            <a:off x="381000" y="3486150"/>
            <a:ext cx="35303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3D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1,2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  <p:sp>
        <p:nvSpPr>
          <p:cNvPr id="53" name="Text 1">
            <a:extLst>
              <a:ext uri="{FF2B5EF4-FFF2-40B4-BE49-F238E27FC236}">
                <a16:creationId xmlns:a16="http://schemas.microsoft.com/office/drawing/2014/main" id="{2E902FA4-F9A3-A82E-4BE8-1CD8FE30B77F}"/>
              </a:ext>
            </a:extLst>
          </p:cNvPr>
          <p:cNvSpPr/>
          <p:nvPr/>
        </p:nvSpPr>
        <p:spPr>
          <a:xfrm>
            <a:off x="1135604" y="2853607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4" name="Text 1">
            <a:extLst>
              <a:ext uri="{FF2B5EF4-FFF2-40B4-BE49-F238E27FC236}">
                <a16:creationId xmlns:a16="http://schemas.microsoft.com/office/drawing/2014/main" id="{800749E4-7071-ED9B-0268-90F9EC24196C}"/>
              </a:ext>
            </a:extLst>
          </p:cNvPr>
          <p:cNvSpPr/>
          <p:nvPr/>
        </p:nvSpPr>
        <p:spPr>
          <a:xfrm>
            <a:off x="5159028" y="2876550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3F42E20-0E7F-AFB0-67F5-24358B75E19D}"/>
              </a:ext>
            </a:extLst>
          </p:cNvPr>
          <p:cNvSpPr/>
          <p:nvPr/>
        </p:nvSpPr>
        <p:spPr>
          <a:xfrm>
            <a:off x="9618851" y="2846295"/>
            <a:ext cx="777298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 dirty="0">
                <a:solidFill>
                  <a:srgbClr val="002060"/>
                </a:solidFill>
                <a:latin typeface="ui-sans-serif" pitchFamily="34" charset="0"/>
              </a:rPr>
              <a:t>서버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B7555A-6365-D108-539A-E5AEF9A79125}"/>
              </a:ext>
            </a:extLst>
          </p:cNvPr>
          <p:cNvSpPr txBox="1"/>
          <p:nvPr/>
        </p:nvSpPr>
        <p:spPr>
          <a:xfrm>
            <a:off x="8242251" y="3429000"/>
            <a:ext cx="3568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r>
              <a:rPr lang="en-US" altLang="ko-KR" dirty="0">
                <a:latin typeface="+mn-ea"/>
              </a:rPr>
              <a:t>, 2D</a:t>
            </a:r>
            <a:r>
              <a:rPr lang="ko-KR" altLang="en-US" dirty="0">
                <a:latin typeface="+mn-ea"/>
              </a:rPr>
              <a:t>게임프로그래밍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데이터베이스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네트워크 게임 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게임서버프로그래밍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멀티코어프로그래밍</a:t>
            </a:r>
            <a:endParaRPr lang="ko-KR" altLang="en-US" dirty="0">
              <a:highlight>
                <a:srgbClr val="FFFF00"/>
              </a:highlight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7909DB-C693-EC5D-CB44-D37998F728BC}"/>
              </a:ext>
            </a:extLst>
          </p:cNvPr>
          <p:cNvSpPr txBox="1"/>
          <p:nvPr/>
        </p:nvSpPr>
        <p:spPr>
          <a:xfrm>
            <a:off x="4330749" y="3428821"/>
            <a:ext cx="35303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이산수학</a:t>
            </a:r>
            <a:r>
              <a:rPr lang="en-US" altLang="ko-KR" dirty="0">
                <a:latin typeface="+mn-ea"/>
              </a:rPr>
              <a:t>,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2D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컴퓨터그래픽스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endParaRPr lang="en-US" altLang="ko-KR" dirty="0">
              <a:highlight>
                <a:srgbClr val="FFFF00"/>
              </a:highlight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</p:spTree>
    <p:extLst>
      <p:ext uri="{BB962C8B-B14F-4D97-AF65-F5344CB8AC3E}">
        <p14:creationId xmlns:p14="http://schemas.microsoft.com/office/powerpoint/2010/main" val="2365981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FB42411-F6B8-11BA-957F-A81C65737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807725"/>
              </p:ext>
            </p:extLst>
          </p:nvPr>
        </p:nvGraphicFramePr>
        <p:xfrm>
          <a:off x="381000" y="1056460"/>
          <a:ext cx="11430000" cy="543510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3954687176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26008721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569887377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627675856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7828499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281074197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93195070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441204020"/>
                    </a:ext>
                  </a:extLst>
                </a:gridCol>
              </a:tblGrid>
              <a:tr h="3551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Dec 2025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Jan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Feb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Mar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Apr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May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Jun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Jul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2999891"/>
                  </a:ext>
                </a:extLst>
              </a:tr>
              <a:tr h="5069349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161368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BCD54C6-A36D-0682-25CC-B4B023EDD457}"/>
              </a:ext>
            </a:extLst>
          </p:cNvPr>
          <p:cNvSpPr/>
          <p:nvPr/>
        </p:nvSpPr>
        <p:spPr>
          <a:xfrm>
            <a:off x="986970" y="1626147"/>
            <a:ext cx="1582058" cy="42091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프레임워크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C66E9D5-0D9A-1C75-B797-171E1A4C6316}"/>
              </a:ext>
            </a:extLst>
          </p:cNvPr>
          <p:cNvSpPr/>
          <p:nvPr/>
        </p:nvSpPr>
        <p:spPr>
          <a:xfrm>
            <a:off x="2569029" y="2047061"/>
            <a:ext cx="1407886" cy="42091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플레이어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8F85C1E-639C-8C37-3DE2-C215150F7F97}"/>
              </a:ext>
            </a:extLst>
          </p:cNvPr>
          <p:cNvSpPr/>
          <p:nvPr/>
        </p:nvSpPr>
        <p:spPr>
          <a:xfrm>
            <a:off x="2569029" y="2495095"/>
            <a:ext cx="1407886" cy="420914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맵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D559DFB-1F74-AF0A-8A33-AAA718C67FCF}"/>
              </a:ext>
            </a:extLst>
          </p:cNvPr>
          <p:cNvSpPr/>
          <p:nvPr/>
        </p:nvSpPr>
        <p:spPr>
          <a:xfrm>
            <a:off x="3976915" y="2943129"/>
            <a:ext cx="1407886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애니메이션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55D27F-08F2-930B-8D0D-ACE19F2BB4D0}"/>
              </a:ext>
            </a:extLst>
          </p:cNvPr>
          <p:cNvSpPr/>
          <p:nvPr/>
        </p:nvSpPr>
        <p:spPr>
          <a:xfrm>
            <a:off x="5384801" y="3418283"/>
            <a:ext cx="2917370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컨텐츠 개발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9F7BFE2-F813-5557-899D-9CFA3BCBDC65}"/>
              </a:ext>
            </a:extLst>
          </p:cNvPr>
          <p:cNvSpPr/>
          <p:nvPr/>
        </p:nvSpPr>
        <p:spPr>
          <a:xfrm>
            <a:off x="8302171" y="3893437"/>
            <a:ext cx="1422400" cy="42091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UI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B7551A4-8B85-5A5A-2274-11DA76743E65}"/>
              </a:ext>
            </a:extLst>
          </p:cNvPr>
          <p:cNvSpPr/>
          <p:nvPr/>
        </p:nvSpPr>
        <p:spPr>
          <a:xfrm>
            <a:off x="8302171" y="4368591"/>
            <a:ext cx="1422400" cy="420914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이펙트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B9DAA7A-F94C-6660-1B33-278745851EB8}"/>
              </a:ext>
            </a:extLst>
          </p:cNvPr>
          <p:cNvSpPr/>
          <p:nvPr/>
        </p:nvSpPr>
        <p:spPr>
          <a:xfrm>
            <a:off x="9724571" y="4789505"/>
            <a:ext cx="1422400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/>
              <a:t>쉐이더</a:t>
            </a:r>
            <a:r>
              <a:rPr lang="ko-KR" altLang="en-US" sz="1400" dirty="0"/>
              <a:t> 처리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16B0DCF-7589-CE85-C77E-0510F044EA42}"/>
              </a:ext>
            </a:extLst>
          </p:cNvPr>
          <p:cNvSpPr/>
          <p:nvPr/>
        </p:nvSpPr>
        <p:spPr>
          <a:xfrm>
            <a:off x="2569028" y="5380626"/>
            <a:ext cx="1074057" cy="42091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서버 설계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53585F5-C554-B230-0AAA-B8C0F53DA394}"/>
              </a:ext>
            </a:extLst>
          </p:cNvPr>
          <p:cNvSpPr/>
          <p:nvPr/>
        </p:nvSpPr>
        <p:spPr>
          <a:xfrm>
            <a:off x="3643085" y="5833629"/>
            <a:ext cx="7503885" cy="42091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서버 실제 작성 및 구현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66CB23D-9DA2-01D6-19BF-876F7C1EDE67}"/>
              </a:ext>
            </a:extLst>
          </p:cNvPr>
          <p:cNvSpPr/>
          <p:nvPr/>
        </p:nvSpPr>
        <p:spPr>
          <a:xfrm>
            <a:off x="9027886" y="1581679"/>
            <a:ext cx="232228" cy="2244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B35E601F-BC05-D802-866C-F8F744392849}"/>
              </a:ext>
            </a:extLst>
          </p:cNvPr>
          <p:cNvSpPr/>
          <p:nvPr/>
        </p:nvSpPr>
        <p:spPr>
          <a:xfrm>
            <a:off x="9027886" y="1904358"/>
            <a:ext cx="232228" cy="224445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B0ED373-77DC-7993-1121-C2238FEF3761}"/>
              </a:ext>
            </a:extLst>
          </p:cNvPr>
          <p:cNvSpPr/>
          <p:nvPr/>
        </p:nvSpPr>
        <p:spPr>
          <a:xfrm>
            <a:off x="9027886" y="2227132"/>
            <a:ext cx="232228" cy="224445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664065F-396B-D117-C19E-4F76B1DA847F}"/>
              </a:ext>
            </a:extLst>
          </p:cNvPr>
          <p:cNvSpPr/>
          <p:nvPr/>
        </p:nvSpPr>
        <p:spPr>
          <a:xfrm>
            <a:off x="9027886" y="2551789"/>
            <a:ext cx="232228" cy="224445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E543A-271B-BABE-DF58-FC06BB68DF24}"/>
              </a:ext>
            </a:extLst>
          </p:cNvPr>
          <p:cNvSpPr txBox="1"/>
          <p:nvPr/>
        </p:nvSpPr>
        <p:spPr>
          <a:xfrm>
            <a:off x="9260114" y="1538684"/>
            <a:ext cx="10518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모두 참여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C4EED3-080A-626E-E9C1-BA2E6F807CA3}"/>
              </a:ext>
            </a:extLst>
          </p:cNvPr>
          <p:cNvSpPr txBox="1"/>
          <p:nvPr/>
        </p:nvSpPr>
        <p:spPr>
          <a:xfrm>
            <a:off x="9260114" y="1852624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장윤서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D0488F-A826-4714-C706-E5EF427C906D}"/>
              </a:ext>
            </a:extLst>
          </p:cNvPr>
          <p:cNvSpPr txBox="1"/>
          <p:nvPr/>
        </p:nvSpPr>
        <p:spPr>
          <a:xfrm>
            <a:off x="9260114" y="217007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한건우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30EE91-CF45-F756-B5E9-60FFBFA6A663}"/>
              </a:ext>
            </a:extLst>
          </p:cNvPr>
          <p:cNvSpPr txBox="1"/>
          <p:nvPr/>
        </p:nvSpPr>
        <p:spPr>
          <a:xfrm>
            <a:off x="9260113" y="248936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이수현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A6D5C6-36E3-6426-E6B6-133F5DD68B2D}"/>
              </a:ext>
            </a:extLst>
          </p:cNvPr>
          <p:cNvSpPr txBox="1"/>
          <p:nvPr/>
        </p:nvSpPr>
        <p:spPr>
          <a:xfrm>
            <a:off x="9260112" y="2823411"/>
            <a:ext cx="15135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한건우</a:t>
            </a:r>
            <a:r>
              <a:rPr lang="en-US" altLang="ko-KR" sz="1600" dirty="0"/>
              <a:t>, </a:t>
            </a:r>
            <a:r>
              <a:rPr lang="ko-KR" altLang="en-US" sz="1600" dirty="0"/>
              <a:t>장윤서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F581C8E-781F-7471-77D5-D659937E1EE5}"/>
              </a:ext>
            </a:extLst>
          </p:cNvPr>
          <p:cNvSpPr/>
          <p:nvPr/>
        </p:nvSpPr>
        <p:spPr>
          <a:xfrm>
            <a:off x="9031516" y="2880465"/>
            <a:ext cx="232228" cy="22444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</TotalTime>
  <Words>1113</Words>
  <Application>Microsoft Office PowerPoint</Application>
  <PresentationFormat>와이드스크린</PresentationFormat>
  <Paragraphs>216</Paragraphs>
  <Slides>15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gg sans</vt:lpstr>
      <vt:lpstr>ui-sans-serif</vt:lpstr>
      <vt:lpstr>나눔스퀘어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이수현(2019182027)</cp:lastModifiedBy>
  <cp:revision>43</cp:revision>
  <dcterms:created xsi:type="dcterms:W3CDTF">2025-11-12T03:30:23Z</dcterms:created>
  <dcterms:modified xsi:type="dcterms:W3CDTF">2025-12-19T16:18:11Z</dcterms:modified>
</cp:coreProperties>
</file>