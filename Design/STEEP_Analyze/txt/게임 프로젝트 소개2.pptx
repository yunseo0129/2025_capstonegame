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89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6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8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" Type="http://schemas.openxmlformats.org/officeDocument/2006/relationships/image" Target="../media/image5.png"/><Relationship Id="rId21" Type="http://schemas.openxmlformats.org/officeDocument/2006/relationships/image" Target="../media/image65.png"/><Relationship Id="rId7" Type="http://schemas.openxmlformats.org/officeDocument/2006/relationships/image" Target="../media/image17.png"/><Relationship Id="rId12" Type="http://schemas.openxmlformats.org/officeDocument/2006/relationships/image" Target="../media/image57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29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45.png"/><Relationship Id="rId24" Type="http://schemas.openxmlformats.org/officeDocument/2006/relationships/image" Target="../media/image68.png"/><Relationship Id="rId5" Type="http://schemas.openxmlformats.org/officeDocument/2006/relationships/image" Target="../media/image53.png"/><Relationship Id="rId15" Type="http://schemas.openxmlformats.org/officeDocument/2006/relationships/image" Target="../media/image42.png"/><Relationship Id="rId23" Type="http://schemas.openxmlformats.org/officeDocument/2006/relationships/image" Target="../media/image67.png"/><Relationship Id="rId28" Type="http://schemas.openxmlformats.org/officeDocument/2006/relationships/image" Target="../media/image72.png"/><Relationship Id="rId10" Type="http://schemas.openxmlformats.org/officeDocument/2006/relationships/image" Target="../media/image56.png"/><Relationship Id="rId19" Type="http://schemas.openxmlformats.org/officeDocument/2006/relationships/image" Target="../media/image63.png"/><Relationship Id="rId4" Type="http://schemas.openxmlformats.org/officeDocument/2006/relationships/image" Target="../media/image6.png"/><Relationship Id="rId9" Type="http://schemas.openxmlformats.org/officeDocument/2006/relationships/image" Target="../media/image55.png"/><Relationship Id="rId14" Type="http://schemas.openxmlformats.org/officeDocument/2006/relationships/image" Target="../media/image59.png"/><Relationship Id="rId22" Type="http://schemas.openxmlformats.org/officeDocument/2006/relationships/image" Target="../media/image66.png"/><Relationship Id="rId27" Type="http://schemas.openxmlformats.org/officeDocument/2006/relationships/image" Target="../media/image71.png"/><Relationship Id="rId30" Type="http://schemas.openxmlformats.org/officeDocument/2006/relationships/image" Target="../media/image7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26" Type="http://schemas.openxmlformats.org/officeDocument/2006/relationships/image" Target="../media/image96.png"/><Relationship Id="rId3" Type="http://schemas.openxmlformats.org/officeDocument/2006/relationships/image" Target="../media/image5.pn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5" Type="http://schemas.openxmlformats.org/officeDocument/2006/relationships/image" Target="../media/image9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24" Type="http://schemas.openxmlformats.org/officeDocument/2006/relationships/image" Target="../media/image94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4" Type="http://schemas.openxmlformats.org/officeDocument/2006/relationships/image" Target="../media/image6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97.png"/><Relationship Id="rId21" Type="http://schemas.openxmlformats.org/officeDocument/2006/relationships/image" Target="../media/image113.png"/><Relationship Id="rId7" Type="http://schemas.openxmlformats.org/officeDocument/2006/relationships/image" Target="../media/image17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3.png"/><Relationship Id="rId5" Type="http://schemas.openxmlformats.org/officeDocument/2006/relationships/image" Target="../media/image98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4800"/>
            <a:ext cx="109728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14500"/>
            <a:ext cx="5334000" cy="4305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714500"/>
            <a:ext cx="5334000" cy="109258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3320856"/>
            <a:ext cx="5334000" cy="109258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4870644"/>
            <a:ext cx="5334000" cy="1092588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14400" y="457200"/>
            <a:ext cx="1036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 프로젝트 소개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914400" y="838200"/>
            <a:ext cx="1036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새로운 5대5 FPS 게임 프로젝트</a:t>
            </a:r>
            <a:endParaRPr lang="en-US" sz="1500" dirty="0"/>
          </a:p>
        </p:txBody>
      </p:sp>
      <p:sp>
        <p:nvSpPr>
          <p:cNvPr id="26" name="Text 12"/>
          <p:cNvSpPr/>
          <p:nvPr/>
        </p:nvSpPr>
        <p:spPr>
          <a:xfrm>
            <a:off x="10822781" y="6477000"/>
            <a:ext cx="9115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 / 9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569E26-B26A-F096-0D64-D26A5094E100}"/>
              </a:ext>
            </a:extLst>
          </p:cNvPr>
          <p:cNvSpPr txBox="1"/>
          <p:nvPr/>
        </p:nvSpPr>
        <p:spPr>
          <a:xfrm>
            <a:off x="2757268" y="2807088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게임 </a:t>
            </a:r>
            <a:r>
              <a:rPr lang="ko-KR" altLang="en-US"/>
              <a:t>이름 및 대표 사진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E02CDF-7D5E-D866-418D-6FCAC08BED77}"/>
              </a:ext>
            </a:extLst>
          </p:cNvPr>
          <p:cNvSpPr txBox="1"/>
          <p:nvPr/>
        </p:nvSpPr>
        <p:spPr>
          <a:xfrm>
            <a:off x="6441646" y="2090164"/>
            <a:ext cx="3449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각자 이름 및 맡은 파트 간략하게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1" y="1181100"/>
            <a:ext cx="3240000" cy="1080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96" y="1418396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71" y="1551746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331624" y="1193550"/>
            <a:ext cx="3240000" cy="1080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708" y="146685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3871" y="160020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514600"/>
            <a:ext cx="10957560" cy="370179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7432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6763" y="287655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199525" y="1136399"/>
            <a:ext cx="3240000" cy="1080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58282" y="1423987"/>
            <a:ext cx="571500" cy="5715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</a:t>
            </a: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27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개요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565896" y="1418396"/>
            <a:ext cx="14546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장르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565896" y="1761296"/>
            <a:ext cx="17455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5대5 FPS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5460608" y="1466850"/>
            <a:ext cx="26806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</a:rPr>
              <a:t>출시 예정 시기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5689208" y="1781175"/>
            <a:ext cx="3216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2026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년 </a:t>
            </a:r>
            <a:r>
              <a:rPr lang="en-US" altLang="ko-KR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월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1333500" y="2743200"/>
            <a:ext cx="22790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 방식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9482182" y="1423987"/>
            <a:ext cx="3528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</a:rPr>
              <a:t>타겟 플레이어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9682118" y="1781174"/>
            <a:ext cx="432816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</a:rPr>
              <a:t>Z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</a:rPr>
              <a:t>세대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8534400" y="2171700"/>
            <a:ext cx="3528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11468844" y="64770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/ 9</a:t>
            </a:r>
            <a:endParaRPr lang="en-US" sz="1200" dirty="0"/>
          </a:p>
        </p:txBody>
      </p:sp>
      <p:pic>
        <p:nvPicPr>
          <p:cNvPr id="39" name="Image 11" descr="preencoded.png">
            <a:extLst>
              <a:ext uri="{FF2B5EF4-FFF2-40B4-BE49-F238E27FC236}">
                <a16:creationId xmlns:a16="http://schemas.microsoft.com/office/drawing/2014/main" id="{3329CE8A-3502-F5E6-6724-4DA90BB8F0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06039" y="1571624"/>
            <a:ext cx="280647" cy="314325"/>
          </a:xfrm>
          <a:prstGeom prst="rect">
            <a:avLst/>
          </a:prstGeom>
        </p:spPr>
      </p:pic>
      <p:pic>
        <p:nvPicPr>
          <p:cNvPr id="1026" name="Picture 2" descr="VALORANT | Xbox">
            <a:extLst>
              <a:ext uri="{FF2B5EF4-FFF2-40B4-BE49-F238E27FC236}">
                <a16:creationId xmlns:a16="http://schemas.microsoft.com/office/drawing/2014/main" id="{275FF780-21B4-0828-B35B-C602AF603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93" y="2726101"/>
            <a:ext cx="1719373" cy="257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mefront (video game) - Wikipedia">
            <a:extLst>
              <a:ext uri="{FF2B5EF4-FFF2-40B4-BE49-F238E27FC236}">
                <a16:creationId xmlns:a16="http://schemas.microsoft.com/office/drawing/2014/main" id="{4BBDFDF9-8A57-94CB-B8F8-B75F47B85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542" y="2726101"/>
            <a:ext cx="2079887" cy="257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3D05E15E-8417-0DCF-8A55-7D40BD660219}"/>
              </a:ext>
            </a:extLst>
          </p:cNvPr>
          <p:cNvSpPr/>
          <p:nvPr/>
        </p:nvSpPr>
        <p:spPr>
          <a:xfrm>
            <a:off x="5689208" y="4015631"/>
            <a:ext cx="522906" cy="1417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93255BA-566A-02CD-7A98-DE3F21C5E4CF}"/>
              </a:ext>
            </a:extLst>
          </p:cNvPr>
          <p:cNvSpPr/>
          <p:nvPr/>
        </p:nvSpPr>
        <p:spPr>
          <a:xfrm rot="16200000">
            <a:off x="5699876" y="4015631"/>
            <a:ext cx="522906" cy="1417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306AD3-D3B1-5585-A828-82F303E84611}"/>
              </a:ext>
            </a:extLst>
          </p:cNvPr>
          <p:cNvSpPr txBox="1"/>
          <p:nvPr/>
        </p:nvSpPr>
        <p:spPr>
          <a:xfrm>
            <a:off x="3311471" y="5502209"/>
            <a:ext cx="1481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북한의 미국침공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DADA97-F0D5-BBE3-4C78-217B2C9C3554}"/>
              </a:ext>
            </a:extLst>
          </p:cNvPr>
          <p:cNvSpPr txBox="1"/>
          <p:nvPr/>
        </p:nvSpPr>
        <p:spPr>
          <a:xfrm>
            <a:off x="6626248" y="5492234"/>
            <a:ext cx="2279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라운드 형식의 플레이 방식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53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3759591" cy="584336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591" y="1104901"/>
            <a:ext cx="7357840" cy="487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2608" y="128016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635" y="1257300"/>
            <a:ext cx="20002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591" y="6302912"/>
            <a:ext cx="7289409" cy="64535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907" y="1981200"/>
            <a:ext cx="6308773" cy="384927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시장 환경 분석</a:t>
            </a:r>
            <a:endParaRPr lang="en-US" sz="2700" dirty="0"/>
          </a:p>
        </p:txBody>
      </p:sp>
      <p:sp>
        <p:nvSpPr>
          <p:cNvPr id="19" name="Text 7"/>
          <p:cNvSpPr/>
          <p:nvPr/>
        </p:nvSpPr>
        <p:spPr>
          <a:xfrm>
            <a:off x="973017" y="1219200"/>
            <a:ext cx="29800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2026년 주요 이벤트 타임라인</a:t>
            </a:r>
            <a:endParaRPr lang="en-US" sz="1800" dirty="0"/>
          </a:p>
        </p:txBody>
      </p:sp>
      <p:sp>
        <p:nvSpPr>
          <p:cNvPr id="26" name="Text 14"/>
          <p:cNvSpPr/>
          <p:nvPr/>
        </p:nvSpPr>
        <p:spPr>
          <a:xfrm>
            <a:off x="607635" y="1714500"/>
            <a:ext cx="2792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1월</a:t>
            </a:r>
            <a:endParaRPr lang="en-US" sz="1350" dirty="0">
              <a:latin typeface="+mn-ea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607635" y="1981200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+mn-ea"/>
                <a:cs typeface="ui-sans-serif" pitchFamily="34" charset="-120"/>
              </a:rPr>
              <a:t>북한 당대회</a:t>
            </a:r>
            <a:endParaRPr lang="en-US" sz="1200" dirty="0">
              <a:latin typeface="+mn-ea"/>
            </a:endParaRPr>
          </a:p>
        </p:txBody>
      </p:sp>
      <p:sp>
        <p:nvSpPr>
          <p:cNvPr id="38" name="Text 26"/>
          <p:cNvSpPr/>
          <p:nvPr/>
        </p:nvSpPr>
        <p:spPr>
          <a:xfrm>
            <a:off x="11468844" y="69723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 / 9</a:t>
            </a:r>
            <a:endParaRPr lang="en-US" sz="12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8A817A70-899B-C94A-6D9B-196B2FE14EB9}"/>
              </a:ext>
            </a:extLst>
          </p:cNvPr>
          <p:cNvSpPr/>
          <p:nvPr/>
        </p:nvSpPr>
        <p:spPr>
          <a:xfrm>
            <a:off x="598065" y="2562225"/>
            <a:ext cx="2792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2</a:t>
            </a:r>
            <a:r>
              <a:rPr lang="ko-KR" altLang="en-US" sz="1350" b="1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월</a:t>
            </a:r>
            <a:endParaRPr lang="en-US" sz="1350" dirty="0">
              <a:latin typeface="+mn-ea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0A0F76C4-1B52-39A6-CC0D-809F8BC5DB80}"/>
              </a:ext>
            </a:extLst>
          </p:cNvPr>
          <p:cNvSpPr/>
          <p:nvPr/>
        </p:nvSpPr>
        <p:spPr>
          <a:xfrm>
            <a:off x="598065" y="2828925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+mn-ea"/>
                <a:cs typeface="ui-sans-serif" pitchFamily="34" charset="-120"/>
              </a:rPr>
              <a:t>동계 올림픽</a:t>
            </a:r>
            <a:endParaRPr lang="en-US" sz="1200" dirty="0">
              <a:latin typeface="+mn-ea"/>
            </a:endParaRPr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0E8D27D7-491E-453D-004B-4B4CBF7ADA21}"/>
              </a:ext>
            </a:extLst>
          </p:cNvPr>
          <p:cNvSpPr/>
          <p:nvPr/>
        </p:nvSpPr>
        <p:spPr>
          <a:xfrm>
            <a:off x="607635" y="3421672"/>
            <a:ext cx="2792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6월</a:t>
            </a:r>
            <a:endParaRPr lang="en-US" sz="1350" dirty="0">
              <a:latin typeface="+mn-ea"/>
            </a:endParaRPr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F0CFDAD8-F966-3FFA-AB5A-690A23EDE2FF}"/>
              </a:ext>
            </a:extLst>
          </p:cNvPr>
          <p:cNvSpPr/>
          <p:nvPr/>
        </p:nvSpPr>
        <p:spPr>
          <a:xfrm>
            <a:off x="607635" y="3688372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 err="1">
                <a:solidFill>
                  <a:srgbClr val="4B5563"/>
                </a:solidFill>
                <a:latin typeface="+mn-ea"/>
                <a:cs typeface="ui-sans-serif" pitchFamily="34" charset="-120"/>
              </a:rPr>
              <a:t>전국동시지방선거</a:t>
            </a:r>
            <a:endParaRPr lang="en-US" sz="1200" dirty="0">
              <a:latin typeface="+mn-ea"/>
            </a:endParaRPr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1304C930-4F2A-035A-60C7-FCD02ADC4251}"/>
              </a:ext>
            </a:extLst>
          </p:cNvPr>
          <p:cNvSpPr/>
          <p:nvPr/>
        </p:nvSpPr>
        <p:spPr>
          <a:xfrm>
            <a:off x="598065" y="4274528"/>
            <a:ext cx="2792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6~7월</a:t>
            </a:r>
            <a:endParaRPr lang="en-US" sz="1350" dirty="0">
              <a:latin typeface="+mn-ea"/>
            </a:endParaRPr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0B744ACC-791C-C63F-802B-8B33E065A6F2}"/>
              </a:ext>
            </a:extLst>
          </p:cNvPr>
          <p:cNvSpPr/>
          <p:nvPr/>
        </p:nvSpPr>
        <p:spPr>
          <a:xfrm>
            <a:off x="598065" y="4541228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+mn-ea"/>
                <a:cs typeface="ui-sans-serif" pitchFamily="34" charset="-120"/>
              </a:rPr>
              <a:t>월드컵</a:t>
            </a:r>
            <a:endParaRPr lang="en-US" sz="1200" dirty="0">
              <a:latin typeface="+mn-ea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0CEAED08-B041-232A-930D-02D30E023119}"/>
              </a:ext>
            </a:extLst>
          </p:cNvPr>
          <p:cNvSpPr/>
          <p:nvPr/>
        </p:nvSpPr>
        <p:spPr>
          <a:xfrm>
            <a:off x="608146" y="5144672"/>
            <a:ext cx="2792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9~10월</a:t>
            </a:r>
            <a:endParaRPr lang="en-US" sz="1350" dirty="0">
              <a:latin typeface="+mn-ea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3B3EB3A4-C600-0BB1-5841-D8685951791B}"/>
              </a:ext>
            </a:extLst>
          </p:cNvPr>
          <p:cNvSpPr/>
          <p:nvPr/>
        </p:nvSpPr>
        <p:spPr>
          <a:xfrm>
            <a:off x="608146" y="5411372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+mn-ea"/>
                <a:cs typeface="ui-sans-serif" pitchFamily="34" charset="-120"/>
              </a:rPr>
              <a:t>아시안 게임</a:t>
            </a:r>
            <a:endParaRPr lang="en-US" sz="1200" dirty="0">
              <a:latin typeface="+mn-ea"/>
            </a:endParaRPr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742C5F4E-FA04-CAE7-BF61-C9A6F79AEEC8}"/>
              </a:ext>
            </a:extLst>
          </p:cNvPr>
          <p:cNvSpPr/>
          <p:nvPr/>
        </p:nvSpPr>
        <p:spPr>
          <a:xfrm>
            <a:off x="608146" y="5984044"/>
            <a:ext cx="2792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11월</a:t>
            </a:r>
            <a:endParaRPr lang="en-US" sz="1350" dirty="0">
              <a:latin typeface="+mn-ea"/>
            </a:endParaRPr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C8A5A121-E757-4D41-A9EB-78AA002694FD}"/>
              </a:ext>
            </a:extLst>
          </p:cNvPr>
          <p:cNvSpPr/>
          <p:nvPr/>
        </p:nvSpPr>
        <p:spPr>
          <a:xfrm>
            <a:off x="608146" y="6250744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+mn-ea"/>
                <a:cs typeface="ui-sans-serif" pitchFamily="34" charset="-120"/>
              </a:rPr>
              <a:t>미국 중간 선거</a:t>
            </a:r>
            <a:endParaRPr lang="en-US" sz="1200" dirty="0">
              <a:latin typeface="+mn-ea"/>
            </a:endParaRPr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13CC8883-CB2E-0BB0-55B2-94DBF39778A8}"/>
              </a:ext>
            </a:extLst>
          </p:cNvPr>
          <p:cNvSpPr/>
          <p:nvPr/>
        </p:nvSpPr>
        <p:spPr>
          <a:xfrm>
            <a:off x="607635" y="2191996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+mn-ea"/>
                <a:cs typeface="ui-sans-serif" pitchFamily="34" charset="-120"/>
              </a:rPr>
              <a:t>전쟁에 대한 긴장감 고조</a:t>
            </a:r>
            <a:endParaRPr lang="en-US" sz="1200" dirty="0">
              <a:latin typeface="+mn-ea"/>
            </a:endParaRPr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1C578CC3-0882-EB4F-5737-E89EDB6AD732}"/>
              </a:ext>
            </a:extLst>
          </p:cNvPr>
          <p:cNvSpPr/>
          <p:nvPr/>
        </p:nvSpPr>
        <p:spPr>
          <a:xfrm>
            <a:off x="607635" y="3037449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6302E855-E59E-B998-0819-B8F9B2BB362E}"/>
              </a:ext>
            </a:extLst>
          </p:cNvPr>
          <p:cNvSpPr/>
          <p:nvPr/>
        </p:nvSpPr>
        <p:spPr>
          <a:xfrm>
            <a:off x="598065" y="3037449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+mn-ea"/>
              </a:rPr>
              <a:t>활약한 선수 및 종목에 대한 관심 증가</a:t>
            </a:r>
            <a:endParaRPr lang="en-US" sz="1200" dirty="0">
              <a:latin typeface="+mn-ea"/>
            </a:endParaRP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D7BBAD59-426A-93FD-3831-960A05961F35}"/>
              </a:ext>
            </a:extLst>
          </p:cNvPr>
          <p:cNvSpPr/>
          <p:nvPr/>
        </p:nvSpPr>
        <p:spPr>
          <a:xfrm>
            <a:off x="601710" y="3914922"/>
            <a:ext cx="33513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68" name="Text 15">
            <a:extLst>
              <a:ext uri="{FF2B5EF4-FFF2-40B4-BE49-F238E27FC236}">
                <a16:creationId xmlns:a16="http://schemas.microsoft.com/office/drawing/2014/main" id="{BB4FC00E-4C50-4DD0-3FD5-EDD88678E3DA}"/>
              </a:ext>
            </a:extLst>
          </p:cNvPr>
          <p:cNvSpPr/>
          <p:nvPr/>
        </p:nvSpPr>
        <p:spPr>
          <a:xfrm>
            <a:off x="607635" y="3911843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+mn-ea"/>
              </a:rPr>
              <a:t>정치적 이슈</a:t>
            </a:r>
            <a:r>
              <a:rPr lang="en-US" altLang="ko-KR" sz="1200" dirty="0">
                <a:solidFill>
                  <a:srgbClr val="4B5563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+mn-ea"/>
              </a:rPr>
              <a:t>가짜 뉴스 증가</a:t>
            </a:r>
            <a:endParaRPr lang="en-US" sz="1200" dirty="0">
              <a:latin typeface="+mn-ea"/>
            </a:endParaRPr>
          </a:p>
        </p:txBody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5BAD8CE9-CBDF-D55B-32E0-7908EE8E8D9C}"/>
              </a:ext>
            </a:extLst>
          </p:cNvPr>
          <p:cNvSpPr/>
          <p:nvPr/>
        </p:nvSpPr>
        <p:spPr>
          <a:xfrm>
            <a:off x="598065" y="4762500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+mn-ea"/>
              </a:rPr>
              <a:t>축구</a:t>
            </a:r>
            <a:r>
              <a:rPr lang="en-US" altLang="ko-KR" sz="1200" dirty="0">
                <a:solidFill>
                  <a:srgbClr val="4B5563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+mn-ea"/>
              </a:rPr>
              <a:t>및 선수에 대한 관심 증가</a:t>
            </a:r>
            <a:endParaRPr lang="en-US" sz="1200" dirty="0">
              <a:latin typeface="+mn-ea"/>
            </a:endParaRPr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E3A3B866-6576-E44F-1265-20A17613A4AE}"/>
              </a:ext>
            </a:extLst>
          </p:cNvPr>
          <p:cNvSpPr/>
          <p:nvPr/>
        </p:nvSpPr>
        <p:spPr>
          <a:xfrm>
            <a:off x="607635" y="5646128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4B5563"/>
                </a:solidFill>
                <a:latin typeface="+mn-ea"/>
              </a:rPr>
              <a:t>활약한 선수 및 종목에 대한 관심 증가</a:t>
            </a:r>
            <a:endParaRPr lang="en-US" altLang="ko-KR" sz="1200" dirty="0">
              <a:latin typeface="+mn-ea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2C901E34-6368-0B01-FE6E-2B894F9EB61D}"/>
              </a:ext>
            </a:extLst>
          </p:cNvPr>
          <p:cNvSpPr/>
          <p:nvPr/>
        </p:nvSpPr>
        <p:spPr>
          <a:xfrm>
            <a:off x="608146" y="6477000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+mn-ea"/>
            </a:endParaRPr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25A26E3D-7661-DC90-8F0C-C8667550AA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5716" y="6550563"/>
            <a:ext cx="228600" cy="228600"/>
          </a:xfrm>
          <a:prstGeom prst="rect">
            <a:avLst/>
          </a:prstGeom>
        </p:spPr>
      </p:pic>
      <p:sp>
        <p:nvSpPr>
          <p:cNvPr id="73" name="Text 1">
            <a:extLst>
              <a:ext uri="{FF2B5EF4-FFF2-40B4-BE49-F238E27FC236}">
                <a16:creationId xmlns:a16="http://schemas.microsoft.com/office/drawing/2014/main" id="{156D56A8-EB85-0AC0-3C6F-952791EA3DE4}"/>
              </a:ext>
            </a:extLst>
          </p:cNvPr>
          <p:cNvSpPr/>
          <p:nvPr/>
        </p:nvSpPr>
        <p:spPr>
          <a:xfrm>
            <a:off x="5028616" y="6512463"/>
            <a:ext cx="3840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2026년 핵심 키워드</a:t>
            </a:r>
            <a:endParaRPr lang="en-US" sz="1800" dirty="0"/>
          </a:p>
        </p:txBody>
      </p:sp>
      <p:sp>
        <p:nvSpPr>
          <p:cNvPr id="77" name="Text 1">
            <a:extLst>
              <a:ext uri="{FF2B5EF4-FFF2-40B4-BE49-F238E27FC236}">
                <a16:creationId xmlns:a16="http://schemas.microsoft.com/office/drawing/2014/main" id="{07F6D7BB-48C2-1BA0-F1A5-20C3F56256AD}"/>
              </a:ext>
            </a:extLst>
          </p:cNvPr>
          <p:cNvSpPr/>
          <p:nvPr/>
        </p:nvSpPr>
        <p:spPr>
          <a:xfrm>
            <a:off x="7743374" y="6506601"/>
            <a:ext cx="3840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전쟁</a:t>
            </a:r>
            <a:r>
              <a:rPr lang="en-US" altLang="ko-KR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북한 미국 중국</a:t>
            </a:r>
            <a:endParaRPr lang="en-US" sz="1800" dirty="0"/>
          </a:p>
        </p:txBody>
      </p:sp>
      <p:sp>
        <p:nvSpPr>
          <p:cNvPr id="78" name="Text 1">
            <a:extLst>
              <a:ext uri="{FF2B5EF4-FFF2-40B4-BE49-F238E27FC236}">
                <a16:creationId xmlns:a16="http://schemas.microsoft.com/office/drawing/2014/main" id="{42DEE404-9C1E-A08D-1DC9-50A0DCC624F4}"/>
              </a:ext>
            </a:extLst>
          </p:cNvPr>
          <p:cNvSpPr/>
          <p:nvPr/>
        </p:nvSpPr>
        <p:spPr>
          <a:xfrm>
            <a:off x="5756836" y="2430268"/>
            <a:ext cx="3840480" cy="27144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북한 당대회</a:t>
            </a:r>
            <a:r>
              <a:rPr lang="en-US" altLang="ko-KR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ko-KR" altLang="en-US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전국 동시지방선거</a:t>
            </a:r>
            <a:r>
              <a:rPr lang="en-US" altLang="ko-KR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ko-KR" altLang="en-US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미국중간선거를 분석하여 키워드를 </a:t>
            </a:r>
            <a:r>
              <a:rPr lang="ko-KR" altLang="en-US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뽑아낼때의</a:t>
            </a:r>
            <a:r>
              <a:rPr lang="ko-KR" altLang="en-US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근거 정리</a:t>
            </a:r>
            <a:endParaRPr lang="en-US" altLang="ko-KR" sz="18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endParaRPr lang="en-US" altLang="ko-KR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endParaRPr lang="en-US" altLang="ko-KR" sz="18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최근 혐오 시위 등 현상</a:t>
            </a:r>
            <a:endParaRPr lang="en-US" altLang="ko-KR" sz="18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ko-KR" altLang="en-US" b="1" dirty="0">
                <a:solidFill>
                  <a:srgbClr val="1F2937"/>
                </a:solidFill>
                <a:latin typeface="ui-sans-serif" pitchFamily="34" charset="0"/>
              </a:rPr>
              <a:t>구글 트렌드의 검색어 통계 현황</a:t>
            </a:r>
            <a:endParaRPr lang="en-US" altLang="ko-KR" b="1" dirty="0">
              <a:solidFill>
                <a:srgbClr val="1F2937"/>
              </a:solidFill>
              <a:latin typeface="ui-sans-serif" pitchFamily="34" charset="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ui-sans-serif" pitchFamily="34" charset="0"/>
              </a:rPr>
              <a:t>등등의 키워드가 저렇게 나온 이유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3657600" cy="1943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736481"/>
            <a:ext cx="3200400" cy="112101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" y="3127131"/>
            <a:ext cx="3657600" cy="279302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3393831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736731"/>
            <a:ext cx="3543300" cy="1828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1833" y="4062340"/>
            <a:ext cx="604178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4845" y="1103435"/>
            <a:ext cx="7543800" cy="232556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3445" y="1370135"/>
            <a:ext cx="142875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3445" y="1713035"/>
            <a:ext cx="3543300" cy="1828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26680" y="1433880"/>
            <a:ext cx="3855720" cy="175113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6053" y="6104793"/>
            <a:ext cx="11430000" cy="5715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FPS 장르 선택 근거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009650" y="1333500"/>
            <a:ext cx="3200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타겟 플레이어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800100" y="1926981"/>
            <a:ext cx="281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Z세대 선정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800100" y="2218006"/>
            <a:ext cx="2819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 네이티브 세대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800100" y="2446606"/>
            <a:ext cx="3383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 및 PC 게임에 익숙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933450" y="3355731"/>
            <a:ext cx="708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청소년 가장 많이 이용하는 게임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933450" y="5577255"/>
            <a:ext cx="3703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2024년 한국콘텐츠진흥원 실태조사 결과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4960620" y="1332035"/>
            <a:ext cx="708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PC방 점유율 상위 10개 중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7879080" y="1586280"/>
            <a:ext cx="3509138" cy="4775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 err="1">
                <a:solidFill>
                  <a:srgbClr val="374151"/>
                </a:solidFill>
                <a:latin typeface="ui-sans-serif" pitchFamily="34" charset="0"/>
              </a:rPr>
              <a:t>배틀그라운드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7879080" y="1891080"/>
            <a:ext cx="4210966" cy="4775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발로란트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533400" y="6216162"/>
            <a:ext cx="1112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결론: Z세대가 즐겨하는 장르이면서 시장 점유율 also 높은 FPS </a:t>
            </a:r>
            <a:r>
              <a:rPr lang="en-US" sz="135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장르를</a:t>
            </a: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선택</a:t>
            </a:r>
            <a:r>
              <a:rPr lang="ko-KR" alt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하였다</a:t>
            </a:r>
            <a:endParaRPr lang="en-US" sz="1350" dirty="0"/>
          </a:p>
        </p:txBody>
      </p:sp>
      <p:sp>
        <p:nvSpPr>
          <p:cNvPr id="30" name="Text 14"/>
          <p:cNvSpPr/>
          <p:nvPr/>
        </p:nvSpPr>
        <p:spPr>
          <a:xfrm>
            <a:off x="11468844" y="66675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/ 9</a:t>
            </a:r>
            <a:endParaRPr lang="en-US" sz="12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6294FA3-E019-0C72-3288-9610A4E1CBEE}"/>
              </a:ext>
            </a:extLst>
          </p:cNvPr>
          <p:cNvSpPr/>
          <p:nvPr/>
        </p:nvSpPr>
        <p:spPr>
          <a:xfrm>
            <a:off x="1210264" y="4107180"/>
            <a:ext cx="604178" cy="2438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FPS/TPS</a:t>
            </a:r>
            <a:endParaRPr lang="en-US" sz="12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D31FF53C-966D-A7C6-E431-5471CCBFF302}"/>
              </a:ext>
            </a:extLst>
          </p:cNvPr>
          <p:cNvSpPr/>
          <p:nvPr/>
        </p:nvSpPr>
        <p:spPr>
          <a:xfrm>
            <a:off x="7894357" y="2155729"/>
            <a:ext cx="4210966" cy="4775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>
                <a:solidFill>
                  <a:srgbClr val="4B5563"/>
                </a:solidFill>
                <a:latin typeface="ui-sans-serif" pitchFamily="34" charset="0"/>
              </a:rPr>
              <a:t>오버워치</a:t>
            </a:r>
            <a:endParaRPr lang="en-US" sz="120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A84164D5-ACD8-C63F-B4F6-6BEAD814770B}"/>
              </a:ext>
            </a:extLst>
          </p:cNvPr>
          <p:cNvSpPr/>
          <p:nvPr/>
        </p:nvSpPr>
        <p:spPr>
          <a:xfrm>
            <a:off x="7879080" y="2434818"/>
            <a:ext cx="4210966" cy="4775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ui-sans-serif" pitchFamily="34" charset="0"/>
              </a:rPr>
              <a:t>서든어택</a:t>
            </a:r>
            <a:endParaRPr lang="en-US" altLang="ko-KR" sz="1200" dirty="0">
              <a:solidFill>
                <a:srgbClr val="4B5563"/>
              </a:solidFill>
              <a:latin typeface="ui-sans-serif" pitchFamily="34" charset="0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34" name="Image 9" descr="preencoded.png">
            <a:extLst>
              <a:ext uri="{FF2B5EF4-FFF2-40B4-BE49-F238E27FC236}">
                <a16:creationId xmlns:a16="http://schemas.microsoft.com/office/drawing/2014/main" id="{C6BF33F0-7AB4-F6BA-F7A4-282858BC66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7700" y="3591206"/>
            <a:ext cx="7543800" cy="2325565"/>
          </a:xfrm>
          <a:prstGeom prst="rect">
            <a:avLst/>
          </a:prstGeom>
        </p:spPr>
      </p:pic>
      <p:sp>
        <p:nvSpPr>
          <p:cNvPr id="35" name="Text 10">
            <a:extLst>
              <a:ext uri="{FF2B5EF4-FFF2-40B4-BE49-F238E27FC236}">
                <a16:creationId xmlns:a16="http://schemas.microsoft.com/office/drawing/2014/main" id="{66FD7D1B-F0E9-2A5B-EF7F-227F5493DC9A}"/>
              </a:ext>
            </a:extLst>
          </p:cNvPr>
          <p:cNvSpPr/>
          <p:nvPr/>
        </p:nvSpPr>
        <p:spPr>
          <a:xfrm>
            <a:off x="4799433" y="3905250"/>
            <a:ext cx="708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그중 </a:t>
            </a:r>
            <a:r>
              <a:rPr lang="ko-KR" alt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발로란트에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대한 설명</a:t>
            </a:r>
            <a:endParaRPr lang="en-US" sz="15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5D4DFC77-FB4F-866E-BE1E-FB909590FD5D}"/>
              </a:ext>
            </a:extLst>
          </p:cNvPr>
          <p:cNvSpPr/>
          <p:nvPr/>
        </p:nvSpPr>
        <p:spPr>
          <a:xfrm>
            <a:off x="4951833" y="4562182"/>
            <a:ext cx="708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특히 </a:t>
            </a:r>
            <a:r>
              <a:rPr lang="en-US" altLang="ko-KR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세대의 선호도가 높다 </a:t>
            </a:r>
            <a:r>
              <a:rPr lang="en-US" altLang="ko-KR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</a:t>
            </a:r>
            <a:r>
              <a:rPr lang="ko-KR" alt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피시방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점유율 변화</a:t>
            </a:r>
            <a:r>
              <a:rPr lang="en-US" altLang="ko-KR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</a:p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그 이유에 대해 서술</a:t>
            </a:r>
            <a:r>
              <a:rPr lang="en-US" altLang="ko-KR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짧은 라운드 방식의 게임진행</a:t>
            </a:r>
            <a:r>
              <a:rPr lang="en-US" altLang="ko-KR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등등</a:t>
            </a:r>
            <a:r>
              <a:rPr lang="en-US" altLang="ko-KR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  <a:br>
              <a:rPr lang="en-US" altLang="ko-KR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</a:br>
            <a:endParaRPr lang="en-US" altLang="ko-KR" sz="15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endParaRPr lang="en-US" altLang="ko-KR" sz="15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2792849" cy="194016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335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14500"/>
            <a:ext cx="762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019300"/>
            <a:ext cx="762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324100"/>
            <a:ext cx="762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28900"/>
            <a:ext cx="762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50" y="1108417"/>
            <a:ext cx="2800350" cy="193665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50" y="1337017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50" y="1706733"/>
            <a:ext cx="762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50" y="2022817"/>
            <a:ext cx="762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50" y="2327617"/>
            <a:ext cx="762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50" y="2660992"/>
            <a:ext cx="762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320" y="3116434"/>
            <a:ext cx="5765780" cy="336056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820" y="3345034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354" y="5921180"/>
            <a:ext cx="762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8629" y="1108416"/>
            <a:ext cx="5600700" cy="5368583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01071" y="1562085"/>
            <a:ext cx="190500" cy="1905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Homefront 분석 및 벤치마킹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838200" y="12954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Homefront 성공 요소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723900" y="1676400"/>
            <a:ext cx="1861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2011년에 출시한 게임</a:t>
            </a:r>
            <a:endParaRPr lang="en-US" sz="1200" dirty="0"/>
          </a:p>
        </p:txBody>
      </p:sp>
      <p:sp>
        <p:nvSpPr>
          <p:cNvPr id="31" name="Text 3"/>
          <p:cNvSpPr/>
          <p:nvPr/>
        </p:nvSpPr>
        <p:spPr>
          <a:xfrm>
            <a:off x="723900" y="1981200"/>
            <a:ext cx="27928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북한이 미국 본토를 침공하는 설정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723900" y="2286000"/>
            <a:ext cx="222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출시 첫주에 100만 장 판매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723900" y="2590800"/>
            <a:ext cx="27294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멀티플레이 BP시스템이 호평받음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3790950" y="1298917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Homefront 한계점</a:t>
            </a:r>
            <a:endParaRPr lang="en-US" sz="1500" dirty="0"/>
          </a:p>
        </p:txBody>
      </p:sp>
      <p:sp>
        <p:nvSpPr>
          <p:cNvPr id="35" name="Text 7"/>
          <p:cNvSpPr/>
          <p:nvPr/>
        </p:nvSpPr>
        <p:spPr>
          <a:xfrm>
            <a:off x="3676650" y="1679917"/>
            <a:ext cx="29176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싱글플레이에서의 짧은 플레이 시간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3676650" y="1984717"/>
            <a:ext cx="9726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부족한 연출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3676650" y="2289517"/>
            <a:ext cx="11555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답답한 조작감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3676650" y="2594317"/>
            <a:ext cx="7897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잦은 버그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825520" y="3306934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벤치마킹 대상</a:t>
            </a:r>
            <a:endParaRPr lang="en-US" sz="1500" dirty="0"/>
          </a:p>
        </p:txBody>
      </p:sp>
      <p:sp>
        <p:nvSpPr>
          <p:cNvPr id="41" name="Text 13"/>
          <p:cNvSpPr/>
          <p:nvPr/>
        </p:nvSpPr>
        <p:spPr>
          <a:xfrm>
            <a:off x="820340" y="5928214"/>
            <a:ext cx="25999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Escape from Tarkov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6767771" y="1523985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33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통합 전략</a:t>
            </a:r>
            <a:endParaRPr lang="en-US" sz="1500" dirty="0"/>
          </a:p>
        </p:txBody>
      </p:sp>
      <p:sp>
        <p:nvSpPr>
          <p:cNvPr id="49" name="Text 21"/>
          <p:cNvSpPr/>
          <p:nvPr/>
        </p:nvSpPr>
        <p:spPr>
          <a:xfrm>
            <a:off x="11468844" y="64770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9</a:t>
            </a:r>
            <a:endParaRPr lang="en-US" sz="1200" dirty="0"/>
          </a:p>
        </p:txBody>
      </p:sp>
      <p:pic>
        <p:nvPicPr>
          <p:cNvPr id="2054" name="Picture 6" descr="배틀스테이트게임즈 이스케이프 프롬 타르코프 (게임사 코드) : 다나와 가격비교">
            <a:extLst>
              <a:ext uri="{FF2B5EF4-FFF2-40B4-BE49-F238E27FC236}">
                <a16:creationId xmlns:a16="http://schemas.microsoft.com/office/drawing/2014/main" id="{CB01A007-8D9A-969B-E8B2-17D6492C0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60" y="3799304"/>
            <a:ext cx="195262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A665F88D-CF28-C5AA-B894-98ECBCB602C4}"/>
              </a:ext>
            </a:extLst>
          </p:cNvPr>
          <p:cNvSpPr/>
          <p:nvPr/>
        </p:nvSpPr>
        <p:spPr>
          <a:xfrm>
            <a:off x="3008769" y="4424934"/>
            <a:ext cx="426601" cy="48463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AutoShape 8" descr="Escape from Duckov - 나무위키">
            <a:extLst>
              <a:ext uri="{FF2B5EF4-FFF2-40B4-BE49-F238E27FC236}">
                <a16:creationId xmlns:a16="http://schemas.microsoft.com/office/drawing/2014/main" id="{573C2275-3B53-E77D-E1B6-8C995ED5D1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8165" y="2388487"/>
            <a:ext cx="115747" cy="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58" name="Picture 10" descr="이 게임을 아시나요? - 이스케이프 프롬 덕코프 : 네이버 블로그">
            <a:extLst>
              <a:ext uri="{FF2B5EF4-FFF2-40B4-BE49-F238E27FC236}">
                <a16:creationId xmlns:a16="http://schemas.microsoft.com/office/drawing/2014/main" id="{E75A9A7F-0710-C816-3F69-F179664D4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815" y="3799245"/>
            <a:ext cx="195262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 17" descr="preencoded.png">
            <a:extLst>
              <a:ext uri="{FF2B5EF4-FFF2-40B4-BE49-F238E27FC236}">
                <a16:creationId xmlns:a16="http://schemas.microsoft.com/office/drawing/2014/main" id="{6422F241-1A40-08D2-FA37-FEEC86B84FF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0950" y="5972792"/>
            <a:ext cx="76200" cy="152400"/>
          </a:xfrm>
          <a:prstGeom prst="rect">
            <a:avLst/>
          </a:prstGeom>
        </p:spPr>
      </p:pic>
      <p:sp>
        <p:nvSpPr>
          <p:cNvPr id="55" name="Text 13">
            <a:extLst>
              <a:ext uri="{FF2B5EF4-FFF2-40B4-BE49-F238E27FC236}">
                <a16:creationId xmlns:a16="http://schemas.microsoft.com/office/drawing/2014/main" id="{E331C07D-F116-38D4-C012-DCBE14C38D3E}"/>
              </a:ext>
            </a:extLst>
          </p:cNvPr>
          <p:cNvSpPr/>
          <p:nvPr/>
        </p:nvSpPr>
        <p:spPr>
          <a:xfrm>
            <a:off x="3902452" y="5922237"/>
            <a:ext cx="25999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Escape from </a:t>
            </a:r>
            <a:r>
              <a:rPr 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Duckov</a:t>
            </a:r>
            <a:endParaRPr lang="en-US" sz="1200" dirty="0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4DD166B6-EBA2-0F49-8D4B-A02DAF6B726C}"/>
              </a:ext>
            </a:extLst>
          </p:cNvPr>
          <p:cNvSpPr/>
          <p:nvPr/>
        </p:nvSpPr>
        <p:spPr>
          <a:xfrm>
            <a:off x="7247500" y="2213317"/>
            <a:ext cx="2917686" cy="40608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Homefront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의 스토리</a:t>
            </a:r>
            <a:r>
              <a:rPr lang="en-US" altLang="ko-KR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, bp 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시스템 등을 가져오고 </a:t>
            </a:r>
            <a:r>
              <a:rPr lang="ko-KR" alt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발로란트의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 진행방식을 접목시켜 짧은 플레이시간을 개선하고 </a:t>
            </a:r>
            <a:r>
              <a:rPr lang="ko-KR" alt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발로란트처럼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 빠른 움직임의 게임으로 답답한 조작감을 개선시킨 게임을 제작하겠다</a:t>
            </a:r>
            <a:r>
              <a:rPr lang="en-US" altLang="ko-KR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.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</a:rPr>
              <a:t>또한 멀티플레이의 </a:t>
            </a:r>
            <a:r>
              <a:rPr lang="en-US" altLang="ko-KR" sz="1200" dirty="0">
                <a:solidFill>
                  <a:srgbClr val="374151"/>
                </a:solidFill>
                <a:latin typeface="ui-sans-serif" pitchFamily="34" charset="0"/>
              </a:rPr>
              <a:t>BP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</a:rPr>
              <a:t>시스템을 </a:t>
            </a:r>
            <a:r>
              <a:rPr lang="ko-KR" altLang="en-US" sz="1200" dirty="0" err="1">
                <a:solidFill>
                  <a:srgbClr val="374151"/>
                </a:solidFill>
                <a:latin typeface="ui-sans-serif" pitchFamily="34" charset="0"/>
              </a:rPr>
              <a:t>발로란트의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</a:rPr>
              <a:t> 경제시스템과 </a:t>
            </a:r>
            <a:r>
              <a:rPr lang="ko-KR" altLang="en-US" sz="1200" dirty="0" err="1">
                <a:solidFill>
                  <a:srgbClr val="374151"/>
                </a:solidFill>
                <a:latin typeface="ui-sans-serif" pitchFamily="34" charset="0"/>
              </a:rPr>
              <a:t>베일드엑스퍼트라는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</a:rPr>
              <a:t> 게임의 경제시스템을 접목 시켜 다양한 전략을 만들 수 있는 게임으로 만들겠다는 내용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562600" cy="1504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3" y="1400175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1914525"/>
            <a:ext cx="762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2219325"/>
            <a:ext cx="762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838450"/>
            <a:ext cx="5562600" cy="15049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02895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3133725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1100" y="3648075"/>
            <a:ext cx="762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1100" y="3952875"/>
            <a:ext cx="762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104900"/>
            <a:ext cx="5562600" cy="1809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2954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7963" y="1400175"/>
            <a:ext cx="23812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0" y="1914525"/>
            <a:ext cx="762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0" y="2219325"/>
            <a:ext cx="762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0" y="2524125"/>
            <a:ext cx="762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3143250"/>
            <a:ext cx="5562600" cy="15525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333750"/>
            <a:ext cx="476250" cy="4762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67488" y="3438525"/>
            <a:ext cx="21907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48500" y="3952875"/>
            <a:ext cx="762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48500" y="4207412"/>
            <a:ext cx="762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73423" y="4445537"/>
            <a:ext cx="762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60674" y="5486400"/>
            <a:ext cx="1119932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56806" y="5667375"/>
            <a:ext cx="476250" cy="190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09256" y="5486400"/>
            <a:ext cx="967532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52988" y="5667375"/>
            <a:ext cx="476250" cy="190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05438" y="5486400"/>
            <a:ext cx="967532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49169" y="5667375"/>
            <a:ext cx="476250" cy="190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01619" y="5486400"/>
            <a:ext cx="1172914" cy="381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03134" y="5667375"/>
            <a:ext cx="476250" cy="190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55584" y="5486400"/>
            <a:ext cx="1175593" cy="381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29188" y="6276975"/>
            <a:ext cx="476250" cy="1905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81638" y="6096000"/>
            <a:ext cx="967532" cy="3810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25369" y="6276975"/>
            <a:ext cx="476250" cy="1905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77819" y="6096000"/>
            <a:ext cx="1172914" cy="3810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26934" y="6276975"/>
            <a:ext cx="476250" cy="190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879384" y="6096000"/>
            <a:ext cx="1175593" cy="381000"/>
          </a:xfrm>
          <a:prstGeom prst="rect">
            <a:avLst/>
          </a:prstGeom>
        </p:spPr>
      </p:pic>
      <p:sp>
        <p:nvSpPr>
          <p:cNvPr id="4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 진행 방식</a:t>
            </a:r>
            <a:endParaRPr lang="en-US" sz="2700" dirty="0"/>
          </a:p>
        </p:txBody>
      </p:sp>
      <p:sp>
        <p:nvSpPr>
          <p:cNvPr id="43" name="Text 1"/>
          <p:cNvSpPr/>
          <p:nvPr/>
        </p:nvSpPr>
        <p:spPr>
          <a:xfrm>
            <a:off x="1162050" y="1400175"/>
            <a:ext cx="7654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 설정</a:t>
            </a:r>
            <a:endParaRPr lang="en-US" sz="1500" dirty="0"/>
          </a:p>
        </p:txBody>
      </p:sp>
      <p:sp>
        <p:nvSpPr>
          <p:cNvPr id="44" name="Text 2"/>
          <p:cNvSpPr/>
          <p:nvPr/>
        </p:nvSpPr>
        <p:spPr>
          <a:xfrm>
            <a:off x="1143000" y="1885950"/>
            <a:ext cx="571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저항군(미국), 점령군(북한) 두 팀으로 진행</a:t>
            </a:r>
            <a:endParaRPr lang="en-US" sz="1200" dirty="0"/>
          </a:p>
        </p:txBody>
      </p:sp>
      <p:sp>
        <p:nvSpPr>
          <p:cNvPr id="45" name="Text 3"/>
          <p:cNvSpPr/>
          <p:nvPr/>
        </p:nvSpPr>
        <p:spPr>
          <a:xfrm>
            <a:off x="1143000" y="219075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저항군이 선공권을 가진다</a:t>
            </a:r>
            <a:endParaRPr lang="en-US" sz="1200" dirty="0"/>
          </a:p>
        </p:txBody>
      </p:sp>
      <p:sp>
        <p:nvSpPr>
          <p:cNvPr id="46" name="Text 4"/>
          <p:cNvSpPr/>
          <p:nvPr/>
        </p:nvSpPr>
        <p:spPr>
          <a:xfrm>
            <a:off x="1162050" y="3133725"/>
            <a:ext cx="13023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공격 및 수비</a:t>
            </a:r>
            <a:endParaRPr lang="en-US" sz="1500" dirty="0"/>
          </a:p>
        </p:txBody>
      </p:sp>
      <p:sp>
        <p:nvSpPr>
          <p:cNvPr id="47" name="Text 5"/>
          <p:cNvSpPr/>
          <p:nvPr/>
        </p:nvSpPr>
        <p:spPr>
          <a:xfrm>
            <a:off x="1143000" y="3619500"/>
            <a:ext cx="571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공격팀은 은신처 내부에 폭탄을 터트려 인원 사살</a:t>
            </a:r>
            <a:endParaRPr lang="en-US" sz="1200" dirty="0"/>
          </a:p>
        </p:txBody>
      </p:sp>
      <p:sp>
        <p:nvSpPr>
          <p:cNvPr id="48" name="Text 6"/>
          <p:cNvSpPr/>
          <p:nvPr/>
        </p:nvSpPr>
        <p:spPr>
          <a:xfrm>
            <a:off x="1143000" y="39243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수비팀은 공격팀을 저지한다</a:t>
            </a:r>
            <a:endParaRPr lang="en-US" sz="1200" dirty="0"/>
          </a:p>
        </p:txBody>
      </p:sp>
      <p:sp>
        <p:nvSpPr>
          <p:cNvPr id="49" name="Text 7"/>
          <p:cNvSpPr/>
          <p:nvPr/>
        </p:nvSpPr>
        <p:spPr>
          <a:xfrm>
            <a:off x="7029450" y="1400175"/>
            <a:ext cx="14512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라운드 시스템</a:t>
            </a:r>
            <a:endParaRPr lang="en-US" sz="1500" dirty="0"/>
          </a:p>
        </p:txBody>
      </p:sp>
      <p:sp>
        <p:nvSpPr>
          <p:cNvPr id="50" name="Text 8"/>
          <p:cNvSpPr/>
          <p:nvPr/>
        </p:nvSpPr>
        <p:spPr>
          <a:xfrm>
            <a:off x="7010400" y="188595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한 경기는 여러 번의 짧은 라운드로 진행</a:t>
            </a:r>
            <a:endParaRPr lang="en-US" sz="1200" dirty="0"/>
          </a:p>
        </p:txBody>
      </p:sp>
      <p:sp>
        <p:nvSpPr>
          <p:cNvPr id="51" name="Text 9"/>
          <p:cNvSpPr/>
          <p:nvPr/>
        </p:nvSpPr>
        <p:spPr>
          <a:xfrm>
            <a:off x="7010400" y="2190750"/>
            <a:ext cx="571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총 13라운드를 먼저 승리한 팀이 경기에서 승리</a:t>
            </a:r>
            <a:endParaRPr lang="en-US" sz="1200" dirty="0"/>
          </a:p>
        </p:txBody>
      </p:sp>
      <p:sp>
        <p:nvSpPr>
          <p:cNvPr id="52" name="Text 10"/>
          <p:cNvSpPr/>
          <p:nvPr/>
        </p:nvSpPr>
        <p:spPr>
          <a:xfrm>
            <a:off x="7010400" y="249555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매 라운드마다 일정량의 돈을 얻는다</a:t>
            </a:r>
            <a:endParaRPr lang="en-US" sz="1200" dirty="0"/>
          </a:p>
        </p:txBody>
      </p:sp>
      <p:sp>
        <p:nvSpPr>
          <p:cNvPr id="53" name="Text 11"/>
          <p:cNvSpPr/>
          <p:nvPr/>
        </p:nvSpPr>
        <p:spPr>
          <a:xfrm>
            <a:off x="7029450" y="3438525"/>
            <a:ext cx="17595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맵 변화 메커니즘</a:t>
            </a:r>
            <a:endParaRPr lang="en-US" sz="1500" dirty="0"/>
          </a:p>
        </p:txBody>
      </p:sp>
      <p:sp>
        <p:nvSpPr>
          <p:cNvPr id="54" name="Text 12"/>
          <p:cNvSpPr/>
          <p:nvPr/>
        </p:nvSpPr>
        <p:spPr>
          <a:xfrm>
            <a:off x="7010400" y="3924300"/>
            <a:ext cx="571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공격을 성공하면 폭탄으로 인해 맵이 일부 변경</a:t>
            </a:r>
            <a:endParaRPr lang="en-US" sz="1200" dirty="0"/>
          </a:p>
        </p:txBody>
      </p:sp>
      <p:sp>
        <p:nvSpPr>
          <p:cNvPr id="56" name="Text 14"/>
          <p:cNvSpPr/>
          <p:nvPr/>
        </p:nvSpPr>
        <p:spPr>
          <a:xfrm>
            <a:off x="7010400" y="4167187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공격과 수비가 매 라운드 변경된다</a:t>
            </a:r>
            <a:endParaRPr lang="en-US" sz="1200" dirty="0"/>
          </a:p>
        </p:txBody>
      </p:sp>
      <p:sp>
        <p:nvSpPr>
          <p:cNvPr id="57" name="Text 15"/>
          <p:cNvSpPr/>
          <p:nvPr/>
        </p:nvSpPr>
        <p:spPr>
          <a:xfrm>
            <a:off x="7029450" y="440055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공격에 성공한 나라가 은신처를 점령</a:t>
            </a:r>
            <a:endParaRPr lang="en-US" sz="1200" dirty="0"/>
          </a:p>
        </p:txBody>
      </p:sp>
      <p:sp>
        <p:nvSpPr>
          <p:cNvPr id="58" name="Text 16"/>
          <p:cNvSpPr/>
          <p:nvPr/>
        </p:nvSpPr>
        <p:spPr>
          <a:xfrm>
            <a:off x="2213074" y="5581650"/>
            <a:ext cx="97815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라운드 시작</a:t>
            </a:r>
            <a:endParaRPr lang="en-US" sz="1200" dirty="0"/>
          </a:p>
        </p:txBody>
      </p:sp>
      <p:sp>
        <p:nvSpPr>
          <p:cNvPr id="59" name="Text 17"/>
          <p:cNvSpPr/>
          <p:nvPr/>
        </p:nvSpPr>
        <p:spPr>
          <a:xfrm>
            <a:off x="3961656" y="5581650"/>
            <a:ext cx="79527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 진행</a:t>
            </a:r>
            <a:endParaRPr lang="en-US" sz="1200" dirty="0"/>
          </a:p>
        </p:txBody>
      </p:sp>
      <p:sp>
        <p:nvSpPr>
          <p:cNvPr id="60" name="Text 18"/>
          <p:cNvSpPr/>
          <p:nvPr/>
        </p:nvSpPr>
        <p:spPr>
          <a:xfrm>
            <a:off x="5557838" y="5581650"/>
            <a:ext cx="79527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공격 성공</a:t>
            </a:r>
            <a:endParaRPr lang="en-US" sz="1200" dirty="0"/>
          </a:p>
        </p:txBody>
      </p:sp>
      <p:sp>
        <p:nvSpPr>
          <p:cNvPr id="61" name="Text 19"/>
          <p:cNvSpPr/>
          <p:nvPr/>
        </p:nvSpPr>
        <p:spPr>
          <a:xfrm>
            <a:off x="7154019" y="5581650"/>
            <a:ext cx="1224617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맵 </a:t>
            </a:r>
            <a:r>
              <a:rPr lang="ko-KR" altLang="en-US" sz="12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일부</a:t>
            </a:r>
            <a:r>
              <a:rPr lang="en-US" sz="12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변경</a:t>
            </a:r>
            <a:endParaRPr lang="en-US" sz="1200" dirty="0"/>
          </a:p>
        </p:txBody>
      </p:sp>
      <p:sp>
        <p:nvSpPr>
          <p:cNvPr id="62" name="Text 20"/>
          <p:cNvSpPr/>
          <p:nvPr/>
        </p:nvSpPr>
        <p:spPr>
          <a:xfrm>
            <a:off x="9107984" y="5581650"/>
            <a:ext cx="104495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공/수비 변경</a:t>
            </a:r>
            <a:endParaRPr lang="en-US" sz="1200" dirty="0"/>
          </a:p>
        </p:txBody>
      </p:sp>
      <p:sp>
        <p:nvSpPr>
          <p:cNvPr id="65" name="Text 23"/>
          <p:cNvSpPr/>
          <p:nvPr/>
        </p:nvSpPr>
        <p:spPr>
          <a:xfrm>
            <a:off x="5634038" y="6191250"/>
            <a:ext cx="79527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공격 실패</a:t>
            </a:r>
            <a:endParaRPr lang="en-US" sz="1200" dirty="0"/>
          </a:p>
        </p:txBody>
      </p:sp>
      <p:sp>
        <p:nvSpPr>
          <p:cNvPr id="66" name="Text 24"/>
          <p:cNvSpPr/>
          <p:nvPr/>
        </p:nvSpPr>
        <p:spPr>
          <a:xfrm>
            <a:off x="7230219" y="6191250"/>
            <a:ext cx="1041737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맵 일부 변경</a:t>
            </a:r>
            <a:endParaRPr lang="en-US" sz="1200" dirty="0"/>
          </a:p>
        </p:txBody>
      </p:sp>
      <p:sp>
        <p:nvSpPr>
          <p:cNvPr id="67" name="Text 25"/>
          <p:cNvSpPr/>
          <p:nvPr/>
        </p:nvSpPr>
        <p:spPr>
          <a:xfrm>
            <a:off x="9031784" y="6191250"/>
            <a:ext cx="104495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공/수비 변경</a:t>
            </a:r>
            <a:endParaRPr lang="en-US" sz="1200" dirty="0"/>
          </a:p>
        </p:txBody>
      </p:sp>
      <p:sp>
        <p:nvSpPr>
          <p:cNvPr id="68" name="Text 26"/>
          <p:cNvSpPr/>
          <p:nvPr/>
        </p:nvSpPr>
        <p:spPr>
          <a:xfrm>
            <a:off x="11468844" y="64770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 / 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81100"/>
            <a:ext cx="3606701" cy="495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3606701" cy="102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9790" y="13335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1240" y="14668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857500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200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5433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295900"/>
            <a:ext cx="3149501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2501" y="1181100"/>
            <a:ext cx="3606850" cy="4953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2501" y="1181100"/>
            <a:ext cx="360685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9952" y="13335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7114" y="1466850"/>
            <a:ext cx="25717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21101" y="32004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21101" y="35433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21101" y="5486400"/>
            <a:ext cx="3149650" cy="419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04150" y="1181100"/>
            <a:ext cx="3606701" cy="4953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04150" y="1181100"/>
            <a:ext cx="3606701" cy="1028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88327" y="1333500"/>
            <a:ext cx="571500" cy="571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32750" y="28575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32750" y="34290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32750" y="40005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32750" y="5486400"/>
            <a:ext cx="3149501" cy="4191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플레이어 캐릭터 시스템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533400" y="1543050"/>
            <a:ext cx="113085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캐릭터 A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609600" y="243840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특정 위치 포격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857250" y="2819400"/>
            <a:ext cx="34577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맵을 연 뒤 특정 위치에 폭탄을 떨어트린다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838200" y="3162300"/>
            <a:ext cx="17621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박격포 기능을 가진다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838200" y="3505200"/>
            <a:ext cx="20613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정찰 후 정확한 타격 가능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723900" y="5410200"/>
            <a:ext cx="2920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4444901" y="1543050"/>
            <a:ext cx="112764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캐릭터 B</a:t>
            </a:r>
            <a:endParaRPr lang="en-US" sz="1800" dirty="0"/>
          </a:p>
        </p:txBody>
      </p:sp>
      <p:sp>
        <p:nvSpPr>
          <p:cNvPr id="34" name="Text 8"/>
          <p:cNvSpPr/>
          <p:nvPr/>
        </p:nvSpPr>
        <p:spPr>
          <a:xfrm>
            <a:off x="4521101" y="2438400"/>
            <a:ext cx="3149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벽 파괴</a:t>
            </a:r>
            <a:endParaRPr lang="en-US" sz="1500" dirty="0"/>
          </a:p>
        </p:txBody>
      </p:sp>
      <p:sp>
        <p:nvSpPr>
          <p:cNvPr id="35" name="Text 9"/>
          <p:cNvSpPr/>
          <p:nvPr/>
        </p:nvSpPr>
        <p:spPr>
          <a:xfrm>
            <a:off x="4597301" y="2819400"/>
            <a:ext cx="27928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배그 점착폭탄 기능으로 벽을 파괴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4749701" y="3162300"/>
            <a:ext cx="20032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게임이 끝날 때까지 유지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4749701" y="3505200"/>
            <a:ext cx="292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공격에 성공하면 다시 막힐 수 있음 (ex: 돌덩이가 새로 생김)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4635401" y="5600700"/>
            <a:ext cx="3505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9" name="Text 13"/>
          <p:cNvSpPr/>
          <p:nvPr/>
        </p:nvSpPr>
        <p:spPr>
          <a:xfrm>
            <a:off x="8356550" y="1543050"/>
            <a:ext cx="111978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캐릭터 C</a:t>
            </a:r>
            <a:endParaRPr lang="en-US" sz="1800" dirty="0"/>
          </a:p>
        </p:txBody>
      </p:sp>
      <p:sp>
        <p:nvSpPr>
          <p:cNvPr id="40" name="Text 14"/>
          <p:cNvSpPr/>
          <p:nvPr/>
        </p:nvSpPr>
        <p:spPr>
          <a:xfrm>
            <a:off x="8432750" y="243840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드론</a:t>
            </a:r>
            <a:endParaRPr lang="en-US" sz="1500" dirty="0"/>
          </a:p>
        </p:txBody>
      </p:sp>
      <p:sp>
        <p:nvSpPr>
          <p:cNvPr id="41" name="Text 15"/>
          <p:cNvSpPr/>
          <p:nvPr/>
        </p:nvSpPr>
        <p:spPr>
          <a:xfrm>
            <a:off x="8699450" y="2819400"/>
            <a:ext cx="28828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한 라운드에 한 개 또는 두 개의 무소음드론을 조종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8661350" y="3390900"/>
            <a:ext cx="2920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정찰만 가능하며 적을 발견하면 맵에 위치표시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8661350" y="3962400"/>
            <a:ext cx="27348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드론끼리 마주치면 서로 박살난다</a:t>
            </a:r>
            <a:endParaRPr lang="en-US" sz="1200" dirty="0"/>
          </a:p>
        </p:txBody>
      </p:sp>
      <p:sp>
        <p:nvSpPr>
          <p:cNvPr id="44" name="Text 18"/>
          <p:cNvSpPr/>
          <p:nvPr/>
        </p:nvSpPr>
        <p:spPr>
          <a:xfrm>
            <a:off x="8547050" y="5600700"/>
            <a:ext cx="350508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5" name="Text 19"/>
          <p:cNvSpPr/>
          <p:nvPr/>
        </p:nvSpPr>
        <p:spPr>
          <a:xfrm>
            <a:off x="11468844" y="64770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 / 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4913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1104900"/>
            <a:ext cx="3810000" cy="185529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0" y="12954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0563" y="1400175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0550" y="2171700"/>
            <a:ext cx="1868686" cy="27042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0550" y="2480221"/>
            <a:ext cx="1653034" cy="27042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8500" y="3226891"/>
            <a:ext cx="5715000" cy="154677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3417391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1400" y="3522166"/>
            <a:ext cx="17145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48050" y="4293691"/>
            <a:ext cx="1821061" cy="27042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7211" y="4293691"/>
            <a:ext cx="2002036" cy="27042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09750" y="4887962"/>
            <a:ext cx="8572500" cy="154677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00250" y="5078462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28838" y="5183237"/>
            <a:ext cx="2190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19300" y="5954762"/>
            <a:ext cx="1835051" cy="27042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92451" y="5954762"/>
            <a:ext cx="1341686" cy="27042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6434733"/>
            <a:ext cx="11430000" cy="533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39739" y="6615708"/>
            <a:ext cx="114300" cy="1524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재화 시스템 구조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4972050" y="1381125"/>
            <a:ext cx="548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펀딩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4381500" y="1847850"/>
            <a:ext cx="4114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모든 팀원이 투자하여 팀원 모두가 얻는 능력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4476750" y="2171700"/>
            <a:ext cx="2242423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경제: 라운드 종료 시 돈 증가</a:t>
            </a:r>
            <a:endParaRPr lang="en-US" sz="1020" dirty="0"/>
          </a:p>
        </p:txBody>
      </p:sp>
      <p:sp>
        <p:nvSpPr>
          <p:cNvPr id="25" name="Text 4"/>
          <p:cNvSpPr/>
          <p:nvPr/>
        </p:nvSpPr>
        <p:spPr>
          <a:xfrm>
            <a:off x="4476750" y="2480221"/>
            <a:ext cx="1983641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회복: 자가회복 능력 향상</a:t>
            </a:r>
            <a:endParaRPr lang="en-US" sz="1020" dirty="0"/>
          </a:p>
        </p:txBody>
      </p:sp>
      <p:sp>
        <p:nvSpPr>
          <p:cNvPr id="26" name="Text 5"/>
          <p:cNvSpPr/>
          <p:nvPr/>
        </p:nvSpPr>
        <p:spPr>
          <a:xfrm>
            <a:off x="4019550" y="3503116"/>
            <a:ext cx="548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랩톤</a:t>
            </a:r>
            <a:endParaRPr lang="en-US" sz="1800" dirty="0"/>
          </a:p>
        </p:txBody>
      </p:sp>
      <p:sp>
        <p:nvSpPr>
          <p:cNvPr id="27" name="Text 6"/>
          <p:cNvSpPr/>
          <p:nvPr/>
        </p:nvSpPr>
        <p:spPr>
          <a:xfrm>
            <a:off x="3429000" y="3969841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개인 투자하여 자기자신만 얻는 능력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3524250" y="4293691"/>
            <a:ext cx="2185273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ko-KR" altLang="en-US" sz="1020" dirty="0">
                <a:solidFill>
                  <a:srgbClr val="FFFFFF"/>
                </a:solidFill>
                <a:latin typeface="ui-sans-serif" pitchFamily="34" charset="0"/>
              </a:rPr>
              <a:t>고유 능력 강화 </a:t>
            </a:r>
            <a:r>
              <a:rPr lang="en-US" altLang="ko-KR" sz="1020" dirty="0">
                <a:solidFill>
                  <a:srgbClr val="FFFFFF"/>
                </a:solidFill>
                <a:latin typeface="ui-sans-serif" pitchFamily="34" charset="0"/>
              </a:rPr>
              <a:t>(</a:t>
            </a:r>
            <a:r>
              <a:rPr lang="ko-KR" altLang="en-US" sz="1020" dirty="0" err="1">
                <a:solidFill>
                  <a:srgbClr val="FFFFFF"/>
                </a:solidFill>
                <a:latin typeface="ui-sans-serif" pitchFamily="34" charset="0"/>
              </a:rPr>
              <a:t>쿨타임</a:t>
            </a:r>
            <a:r>
              <a:rPr lang="en-US" altLang="ko-KR" sz="1020" dirty="0">
                <a:solidFill>
                  <a:srgbClr val="FFFFFF"/>
                </a:solidFill>
                <a:latin typeface="ui-sans-serif" pitchFamily="34" charset="0"/>
              </a:rPr>
              <a:t>, </a:t>
            </a:r>
            <a:r>
              <a:rPr lang="ko-KR" altLang="en-US" sz="1020" dirty="0">
                <a:solidFill>
                  <a:srgbClr val="FFFFFF"/>
                </a:solidFill>
                <a:latin typeface="ui-sans-serif" pitchFamily="34" charset="0"/>
              </a:rPr>
              <a:t>횟수</a:t>
            </a:r>
            <a:r>
              <a:rPr lang="en-US" altLang="ko-KR" sz="1020" dirty="0">
                <a:solidFill>
                  <a:srgbClr val="FFFFFF"/>
                </a:solidFill>
                <a:latin typeface="ui-sans-serif" pitchFamily="34" charset="0"/>
              </a:rPr>
              <a:t>)</a:t>
            </a:r>
            <a:endParaRPr lang="en-US" sz="1020" dirty="0"/>
          </a:p>
        </p:txBody>
      </p:sp>
      <p:sp>
        <p:nvSpPr>
          <p:cNvPr id="29" name="Text 8"/>
          <p:cNvSpPr/>
          <p:nvPr/>
        </p:nvSpPr>
        <p:spPr>
          <a:xfrm>
            <a:off x="5383411" y="4293691"/>
            <a:ext cx="2402443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개인 능력 강화: 공격력, 방어력</a:t>
            </a:r>
            <a:endParaRPr lang="en-US" sz="1020" dirty="0"/>
          </a:p>
        </p:txBody>
      </p:sp>
      <p:sp>
        <p:nvSpPr>
          <p:cNvPr id="30" name="Text 9"/>
          <p:cNvSpPr/>
          <p:nvPr/>
        </p:nvSpPr>
        <p:spPr>
          <a:xfrm>
            <a:off x="2590800" y="5164187"/>
            <a:ext cx="548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상점</a:t>
            </a:r>
            <a:endParaRPr lang="en-US" sz="1800" dirty="0"/>
          </a:p>
        </p:txBody>
      </p:sp>
      <p:sp>
        <p:nvSpPr>
          <p:cNvPr id="31" name="Text 10"/>
          <p:cNvSpPr/>
          <p:nvPr/>
        </p:nvSpPr>
        <p:spPr>
          <a:xfrm>
            <a:off x="2000250" y="5630912"/>
            <a:ext cx="819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선물 여부와 관계없이 모든 플레이어가 사용할 수 있는 아이템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2095500" y="5954762"/>
            <a:ext cx="2202061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선물O: 총, 방탄복, 회복키트</a:t>
            </a:r>
            <a:endParaRPr lang="en-US" sz="1020" dirty="0"/>
          </a:p>
        </p:txBody>
      </p:sp>
      <p:sp>
        <p:nvSpPr>
          <p:cNvPr id="33" name="Text 12"/>
          <p:cNvSpPr/>
          <p:nvPr/>
        </p:nvSpPr>
        <p:spPr>
          <a:xfrm>
            <a:off x="3968651" y="5954762"/>
            <a:ext cx="1610023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선물X: </a:t>
            </a:r>
            <a:r>
              <a:rPr lang="en-US" sz="102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수류탄</a:t>
            </a:r>
            <a:endParaRPr lang="en-US" sz="1020" dirty="0"/>
          </a:p>
        </p:txBody>
      </p:sp>
      <p:sp>
        <p:nvSpPr>
          <p:cNvPr id="34" name="Text 13"/>
          <p:cNvSpPr/>
          <p:nvPr/>
        </p:nvSpPr>
        <p:spPr>
          <a:xfrm>
            <a:off x="-579120" y="6587133"/>
            <a:ext cx="1335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재화 시스템은 개인 전력 향상과 팀 cooperation를 모두 고려하여 균형 잡힌 게임 플레이를 유도합니다.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11468844" y="6968133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 /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611</Words>
  <Application>Microsoft Office PowerPoint</Application>
  <PresentationFormat>와이드스크린</PresentationFormat>
  <Paragraphs>144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ui-sans-serif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한건우(2019180042)</cp:lastModifiedBy>
  <cp:revision>5</cp:revision>
  <dcterms:created xsi:type="dcterms:W3CDTF">2025-11-12T03:30:23Z</dcterms:created>
  <dcterms:modified xsi:type="dcterms:W3CDTF">2025-11-12T04:34:35Z</dcterms:modified>
</cp:coreProperties>
</file>